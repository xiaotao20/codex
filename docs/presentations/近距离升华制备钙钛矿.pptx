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0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1020"/>
          </a:solidFill>
          <a:ln w="12700">
            <a:solidFill>
              <a:srgbClr val="0A1020">
                <a:alpha val="0"/>
              </a:srgbClr>
            </a:solidFill>
            <a:prstDash val="solid"/>
          </a:ln>
        </p:spPr>
      </p:sp>
      <p:sp>
        <p:nvSpPr>
          <p:cNvPr id="3" name="Shape 1"/>
          <p:cNvSpPr/>
          <p:nvPr/>
        </p:nvSpPr>
        <p:spPr>
          <a:xfrm>
            <a:off x="8138160" y="-731520"/>
            <a:ext cx="4389120" cy="4389120"/>
          </a:xfrm>
          <a:prstGeom prst="ellipse">
            <a:avLst/>
          </a:prstGeom>
          <a:solidFill>
            <a:srgbClr val="18B7AE">
              <a:alpha val="16000"/>
            </a:srgbClr>
          </a:solidFill>
          <a:ln w="12700">
            <a:solidFill>
              <a:srgbClr val="18B7AE">
                <a:alpha val="0"/>
              </a:srgbClr>
            </a:solidFill>
            <a:prstDash val="solid"/>
          </a:ln>
        </p:spPr>
      </p:sp>
      <p:sp>
        <p:nvSpPr>
          <p:cNvPr id="4" name="Shape 2"/>
          <p:cNvSpPr/>
          <p:nvPr/>
        </p:nvSpPr>
        <p:spPr>
          <a:xfrm>
            <a:off x="8961120" y="3200400"/>
            <a:ext cx="2926080" cy="2926080"/>
          </a:xfrm>
          <a:prstGeom prst="ellipse">
            <a:avLst/>
          </a:prstGeom>
          <a:solidFill>
            <a:srgbClr val="E9A45B">
              <a:alpha val="12000"/>
            </a:srgbClr>
          </a:solidFill>
          <a:ln w="12700">
            <a:solidFill>
              <a:srgbClr val="E9A45B">
                <a:alpha val="0"/>
              </a:srgbClr>
            </a:solidFill>
            <a:prstDash val="solid"/>
          </a:ln>
        </p:spPr>
      </p:sp>
      <p:sp>
        <p:nvSpPr>
          <p:cNvPr id="5" name="Shape 3"/>
          <p:cNvSpPr/>
          <p:nvPr/>
        </p:nvSpPr>
        <p:spPr>
          <a:xfrm>
            <a:off x="7543800" y="1463040"/>
            <a:ext cx="822960" cy="502920"/>
          </a:xfrm>
          <a:prstGeom prst="line">
            <a:avLst/>
          </a:prstGeom>
          <a:noFill/>
          <a:ln w="10160">
            <a:solidFill>
              <a:srgbClr val="4AE2D8">
                <a:alpha val="55000"/>
              </a:srgbClr>
            </a:solidFill>
            <a:prstDash val="solid"/>
          </a:ln>
        </p:spPr>
      </p:sp>
      <p:sp>
        <p:nvSpPr>
          <p:cNvPr id="6" name="Shape 4"/>
          <p:cNvSpPr/>
          <p:nvPr/>
        </p:nvSpPr>
        <p:spPr>
          <a:xfrm>
            <a:off x="7982712" y="1847088"/>
            <a:ext cx="822960" cy="502920"/>
          </a:xfrm>
          <a:prstGeom prst="line">
            <a:avLst/>
          </a:prstGeom>
          <a:noFill/>
          <a:ln w="10160">
            <a:solidFill>
              <a:srgbClr val="4AE2D8">
                <a:alpha val="55000"/>
              </a:srgbClr>
            </a:solidFill>
            <a:prstDash val="solid"/>
          </a:ln>
        </p:spPr>
      </p:sp>
      <p:sp>
        <p:nvSpPr>
          <p:cNvPr id="7" name="Shape 5"/>
          <p:cNvSpPr/>
          <p:nvPr/>
        </p:nvSpPr>
        <p:spPr>
          <a:xfrm>
            <a:off x="8421624" y="1463040"/>
            <a:ext cx="822960" cy="502920"/>
          </a:xfrm>
          <a:prstGeom prst="line">
            <a:avLst/>
          </a:prstGeom>
          <a:noFill/>
          <a:ln w="10160">
            <a:solidFill>
              <a:srgbClr val="4AE2D8">
                <a:alpha val="55000"/>
              </a:srgbClr>
            </a:solidFill>
            <a:prstDash val="solid"/>
          </a:ln>
        </p:spPr>
      </p:sp>
      <p:sp>
        <p:nvSpPr>
          <p:cNvPr id="8" name="Shape 6"/>
          <p:cNvSpPr/>
          <p:nvPr/>
        </p:nvSpPr>
        <p:spPr>
          <a:xfrm>
            <a:off x="8860536" y="1847088"/>
            <a:ext cx="822960" cy="502920"/>
          </a:xfrm>
          <a:prstGeom prst="line">
            <a:avLst/>
          </a:prstGeom>
          <a:noFill/>
          <a:ln w="10160">
            <a:solidFill>
              <a:srgbClr val="4AE2D8">
                <a:alpha val="55000"/>
              </a:srgbClr>
            </a:solidFill>
            <a:prstDash val="solid"/>
          </a:ln>
        </p:spPr>
      </p:sp>
      <p:sp>
        <p:nvSpPr>
          <p:cNvPr id="9" name="Shape 7"/>
          <p:cNvSpPr/>
          <p:nvPr/>
        </p:nvSpPr>
        <p:spPr>
          <a:xfrm>
            <a:off x="9299448" y="1463040"/>
            <a:ext cx="822960" cy="502920"/>
          </a:xfrm>
          <a:prstGeom prst="line">
            <a:avLst/>
          </a:prstGeom>
          <a:noFill/>
          <a:ln w="10160">
            <a:solidFill>
              <a:srgbClr val="4AE2D8">
                <a:alpha val="55000"/>
              </a:srgbClr>
            </a:solidFill>
            <a:prstDash val="solid"/>
          </a:ln>
        </p:spPr>
      </p:sp>
      <p:sp>
        <p:nvSpPr>
          <p:cNvPr id="10" name="Shape 8"/>
          <p:cNvSpPr/>
          <p:nvPr/>
        </p:nvSpPr>
        <p:spPr>
          <a:xfrm>
            <a:off x="9738360" y="1847088"/>
            <a:ext cx="822960" cy="502920"/>
          </a:xfrm>
          <a:prstGeom prst="line">
            <a:avLst/>
          </a:prstGeom>
          <a:noFill/>
          <a:ln w="10160">
            <a:solidFill>
              <a:srgbClr val="4AE2D8">
                <a:alpha val="55000"/>
              </a:srgbClr>
            </a:solidFill>
            <a:prstDash val="solid"/>
          </a:ln>
        </p:spPr>
      </p:sp>
      <p:sp>
        <p:nvSpPr>
          <p:cNvPr id="11" name="Shape 9"/>
          <p:cNvSpPr/>
          <p:nvPr/>
        </p:nvSpPr>
        <p:spPr>
          <a:xfrm>
            <a:off x="7479792" y="1874520"/>
            <a:ext cx="3108960" cy="548640"/>
          </a:xfrm>
          <a:prstGeom prst="roundRect">
            <a:avLst/>
          </a:prstGeom>
          <a:solidFill>
            <a:srgbClr val="15253E"/>
          </a:solidFill>
          <a:ln w="15240">
            <a:solidFill>
              <a:srgbClr val="5EDFD6"/>
            </a:solidFill>
            <a:prstDash val="solid"/>
          </a:ln>
        </p:spPr>
      </p:sp>
      <p:sp>
        <p:nvSpPr>
          <p:cNvPr id="12" name="Text 10"/>
          <p:cNvSpPr/>
          <p:nvPr/>
        </p:nvSpPr>
        <p:spPr>
          <a:xfrm>
            <a:off x="7662672" y="1993392"/>
            <a:ext cx="2743200" cy="201168"/>
          </a:xfrm>
          <a:prstGeom prst="rect">
            <a:avLst/>
          </a:prstGeom>
          <a:noFill/>
          <a:ln/>
        </p:spPr>
        <p:txBody>
          <a:bodyPr wrap="square" lIns="0" tIns="0" rIns="0" bIns="0" rtlCol="0" anchor="ctr">
            <a:normAutofit/>
          </a:bodyPr>
          <a:lstStyle/>
          <a:p>
            <a:pPr algn="ctr" indent="0" marL="0">
              <a:buNone/>
            </a:pPr>
            <a:r>
              <a:rPr lang="en-US" sz="1100" dirty="0">
                <a:solidFill>
                  <a:srgbClr val="FFFFFF"/>
                </a:solidFill>
                <a:latin typeface="PingFang SC" pitchFamily="34" charset="0"/>
                <a:ea typeface="PingFang SC" pitchFamily="34" charset="-122"/>
                <a:cs typeface="PingFang SC" pitchFamily="34" charset="-120"/>
              </a:rPr>
              <a:t>有机卤化物源 / 可复用 pellet</a:t>
            </a:r>
            <a:endParaRPr lang="en-US" sz="1100" dirty="0"/>
          </a:p>
        </p:txBody>
      </p:sp>
      <p:sp>
        <p:nvSpPr>
          <p:cNvPr id="13" name="Shape 11"/>
          <p:cNvSpPr/>
          <p:nvPr/>
        </p:nvSpPr>
        <p:spPr>
          <a:xfrm>
            <a:off x="7680960" y="2788920"/>
            <a:ext cx="2706624" cy="0"/>
          </a:xfrm>
          <a:prstGeom prst="line">
            <a:avLst/>
          </a:prstGeom>
          <a:noFill/>
          <a:ln w="13970">
            <a:solidFill>
              <a:srgbClr val="7C8AAA"/>
            </a:solidFill>
            <a:prstDash val="solid"/>
          </a:ln>
        </p:spPr>
      </p:sp>
      <p:sp>
        <p:nvSpPr>
          <p:cNvPr id="14" name="Text 12"/>
          <p:cNvSpPr/>
          <p:nvPr/>
        </p:nvSpPr>
        <p:spPr>
          <a:xfrm>
            <a:off x="8229600" y="2487168"/>
            <a:ext cx="1645920" cy="164592"/>
          </a:xfrm>
          <a:prstGeom prst="rect">
            <a:avLst/>
          </a:prstGeom>
          <a:noFill/>
          <a:ln/>
        </p:spPr>
        <p:txBody>
          <a:bodyPr wrap="square" lIns="0" tIns="0" rIns="0" bIns="0" rtlCol="0" anchor="ctr">
            <a:normAutofit/>
          </a:bodyPr>
          <a:lstStyle/>
          <a:p>
            <a:pPr algn="ctr" indent="0" marL="0">
              <a:buNone/>
            </a:pPr>
            <a:r>
              <a:rPr lang="en-US" sz="1000" dirty="0">
                <a:solidFill>
                  <a:srgbClr val="B7C4E0"/>
                </a:solidFill>
                <a:latin typeface="PingFang SC" pitchFamily="34" charset="0"/>
                <a:ea typeface="PingFang SC" pitchFamily="34" charset="-122"/>
                <a:cs typeface="PingFang SC" pitchFamily="34" charset="-120"/>
              </a:rPr>
              <a:t>近距离 gap + 低真空</a:t>
            </a:r>
            <a:endParaRPr lang="en-US" sz="1000" dirty="0"/>
          </a:p>
        </p:txBody>
      </p:sp>
      <p:sp>
        <p:nvSpPr>
          <p:cNvPr id="15" name="Shape 13"/>
          <p:cNvSpPr/>
          <p:nvPr/>
        </p:nvSpPr>
        <p:spPr>
          <a:xfrm>
            <a:off x="7680960" y="2980944"/>
            <a:ext cx="2706624" cy="475488"/>
          </a:xfrm>
          <a:prstGeom prst="roundRect">
            <a:avLst/>
          </a:prstGeom>
          <a:solidFill>
            <a:srgbClr val="1C2431"/>
          </a:solidFill>
          <a:ln w="13970">
            <a:solidFill>
              <a:srgbClr val="E9A45B"/>
            </a:solidFill>
            <a:prstDash val="solid"/>
          </a:ln>
        </p:spPr>
      </p:sp>
      <p:sp>
        <p:nvSpPr>
          <p:cNvPr id="16" name="Text 14"/>
          <p:cNvSpPr/>
          <p:nvPr/>
        </p:nvSpPr>
        <p:spPr>
          <a:xfrm>
            <a:off x="7863840" y="3099816"/>
            <a:ext cx="2340864" cy="182880"/>
          </a:xfrm>
          <a:prstGeom prst="rect">
            <a:avLst/>
          </a:prstGeom>
          <a:noFill/>
          <a:ln/>
        </p:spPr>
        <p:txBody>
          <a:bodyPr wrap="square" lIns="0" tIns="0" rIns="0" bIns="0" rtlCol="0" anchor="ctr">
            <a:normAutofit/>
          </a:bodyPr>
          <a:lstStyle/>
          <a:p>
            <a:pPr algn="ctr" indent="0" marL="0">
              <a:buNone/>
            </a:pPr>
            <a:r>
              <a:rPr lang="en-US" sz="1100" dirty="0">
                <a:solidFill>
                  <a:srgbClr val="FFFFFF"/>
                </a:solidFill>
                <a:latin typeface="PingFang SC" pitchFamily="34" charset="0"/>
                <a:ea typeface="PingFang SC" pitchFamily="34" charset="-122"/>
                <a:cs typeface="PingFang SC" pitchFamily="34" charset="-120"/>
              </a:rPr>
              <a:t>PbX2 骨架 / 受热基底</a:t>
            </a:r>
            <a:endParaRPr lang="en-US" sz="1100" dirty="0"/>
          </a:p>
        </p:txBody>
      </p:sp>
      <p:sp>
        <p:nvSpPr>
          <p:cNvPr id="17" name="Shape 15"/>
          <p:cNvSpPr/>
          <p:nvPr/>
        </p:nvSpPr>
        <p:spPr>
          <a:xfrm>
            <a:off x="7845552" y="2468880"/>
            <a:ext cx="0" cy="384048"/>
          </a:xfrm>
          <a:prstGeom prst="line">
            <a:avLst/>
          </a:prstGeom>
          <a:noFill/>
          <a:ln w="15240">
            <a:solidFill>
              <a:srgbClr val="18B7AE"/>
            </a:solidFill>
            <a:prstDash val="solid"/>
          </a:ln>
        </p:spPr>
      </p:sp>
      <p:sp>
        <p:nvSpPr>
          <p:cNvPr id="18" name="Shape 16"/>
          <p:cNvSpPr/>
          <p:nvPr/>
        </p:nvSpPr>
        <p:spPr>
          <a:xfrm>
            <a:off x="8458200" y="2468880"/>
            <a:ext cx="0" cy="384048"/>
          </a:xfrm>
          <a:prstGeom prst="line">
            <a:avLst/>
          </a:prstGeom>
          <a:noFill/>
          <a:ln w="15240">
            <a:solidFill>
              <a:srgbClr val="18B7AE"/>
            </a:solidFill>
            <a:prstDash val="solid"/>
          </a:ln>
        </p:spPr>
      </p:sp>
      <p:sp>
        <p:nvSpPr>
          <p:cNvPr id="19" name="Shape 17"/>
          <p:cNvSpPr/>
          <p:nvPr/>
        </p:nvSpPr>
        <p:spPr>
          <a:xfrm>
            <a:off x="9070848" y="2468880"/>
            <a:ext cx="0" cy="384048"/>
          </a:xfrm>
          <a:prstGeom prst="line">
            <a:avLst/>
          </a:prstGeom>
          <a:noFill/>
          <a:ln w="15240">
            <a:solidFill>
              <a:srgbClr val="18B7AE"/>
            </a:solidFill>
            <a:prstDash val="solid"/>
          </a:ln>
        </p:spPr>
      </p:sp>
      <p:sp>
        <p:nvSpPr>
          <p:cNvPr id="20" name="Shape 18"/>
          <p:cNvSpPr/>
          <p:nvPr/>
        </p:nvSpPr>
        <p:spPr>
          <a:xfrm>
            <a:off x="9683496" y="2468880"/>
            <a:ext cx="0" cy="384048"/>
          </a:xfrm>
          <a:prstGeom prst="line">
            <a:avLst/>
          </a:prstGeom>
          <a:noFill/>
          <a:ln w="15240">
            <a:solidFill>
              <a:srgbClr val="18B7AE"/>
            </a:solidFill>
            <a:prstDash val="solid"/>
          </a:ln>
        </p:spPr>
      </p:sp>
      <p:sp>
        <p:nvSpPr>
          <p:cNvPr id="21" name="Text 19"/>
          <p:cNvSpPr/>
          <p:nvPr/>
        </p:nvSpPr>
        <p:spPr>
          <a:xfrm>
            <a:off x="658368" y="621792"/>
            <a:ext cx="2651760" cy="164592"/>
          </a:xfrm>
          <a:prstGeom prst="rect">
            <a:avLst/>
          </a:prstGeom>
          <a:noFill/>
          <a:ln/>
        </p:spPr>
        <p:txBody>
          <a:bodyPr wrap="square" lIns="0" tIns="0" rIns="0" bIns="0" rtlCol="0" anchor="ctr">
            <a:normAutofit/>
          </a:bodyPr>
          <a:lstStyle/>
          <a:p>
            <a:pPr indent="0" marL="0">
              <a:buNone/>
            </a:pPr>
            <a:r>
              <a:rPr lang="en-US" sz="1000" b="1" dirty="0">
                <a:solidFill>
                  <a:srgbClr val="18B7AE"/>
                </a:solidFill>
                <a:latin typeface="PingFang SC" pitchFamily="34" charset="0"/>
                <a:ea typeface="PingFang SC" pitchFamily="34" charset="-122"/>
                <a:cs typeface="PingFang SC" pitchFamily="34" charset="-120"/>
              </a:rPr>
              <a:t>PEROVSKITE PROCESS NOTE</a:t>
            </a:r>
            <a:endParaRPr lang="en-US" sz="1000" dirty="0"/>
          </a:p>
        </p:txBody>
      </p:sp>
      <p:sp>
        <p:nvSpPr>
          <p:cNvPr id="22" name="Text 20"/>
          <p:cNvSpPr/>
          <p:nvPr/>
        </p:nvSpPr>
        <p:spPr>
          <a:xfrm>
            <a:off x="658368" y="987552"/>
            <a:ext cx="5852160" cy="420624"/>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PingFang SC" pitchFamily="34" charset="0"/>
                <a:ea typeface="PingFang SC" pitchFamily="34" charset="-122"/>
                <a:cs typeface="PingFang SC" pitchFamily="34" charset="-120"/>
              </a:rPr>
              <a:t>近距离升华制备钙钛矿</a:t>
            </a:r>
            <a:endParaRPr lang="en-US" sz="2800" dirty="0"/>
          </a:p>
        </p:txBody>
      </p:sp>
      <p:sp>
        <p:nvSpPr>
          <p:cNvPr id="23" name="Text 21"/>
          <p:cNvSpPr/>
          <p:nvPr/>
        </p:nvSpPr>
        <p:spPr>
          <a:xfrm>
            <a:off x="658368" y="1444752"/>
            <a:ext cx="4297680" cy="256032"/>
          </a:xfrm>
          <a:prstGeom prst="rect">
            <a:avLst/>
          </a:prstGeom>
          <a:noFill/>
          <a:ln/>
        </p:spPr>
        <p:txBody>
          <a:bodyPr wrap="square" lIns="0" tIns="0" rIns="0" bIns="0" rtlCol="0" anchor="ctr">
            <a:normAutofit/>
          </a:bodyPr>
          <a:lstStyle/>
          <a:p>
            <a:pPr indent="0" marL="0">
              <a:buNone/>
            </a:pPr>
            <a:r>
              <a:rPr lang="en-US" sz="1600" dirty="0">
                <a:solidFill>
                  <a:srgbClr val="D4D9E6"/>
                </a:solidFill>
                <a:latin typeface="PingFang SC" pitchFamily="34" charset="0"/>
                <a:ea typeface="PingFang SC" pitchFamily="34" charset="-122"/>
                <a:cs typeface="PingFang SC" pitchFamily="34" charset="-120"/>
              </a:rPr>
              <a:t>方式、原理与证据链分析</a:t>
            </a:r>
            <a:endParaRPr lang="en-US" sz="1600" dirty="0"/>
          </a:p>
        </p:txBody>
      </p:sp>
      <p:sp>
        <p:nvSpPr>
          <p:cNvPr id="24" name="Text 22"/>
          <p:cNvSpPr/>
          <p:nvPr/>
        </p:nvSpPr>
        <p:spPr>
          <a:xfrm>
            <a:off x="658368" y="1975104"/>
            <a:ext cx="5394960" cy="640080"/>
          </a:xfrm>
          <a:prstGeom prst="rect">
            <a:avLst/>
          </a:prstGeom>
          <a:noFill/>
          <a:ln/>
        </p:spPr>
        <p:txBody>
          <a:bodyPr wrap="square" lIns="0" tIns="0" rIns="0" bIns="0" rtlCol="0" anchor="ctr">
            <a:normAutofit/>
          </a:bodyPr>
          <a:lstStyle/>
          <a:p>
            <a:pPr indent="0" marL="0">
              <a:buNone/>
            </a:pPr>
            <a:r>
              <a:rPr lang="en-US" sz="1600" dirty="0">
                <a:solidFill>
                  <a:srgbClr val="FFFFFF"/>
                </a:solidFill>
                <a:latin typeface="PingFang SC" pitchFamily="34" charset="0"/>
                <a:ea typeface="PingFang SC" pitchFamily="34" charset="-122"/>
                <a:cs typeface="PingFang SC" pitchFamily="34" charset="-120"/>
              </a:rPr>
              <a:t>把 CSS 视作“受控近场供料 + 固相转化”问题，而不是简单把钙钛矿当成传统共蒸发材料来处理。</a:t>
            </a:r>
            <a:endParaRPr lang="en-US" sz="1600" dirty="0"/>
          </a:p>
        </p:txBody>
      </p:sp>
      <p:sp>
        <p:nvSpPr>
          <p:cNvPr id="25" name="Shape 23"/>
          <p:cNvSpPr/>
          <p:nvPr/>
        </p:nvSpPr>
        <p:spPr>
          <a:xfrm>
            <a:off x="658368" y="5084064"/>
            <a:ext cx="1810512" cy="749808"/>
          </a:xfrm>
          <a:prstGeom prst="roundRect">
            <a:avLst>
              <a:gd name="adj" fmla="val 9756"/>
            </a:avLst>
          </a:prstGeom>
          <a:solidFill>
            <a:srgbClr val="FFFFFF"/>
          </a:solidFill>
          <a:ln w="16510">
            <a:solidFill>
              <a:srgbClr val="18B7AE"/>
            </a:solidFill>
            <a:prstDash val="solid"/>
          </a:ln>
        </p:spPr>
      </p:sp>
      <p:sp>
        <p:nvSpPr>
          <p:cNvPr id="26" name="Text 24"/>
          <p:cNvSpPr/>
          <p:nvPr/>
        </p:nvSpPr>
        <p:spPr>
          <a:xfrm>
            <a:off x="786384" y="5193792"/>
            <a:ext cx="1554480" cy="164592"/>
          </a:xfrm>
          <a:prstGeom prst="rect">
            <a:avLst/>
          </a:prstGeom>
          <a:noFill/>
          <a:ln/>
        </p:spPr>
        <p:txBody>
          <a:bodyPr wrap="square" lIns="0" tIns="0" rIns="0" bIns="0" rtlCol="0" anchor="ctr">
            <a:normAutofit/>
          </a:bodyPr>
          <a:lstStyle/>
          <a:p>
            <a:pPr indent="0" marL="0">
              <a:buNone/>
            </a:pPr>
            <a:r>
              <a:rPr lang="en-US" sz="900" b="1" dirty="0">
                <a:solidFill>
                  <a:srgbClr val="667085"/>
                </a:solidFill>
                <a:latin typeface="PingFang SC" pitchFamily="34" charset="0"/>
                <a:ea typeface="PingFang SC" pitchFamily="34" charset="-122"/>
                <a:cs typeface="PingFang SC" pitchFamily="34" charset="-120"/>
              </a:rPr>
              <a:t>代表结果</a:t>
            </a:r>
            <a:endParaRPr lang="en-US" sz="900" dirty="0"/>
          </a:p>
        </p:txBody>
      </p:sp>
      <p:sp>
        <p:nvSpPr>
          <p:cNvPr id="27" name="Text 25"/>
          <p:cNvSpPr/>
          <p:nvPr/>
        </p:nvSpPr>
        <p:spPr>
          <a:xfrm>
            <a:off x="786384" y="5413248"/>
            <a:ext cx="1554480" cy="219456"/>
          </a:xfrm>
          <a:prstGeom prst="rect">
            <a:avLst/>
          </a:prstGeom>
          <a:noFill/>
          <a:ln/>
        </p:spPr>
        <p:txBody>
          <a:bodyPr wrap="square" lIns="0" tIns="0" rIns="0" bIns="0" rtlCol="0" anchor="ctr">
            <a:normAutofit/>
          </a:bodyPr>
          <a:lstStyle/>
          <a:p>
            <a:pPr indent="0" marL="0">
              <a:buNone/>
            </a:pPr>
            <a:r>
              <a:rPr lang="en-US" sz="1550" b="1" dirty="0">
                <a:solidFill>
                  <a:srgbClr val="18B7AE"/>
                </a:solidFill>
                <a:latin typeface="PingFang SC" pitchFamily="34" charset="0"/>
                <a:ea typeface="PingFang SC" pitchFamily="34" charset="-122"/>
                <a:cs typeface="PingFang SC" pitchFamily="34" charset="-120"/>
              </a:rPr>
              <a:t>18.7% · 10 mbar</a:t>
            </a:r>
            <a:endParaRPr lang="en-US" sz="1550" dirty="0"/>
          </a:p>
        </p:txBody>
      </p:sp>
      <p:sp>
        <p:nvSpPr>
          <p:cNvPr id="28" name="Shape 26"/>
          <p:cNvSpPr/>
          <p:nvPr/>
        </p:nvSpPr>
        <p:spPr>
          <a:xfrm>
            <a:off x="2670048" y="5084064"/>
            <a:ext cx="1810512" cy="749808"/>
          </a:xfrm>
          <a:prstGeom prst="roundRect">
            <a:avLst>
              <a:gd name="adj" fmla="val 9756"/>
            </a:avLst>
          </a:prstGeom>
          <a:solidFill>
            <a:srgbClr val="FFFFFF"/>
          </a:solidFill>
          <a:ln w="16510">
            <a:solidFill>
              <a:srgbClr val="E9A45B"/>
            </a:solidFill>
            <a:prstDash val="solid"/>
          </a:ln>
        </p:spPr>
      </p:sp>
      <p:sp>
        <p:nvSpPr>
          <p:cNvPr id="29" name="Text 27"/>
          <p:cNvSpPr/>
          <p:nvPr/>
        </p:nvSpPr>
        <p:spPr>
          <a:xfrm>
            <a:off x="2798064" y="5193792"/>
            <a:ext cx="1554480" cy="164592"/>
          </a:xfrm>
          <a:prstGeom prst="rect">
            <a:avLst/>
          </a:prstGeom>
          <a:noFill/>
          <a:ln/>
        </p:spPr>
        <p:txBody>
          <a:bodyPr wrap="square" lIns="0" tIns="0" rIns="0" bIns="0" rtlCol="0" anchor="ctr">
            <a:normAutofit/>
          </a:bodyPr>
          <a:lstStyle/>
          <a:p>
            <a:pPr indent="0" marL="0">
              <a:buNone/>
            </a:pPr>
            <a:r>
              <a:rPr lang="en-US" sz="900" b="1" dirty="0">
                <a:solidFill>
                  <a:srgbClr val="667085"/>
                </a:solidFill>
                <a:latin typeface="PingFang SC" pitchFamily="34" charset="0"/>
                <a:ea typeface="PingFang SC" pitchFamily="34" charset="-122"/>
                <a:cs typeface="PingFang SC" pitchFamily="34" charset="-120"/>
              </a:rPr>
              <a:t>大面积结果</a:t>
            </a:r>
            <a:endParaRPr lang="en-US" sz="900" dirty="0"/>
          </a:p>
        </p:txBody>
      </p:sp>
      <p:sp>
        <p:nvSpPr>
          <p:cNvPr id="30" name="Text 28"/>
          <p:cNvSpPr/>
          <p:nvPr/>
        </p:nvSpPr>
        <p:spPr>
          <a:xfrm>
            <a:off x="2798064" y="5413248"/>
            <a:ext cx="1554480" cy="219456"/>
          </a:xfrm>
          <a:prstGeom prst="rect">
            <a:avLst/>
          </a:prstGeom>
          <a:noFill/>
          <a:ln/>
        </p:spPr>
        <p:txBody>
          <a:bodyPr wrap="square" lIns="0" tIns="0" rIns="0" bIns="0" rtlCol="0" anchor="ctr">
            <a:normAutofit/>
          </a:bodyPr>
          <a:lstStyle/>
          <a:p>
            <a:pPr indent="0" marL="0">
              <a:buNone/>
            </a:pPr>
            <a:r>
              <a:rPr lang="en-US" sz="1550" b="1" dirty="0">
                <a:solidFill>
                  <a:srgbClr val="E9A45B"/>
                </a:solidFill>
                <a:latin typeface="PingFang SC" pitchFamily="34" charset="0"/>
                <a:ea typeface="PingFang SC" pitchFamily="34" charset="-122"/>
                <a:cs typeface="PingFang SC" pitchFamily="34" charset="-120"/>
              </a:rPr>
              <a:t>18.8% · 1 mbar</a:t>
            </a:r>
            <a:endParaRPr lang="en-US" sz="1550" dirty="0"/>
          </a:p>
        </p:txBody>
      </p:sp>
      <p:sp>
        <p:nvSpPr>
          <p:cNvPr id="31" name="Shape 29"/>
          <p:cNvSpPr/>
          <p:nvPr/>
        </p:nvSpPr>
        <p:spPr>
          <a:xfrm>
            <a:off x="4681728" y="5084064"/>
            <a:ext cx="1810512" cy="749808"/>
          </a:xfrm>
          <a:prstGeom prst="roundRect">
            <a:avLst>
              <a:gd name="adj" fmla="val 9756"/>
            </a:avLst>
          </a:prstGeom>
          <a:solidFill>
            <a:srgbClr val="FFFFFF"/>
          </a:solidFill>
          <a:ln w="16510">
            <a:solidFill>
              <a:srgbClr val="4E7BFF"/>
            </a:solidFill>
            <a:prstDash val="solid"/>
          </a:ln>
        </p:spPr>
      </p:sp>
      <p:sp>
        <p:nvSpPr>
          <p:cNvPr id="32" name="Text 30"/>
          <p:cNvSpPr/>
          <p:nvPr/>
        </p:nvSpPr>
        <p:spPr>
          <a:xfrm>
            <a:off x="4809744" y="5193792"/>
            <a:ext cx="1554480" cy="164592"/>
          </a:xfrm>
          <a:prstGeom prst="rect">
            <a:avLst/>
          </a:prstGeom>
          <a:noFill/>
          <a:ln/>
        </p:spPr>
        <p:txBody>
          <a:bodyPr wrap="square" lIns="0" tIns="0" rIns="0" bIns="0" rtlCol="0" anchor="ctr">
            <a:normAutofit/>
          </a:bodyPr>
          <a:lstStyle/>
          <a:p>
            <a:pPr indent="0" marL="0">
              <a:buNone/>
            </a:pPr>
            <a:r>
              <a:rPr lang="en-US" sz="900" b="1" dirty="0">
                <a:solidFill>
                  <a:srgbClr val="667085"/>
                </a:solidFill>
                <a:latin typeface="PingFang SC" pitchFamily="34" charset="0"/>
                <a:ea typeface="PingFang SC" pitchFamily="34" charset="-122"/>
                <a:cs typeface="PingFang SC" pitchFamily="34" charset="-120"/>
              </a:rPr>
              <a:t>串联趋势</a:t>
            </a:r>
            <a:endParaRPr lang="en-US" sz="900" dirty="0"/>
          </a:p>
        </p:txBody>
      </p:sp>
      <p:sp>
        <p:nvSpPr>
          <p:cNvPr id="33" name="Text 31"/>
          <p:cNvSpPr/>
          <p:nvPr/>
        </p:nvSpPr>
        <p:spPr>
          <a:xfrm>
            <a:off x="4809744" y="5413248"/>
            <a:ext cx="1554480" cy="219456"/>
          </a:xfrm>
          <a:prstGeom prst="rect">
            <a:avLst/>
          </a:prstGeom>
          <a:noFill/>
          <a:ln/>
        </p:spPr>
        <p:txBody>
          <a:bodyPr wrap="square" lIns="0" tIns="0" rIns="0" bIns="0" rtlCol="0" anchor="ctr">
            <a:normAutofit/>
          </a:bodyPr>
          <a:lstStyle/>
          <a:p>
            <a:pPr indent="0" marL="0">
              <a:buNone/>
            </a:pPr>
            <a:r>
              <a:rPr lang="en-US" sz="1550" b="1" dirty="0">
                <a:solidFill>
                  <a:srgbClr val="4E7BFF"/>
                </a:solidFill>
                <a:latin typeface="PingFang SC" pitchFamily="34" charset="0"/>
                <a:ea typeface="PingFang SC" pitchFamily="34" charset="-122"/>
                <a:cs typeface="PingFang SC" pitchFamily="34" charset="-120"/>
              </a:rPr>
              <a:t>24.3% · tandem</a:t>
            </a:r>
            <a:endParaRPr lang="en-US" sz="1550" dirty="0"/>
          </a:p>
        </p:txBody>
      </p:sp>
      <p:sp>
        <p:nvSpPr>
          <p:cNvPr id="34" name="Text 32"/>
          <p:cNvSpPr/>
          <p:nvPr/>
        </p:nvSpPr>
        <p:spPr>
          <a:xfrm>
            <a:off x="676656" y="6144768"/>
            <a:ext cx="5669280" cy="182880"/>
          </a:xfrm>
          <a:prstGeom prst="rect">
            <a:avLst/>
          </a:prstGeom>
          <a:noFill/>
          <a:ln/>
        </p:spPr>
        <p:txBody>
          <a:bodyPr wrap="square" lIns="0" tIns="0" rIns="0" bIns="0" rtlCol="0" anchor="ctr">
            <a:normAutofit/>
          </a:bodyPr>
          <a:lstStyle/>
          <a:p>
            <a:pPr indent="0" marL="0">
              <a:buNone/>
            </a:pPr>
            <a:r>
              <a:rPr lang="en-US" sz="900" dirty="0">
                <a:solidFill>
                  <a:srgbClr val="9FB0D1"/>
                </a:solidFill>
                <a:latin typeface="PingFang SC" pitchFamily="34" charset="0"/>
                <a:ea typeface="PingFang SC" pitchFamily="34" charset="-122"/>
                <a:cs typeface="PingFang SC" pitchFamily="34" charset="-120"/>
              </a:rPr>
              <a:t>基于 2020-2026 代表性论文整理；正文为中文，参考文献放在最后一页。</a:t>
            </a:r>
            <a:endParaRPr lang="en-US" sz="900" dirty="0"/>
          </a:p>
        </p:txBody>
      </p:sp>
      <p:sp>
        <p:nvSpPr>
          <p:cNvPr id="35" name="Text 33"/>
          <p:cNvSpPr/>
          <p:nvPr/>
        </p:nvSpPr>
        <p:spPr>
          <a:xfrm>
            <a:off x="11064240" y="6089904"/>
            <a:ext cx="548640" cy="219456"/>
          </a:xfrm>
          <a:prstGeom prst="rect">
            <a:avLst/>
          </a:prstGeom>
          <a:noFill/>
          <a:ln/>
        </p:spPr>
        <p:txBody>
          <a:bodyPr wrap="square" lIns="0" tIns="0" rIns="0" bIns="0" rtlCol="0" anchor="ctr">
            <a:normAutofit/>
          </a:bodyPr>
          <a:lstStyle/>
          <a:p>
            <a:pPr algn="r" indent="0" marL="0">
              <a:buNone/>
            </a:pPr>
            <a:r>
              <a:rPr lang="en-US" sz="1400" b="1" dirty="0">
                <a:solidFill>
                  <a:srgbClr val="9FB0D1"/>
                </a:solidFill>
                <a:latin typeface="PingFang SC" pitchFamily="34" charset="0"/>
                <a:ea typeface="PingFang SC" pitchFamily="34" charset="-122"/>
                <a:cs typeface="PingFang SC" pitchFamily="34" charset="-120"/>
              </a:rPr>
              <a:t>01</a:t>
            </a:r>
            <a:endParaRPr lang="en-US" sz="1400" dirty="0"/>
          </a:p>
        </p:txBody>
      </p:sp>
      <p:sp>
        <p:nvSpPr>
          <p:cNvPr id="36" name="Shape 34"/>
          <p:cNvSpPr/>
          <p:nvPr/>
        </p:nvSpPr>
        <p:spPr>
          <a:xfrm>
            <a:off x="566928" y="6419088"/>
            <a:ext cx="11064240" cy="0"/>
          </a:xfrm>
          <a:prstGeom prst="line">
            <a:avLst/>
          </a:prstGeom>
          <a:noFill/>
          <a:ln w="8890">
            <a:solidFill>
              <a:srgbClr val="D7DCE6"/>
            </a:solidFill>
            <a:prstDash val="solid"/>
          </a:ln>
        </p:spPr>
      </p:sp>
      <p:sp>
        <p:nvSpPr>
          <p:cNvPr id="37" name="Text 35"/>
          <p:cNvSpPr/>
          <p:nvPr/>
        </p:nvSpPr>
        <p:spPr>
          <a:xfrm>
            <a:off x="603504" y="6473952"/>
            <a:ext cx="10789920" cy="182880"/>
          </a:xfrm>
          <a:prstGeom prst="rect">
            <a:avLst/>
          </a:prstGeom>
          <a:noFill/>
          <a:ln/>
        </p:spPr>
        <p:txBody>
          <a:bodyPr wrap="square" lIns="0" tIns="0" rIns="0" bIns="0" rtlCol="0" anchor="ctr">
            <a:normAutofit/>
          </a:bodyPr>
          <a:lstStyle/>
          <a:p>
            <a:pPr indent="0" marL="0">
              <a:buNone/>
            </a:pPr>
            <a:r>
              <a:rPr lang="en-US" sz="850" dirty="0">
                <a:solidFill>
                  <a:srgbClr val="667085"/>
                </a:solidFill>
                <a:latin typeface="PingFang SC" pitchFamily="34" charset="0"/>
                <a:ea typeface="PingFang SC" pitchFamily="34" charset="-122"/>
                <a:cs typeface="PingFang SC" pitchFamily="34" charset="-120"/>
              </a:rPr>
              <a:t>证据来源：[1] Rodkey 2024；[4] Gomar-Fernández 2025；[6] Diercks 2026（KITopen / Nature Energy 预印本记录）</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A1020"/>
          </a:solidFill>
          <a:ln w="12700">
            <a:solidFill>
              <a:srgbClr val="0A1020">
                <a:alpha val="0"/>
              </a:srgbClr>
            </a:solidFill>
            <a:prstDash val="solid"/>
          </a:ln>
        </p:spPr>
      </p:sp>
      <p:sp>
        <p:nvSpPr>
          <p:cNvPr id="3" name="Text 1"/>
          <p:cNvSpPr/>
          <p:nvPr/>
        </p:nvSpPr>
        <p:spPr>
          <a:xfrm>
            <a:off x="566928" y="292608"/>
            <a:ext cx="1645920" cy="219456"/>
          </a:xfrm>
          <a:prstGeom prst="rect">
            <a:avLst/>
          </a:prstGeom>
          <a:noFill/>
          <a:ln/>
        </p:spPr>
        <p:txBody>
          <a:bodyPr wrap="square" lIns="0" tIns="0" rIns="0" bIns="0" rtlCol="0" anchor="ctr">
            <a:normAutofit/>
          </a:bodyPr>
          <a:lstStyle/>
          <a:p>
            <a:pPr indent="0" marL="0">
              <a:buNone/>
            </a:pPr>
            <a:r>
              <a:rPr lang="en-US" sz="1000" b="1" dirty="0">
                <a:solidFill>
                  <a:srgbClr val="18B7AE"/>
                </a:solidFill>
                <a:latin typeface="PingFang SC" pitchFamily="34" charset="0"/>
                <a:ea typeface="PingFang SC" pitchFamily="34" charset="-122"/>
                <a:cs typeface="PingFang SC" pitchFamily="34" charset="-120"/>
              </a:rPr>
              <a:t>EXECUTIVE SUMMARY</a:t>
            </a:r>
            <a:endParaRPr lang="en-US" sz="1000" dirty="0"/>
          </a:p>
        </p:txBody>
      </p:sp>
      <p:sp>
        <p:nvSpPr>
          <p:cNvPr id="4" name="Text 2"/>
          <p:cNvSpPr/>
          <p:nvPr/>
        </p:nvSpPr>
        <p:spPr>
          <a:xfrm>
            <a:off x="11109960" y="237744"/>
            <a:ext cx="502920" cy="274320"/>
          </a:xfrm>
          <a:prstGeom prst="rect">
            <a:avLst/>
          </a:prstGeom>
          <a:noFill/>
          <a:ln/>
        </p:spPr>
        <p:txBody>
          <a:bodyPr wrap="square" lIns="0" tIns="0" rIns="0" bIns="0" rtlCol="0" anchor="ctr">
            <a:normAutofit/>
          </a:bodyPr>
          <a:lstStyle/>
          <a:p>
            <a:pPr algn="r" indent="0" marL="0">
              <a:buNone/>
            </a:pPr>
            <a:r>
              <a:rPr lang="en-US" sz="1400" b="1" dirty="0">
                <a:solidFill>
                  <a:srgbClr val="0A1020"/>
                </a:solidFill>
                <a:latin typeface="PingFang SC" pitchFamily="34" charset="0"/>
                <a:ea typeface="PingFang SC" pitchFamily="34" charset="-122"/>
                <a:cs typeface="PingFang SC" pitchFamily="34" charset="-120"/>
              </a:rPr>
              <a:t>02</a:t>
            </a:r>
            <a:endParaRPr lang="en-US" sz="1400" dirty="0"/>
          </a:p>
        </p:txBody>
      </p:sp>
      <p:sp>
        <p:nvSpPr>
          <p:cNvPr id="5" name="Text 3"/>
          <p:cNvSpPr/>
          <p:nvPr/>
        </p:nvSpPr>
        <p:spPr>
          <a:xfrm>
            <a:off x="566928" y="548640"/>
            <a:ext cx="7680960" cy="402336"/>
          </a:xfrm>
          <a:prstGeom prst="rect">
            <a:avLst/>
          </a:prstGeom>
          <a:noFill/>
          <a:ln/>
        </p:spPr>
        <p:txBody>
          <a:bodyPr wrap="square" lIns="0" tIns="0" rIns="0" bIns="0" rtlCol="0" anchor="ctr">
            <a:normAutofit/>
          </a:bodyPr>
          <a:lstStyle/>
          <a:p>
            <a:pPr indent="0" marL="0">
              <a:buNone/>
            </a:pPr>
            <a:r>
              <a:rPr lang="en-US" sz="2400" b="1" dirty="0">
                <a:solidFill>
                  <a:srgbClr val="0A1020"/>
                </a:solidFill>
                <a:latin typeface="PingFang SC" pitchFamily="34" charset="0"/>
                <a:ea typeface="PingFang SC" pitchFamily="34" charset="-122"/>
                <a:cs typeface="PingFang SC" pitchFamily="34" charset="-120"/>
              </a:rPr>
              <a:t>先说判断</a:t>
            </a:r>
            <a:endParaRPr lang="en-US" sz="2400" dirty="0"/>
          </a:p>
        </p:txBody>
      </p:sp>
      <p:sp>
        <p:nvSpPr>
          <p:cNvPr id="6" name="Text 4"/>
          <p:cNvSpPr/>
          <p:nvPr/>
        </p:nvSpPr>
        <p:spPr>
          <a:xfrm>
            <a:off x="566928" y="960120"/>
            <a:ext cx="8778240" cy="292608"/>
          </a:xfrm>
          <a:prstGeom prst="rect">
            <a:avLst/>
          </a:prstGeom>
          <a:noFill/>
          <a:ln/>
        </p:spPr>
        <p:txBody>
          <a:bodyPr wrap="square" lIns="0" tIns="0" rIns="0" bIns="0" rtlCol="0" anchor="ctr">
            <a:normAutofit/>
          </a:bodyPr>
          <a:lstStyle/>
          <a:p>
            <a:pPr indent="0" marL="0">
              <a:buNone/>
            </a:pPr>
            <a:r>
              <a:rPr lang="en-US" sz="1150" dirty="0">
                <a:solidFill>
                  <a:srgbClr val="667085"/>
                </a:solidFill>
                <a:latin typeface="PingFang SC" pitchFamily="34" charset="0"/>
                <a:ea typeface="PingFang SC" pitchFamily="34" charset="-122"/>
                <a:cs typeface="PingFang SC" pitchFamily="34" charset="-120"/>
              </a:rPr>
              <a:t>这页只回答一个问题：CSS 值不值得做，以及它的本质是什么。</a:t>
            </a:r>
            <a:endParaRPr lang="en-US" sz="1150" dirty="0"/>
          </a:p>
        </p:txBody>
      </p:sp>
      <p:sp>
        <p:nvSpPr>
          <p:cNvPr id="7" name="Shape 5"/>
          <p:cNvSpPr/>
          <p:nvPr/>
        </p:nvSpPr>
        <p:spPr>
          <a:xfrm>
            <a:off x="566928" y="1225296"/>
            <a:ext cx="11064240" cy="0"/>
          </a:xfrm>
          <a:prstGeom prst="line">
            <a:avLst/>
          </a:prstGeom>
          <a:noFill/>
          <a:ln w="12700">
            <a:solidFill>
              <a:srgbClr val="D7DCE6"/>
            </a:solidFill>
            <a:prstDash val="solid"/>
          </a:ln>
        </p:spPr>
      </p:sp>
      <p:sp>
        <p:nvSpPr>
          <p:cNvPr id="8" name="Shape 6"/>
          <p:cNvSpPr/>
          <p:nvPr/>
        </p:nvSpPr>
        <p:spPr>
          <a:xfrm>
            <a:off x="713232" y="1536192"/>
            <a:ext cx="3931920" cy="4370832"/>
          </a:xfrm>
          <a:prstGeom prst="roundRect">
            <a:avLst>
              <a:gd name="adj" fmla="val 1860"/>
            </a:avLst>
          </a:prstGeom>
          <a:solidFill>
            <a:srgbClr val="0A1020"/>
          </a:solidFill>
          <a:ln w="12700">
            <a:solidFill>
              <a:srgbClr val="0A1020"/>
            </a:solidFill>
            <a:prstDash val="solid"/>
          </a:ln>
        </p:spPr>
      </p:sp>
      <p:sp>
        <p:nvSpPr>
          <p:cNvPr id="9" name="Shape 7"/>
          <p:cNvSpPr/>
          <p:nvPr/>
        </p:nvSpPr>
        <p:spPr>
          <a:xfrm>
            <a:off x="731520" y="1554480"/>
            <a:ext cx="3895344" cy="73152"/>
          </a:xfrm>
          <a:prstGeom prst="rect">
            <a:avLst/>
          </a:prstGeom>
          <a:solidFill>
            <a:srgbClr val="18B7AE"/>
          </a:solidFill>
          <a:ln w="12700">
            <a:solidFill>
              <a:srgbClr val="18B7AE">
                <a:alpha val="0"/>
              </a:srgbClr>
            </a:solidFill>
            <a:prstDash val="solid"/>
          </a:ln>
        </p:spPr>
      </p:sp>
      <p:sp>
        <p:nvSpPr>
          <p:cNvPr id="10" name="Text 8"/>
          <p:cNvSpPr/>
          <p:nvPr/>
        </p:nvSpPr>
        <p:spPr>
          <a:xfrm>
            <a:off x="950976" y="1810512"/>
            <a:ext cx="1097280" cy="182880"/>
          </a:xfrm>
          <a:prstGeom prst="rect">
            <a:avLst/>
          </a:prstGeom>
          <a:noFill/>
          <a:ln/>
        </p:spPr>
        <p:txBody>
          <a:bodyPr wrap="square" lIns="0" tIns="0" rIns="0" bIns="0" rtlCol="0" anchor="ctr">
            <a:normAutofit/>
          </a:bodyPr>
          <a:lstStyle/>
          <a:p>
            <a:pPr indent="0" marL="0">
              <a:buNone/>
            </a:pPr>
            <a:r>
              <a:rPr lang="en-US" sz="1050" b="1" dirty="0">
                <a:solidFill>
                  <a:srgbClr val="18B7AE"/>
                </a:solidFill>
                <a:latin typeface="PingFang SC" pitchFamily="34" charset="0"/>
                <a:ea typeface="PingFang SC" pitchFamily="34" charset="-122"/>
                <a:cs typeface="PingFang SC" pitchFamily="34" charset="-120"/>
              </a:rPr>
              <a:t>作者判断</a:t>
            </a:r>
            <a:endParaRPr lang="en-US" sz="1050" dirty="0"/>
          </a:p>
        </p:txBody>
      </p:sp>
      <p:sp>
        <p:nvSpPr>
          <p:cNvPr id="11" name="Text 9"/>
          <p:cNvSpPr/>
          <p:nvPr/>
        </p:nvSpPr>
        <p:spPr>
          <a:xfrm>
            <a:off x="932688" y="2139696"/>
            <a:ext cx="3236976" cy="1143000"/>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PingFang SC" pitchFamily="34" charset="0"/>
                <a:ea typeface="PingFang SC" pitchFamily="34" charset="-122"/>
                <a:cs typeface="PingFang SC" pitchFamily="34" charset="-120"/>
              </a:rPr>
              <a:t>CSS 对钙钛矿更像</a:t>
            </a:r>
            <a:endParaRPr lang="en-US" sz="2200" dirty="0"/>
          </a:p>
          <a:p>
            <a:pPr indent="0" marL="0">
              <a:buNone/>
            </a:pPr>
            <a:r>
              <a:rPr lang="en-US" sz="2200" b="1" dirty="0">
                <a:solidFill>
                  <a:srgbClr val="FFFFFF"/>
                </a:solidFill>
                <a:latin typeface="PingFang SC" pitchFamily="34" charset="0"/>
                <a:ea typeface="PingFang SC" pitchFamily="34" charset="-122"/>
                <a:cs typeface="PingFang SC" pitchFamily="34" charset="-120"/>
              </a:rPr>
              <a:t>“受控近场供料 + 固相转化”</a:t>
            </a:r>
            <a:endParaRPr lang="en-US" sz="2200" dirty="0"/>
          </a:p>
        </p:txBody>
      </p:sp>
      <p:sp>
        <p:nvSpPr>
          <p:cNvPr id="12" name="Text 10"/>
          <p:cNvSpPr/>
          <p:nvPr/>
        </p:nvSpPr>
        <p:spPr>
          <a:xfrm>
            <a:off x="932688" y="3675888"/>
            <a:ext cx="3108960" cy="960120"/>
          </a:xfrm>
          <a:prstGeom prst="rect">
            <a:avLst/>
          </a:prstGeom>
          <a:noFill/>
          <a:ln/>
        </p:spPr>
        <p:txBody>
          <a:bodyPr wrap="square" lIns="0" tIns="0" rIns="0" bIns="0" rtlCol="0" anchor="ctr">
            <a:normAutofit/>
          </a:bodyPr>
          <a:lstStyle/>
          <a:p>
            <a:pPr indent="0" marL="0">
              <a:buNone/>
            </a:pPr>
            <a:r>
              <a:rPr lang="en-US" sz="1300" dirty="0">
                <a:solidFill>
                  <a:srgbClr val="D4D9E6"/>
                </a:solidFill>
                <a:latin typeface="PingFang SC" pitchFamily="34" charset="0"/>
                <a:ea typeface="PingFang SC" pitchFamily="34" charset="-122"/>
                <a:cs typeface="PingFang SC" pitchFamily="34" charset="-120"/>
              </a:rPr>
              <a:t>如果把它当成简单蒸发，会只盯沉积速率；</a:t>
            </a:r>
            <a:endParaRPr lang="en-US" sz="1300" dirty="0"/>
          </a:p>
          <a:p>
            <a:pPr indent="0" marL="0">
              <a:buNone/>
            </a:pPr>
            <a:r>
              <a:rPr lang="en-US" sz="1300" dirty="0">
                <a:solidFill>
                  <a:srgbClr val="D4D9E6"/>
                </a:solidFill>
                <a:latin typeface="PingFang SC" pitchFamily="34" charset="0"/>
                <a:ea typeface="PingFang SC" pitchFamily="34" charset="-122"/>
                <a:cs typeface="PingFang SC" pitchFamily="34" charset="-120"/>
              </a:rPr>
              <a:t>如果把它当成转化问题，才会真正重视 source chemistry、反应前沿和带隙稳定性。</a:t>
            </a:r>
            <a:endParaRPr lang="en-US" sz="1300" dirty="0"/>
          </a:p>
        </p:txBody>
      </p:sp>
      <p:sp>
        <p:nvSpPr>
          <p:cNvPr id="13" name="Shape 11"/>
          <p:cNvSpPr/>
          <p:nvPr/>
        </p:nvSpPr>
        <p:spPr>
          <a:xfrm>
            <a:off x="4974336" y="1554480"/>
            <a:ext cx="2999232" cy="1737360"/>
          </a:xfrm>
          <a:prstGeom prst="roundRect">
            <a:avLst>
              <a:gd name="adj" fmla="val 4211"/>
            </a:avLst>
          </a:prstGeom>
          <a:solidFill>
            <a:srgbClr val="FFFFFF"/>
          </a:solidFill>
          <a:ln w="16510">
            <a:solidFill>
              <a:srgbClr val="18B7AE"/>
            </a:solidFill>
            <a:prstDash val="solid"/>
          </a:ln>
        </p:spPr>
      </p:sp>
      <p:sp>
        <p:nvSpPr>
          <p:cNvPr id="14" name="Shape 12"/>
          <p:cNvSpPr/>
          <p:nvPr/>
        </p:nvSpPr>
        <p:spPr>
          <a:xfrm>
            <a:off x="4992624" y="1572768"/>
            <a:ext cx="2962656" cy="73152"/>
          </a:xfrm>
          <a:prstGeom prst="rect">
            <a:avLst/>
          </a:prstGeom>
          <a:solidFill>
            <a:srgbClr val="18B7AE"/>
          </a:solidFill>
          <a:ln w="12700">
            <a:solidFill>
              <a:srgbClr val="18B7AE">
                <a:alpha val="0"/>
              </a:srgbClr>
            </a:solidFill>
            <a:prstDash val="solid"/>
          </a:ln>
        </p:spPr>
      </p:sp>
      <p:sp>
        <p:nvSpPr>
          <p:cNvPr id="15" name="Text 13"/>
          <p:cNvSpPr/>
          <p:nvPr/>
        </p:nvSpPr>
        <p:spPr>
          <a:xfrm>
            <a:off x="5138928" y="1719072"/>
            <a:ext cx="2670048" cy="201168"/>
          </a:xfrm>
          <a:prstGeom prst="rect">
            <a:avLst/>
          </a:prstGeom>
          <a:noFill/>
          <a:ln/>
        </p:spPr>
        <p:txBody>
          <a:bodyPr wrap="square" lIns="0" tIns="0" rIns="0" bIns="0" rtlCol="0" anchor="ctr">
            <a:normAutofit/>
          </a:bodyPr>
          <a:lstStyle/>
          <a:p>
            <a:pPr indent="0" marL="0">
              <a:buNone/>
            </a:pPr>
            <a:r>
              <a:rPr lang="en-US" sz="1300" b="1" dirty="0">
                <a:solidFill>
                  <a:srgbClr val="111827"/>
                </a:solidFill>
                <a:latin typeface="PingFang SC" pitchFamily="34" charset="0"/>
                <a:ea typeface="PingFang SC" pitchFamily="34" charset="-122"/>
                <a:cs typeface="PingFang SC" pitchFamily="34" charset="-120"/>
              </a:rPr>
              <a:t>为什么值得看</a:t>
            </a:r>
            <a:endParaRPr lang="en-US" sz="1300" dirty="0"/>
          </a:p>
        </p:txBody>
      </p:sp>
      <p:sp>
        <p:nvSpPr>
          <p:cNvPr id="16" name="Text 14"/>
          <p:cNvSpPr/>
          <p:nvPr/>
        </p:nvSpPr>
        <p:spPr>
          <a:xfrm>
            <a:off x="5138928" y="2029968"/>
            <a:ext cx="2670048" cy="914400"/>
          </a:xfrm>
          <a:prstGeom prst="rect">
            <a:avLst/>
          </a:prstGeom>
          <a:noFill/>
          <a:ln/>
        </p:spPr>
        <p:txBody>
          <a:bodyPr wrap="square" lIns="0" tIns="0" rIns="0" bIns="0" rtlCol="0" anchor="ctr">
            <a:normAutofit/>
          </a:bodyPr>
          <a:lstStyle/>
          <a:p>
            <a:pPr indent="0" marL="0">
              <a:buNone/>
            </a:pPr>
            <a:r>
              <a:rPr lang="en-US" sz="1160" dirty="0">
                <a:solidFill>
                  <a:srgbClr val="667085"/>
                </a:solidFill>
                <a:latin typeface="PingFang SC" pitchFamily="34" charset="0"/>
                <a:ea typeface="PingFang SC" pitchFamily="34" charset="-122"/>
                <a:cs typeface="PingFang SC" pitchFamily="34" charset="-120"/>
              </a:rPr>
              <a:t>较低工作压强、较高材料传输、几何简单，天然带着工业薄膜工艺的味道。</a:t>
            </a:r>
            <a:endParaRPr lang="en-US" sz="1160" dirty="0"/>
          </a:p>
        </p:txBody>
      </p:sp>
      <p:sp>
        <p:nvSpPr>
          <p:cNvPr id="17" name="Shape 15"/>
          <p:cNvSpPr/>
          <p:nvPr/>
        </p:nvSpPr>
        <p:spPr>
          <a:xfrm>
            <a:off x="8174736" y="1554480"/>
            <a:ext cx="2999232" cy="1737360"/>
          </a:xfrm>
          <a:prstGeom prst="roundRect">
            <a:avLst>
              <a:gd name="adj" fmla="val 4211"/>
            </a:avLst>
          </a:prstGeom>
          <a:solidFill>
            <a:srgbClr val="FFFFFF"/>
          </a:solidFill>
          <a:ln w="16510">
            <a:solidFill>
              <a:srgbClr val="E9A45B"/>
            </a:solidFill>
            <a:prstDash val="solid"/>
          </a:ln>
        </p:spPr>
      </p:sp>
      <p:sp>
        <p:nvSpPr>
          <p:cNvPr id="18" name="Shape 16"/>
          <p:cNvSpPr/>
          <p:nvPr/>
        </p:nvSpPr>
        <p:spPr>
          <a:xfrm>
            <a:off x="8193024" y="1572768"/>
            <a:ext cx="2962656" cy="73152"/>
          </a:xfrm>
          <a:prstGeom prst="rect">
            <a:avLst/>
          </a:prstGeom>
          <a:solidFill>
            <a:srgbClr val="E9A45B"/>
          </a:solidFill>
          <a:ln w="12700">
            <a:solidFill>
              <a:srgbClr val="E9A45B">
                <a:alpha val="0"/>
              </a:srgbClr>
            </a:solidFill>
            <a:prstDash val="solid"/>
          </a:ln>
        </p:spPr>
      </p:sp>
      <p:sp>
        <p:nvSpPr>
          <p:cNvPr id="19" name="Text 17"/>
          <p:cNvSpPr/>
          <p:nvPr/>
        </p:nvSpPr>
        <p:spPr>
          <a:xfrm>
            <a:off x="8339328" y="1719072"/>
            <a:ext cx="2670048" cy="201168"/>
          </a:xfrm>
          <a:prstGeom prst="rect">
            <a:avLst/>
          </a:prstGeom>
          <a:noFill/>
          <a:ln/>
        </p:spPr>
        <p:txBody>
          <a:bodyPr wrap="square" lIns="0" tIns="0" rIns="0" bIns="0" rtlCol="0" anchor="ctr">
            <a:normAutofit/>
          </a:bodyPr>
          <a:lstStyle/>
          <a:p>
            <a:pPr indent="0" marL="0">
              <a:buNone/>
            </a:pPr>
            <a:r>
              <a:rPr lang="en-US" sz="1300" b="1" dirty="0">
                <a:solidFill>
                  <a:srgbClr val="111827"/>
                </a:solidFill>
                <a:latin typeface="PingFang SC" pitchFamily="34" charset="0"/>
                <a:ea typeface="PingFang SC" pitchFamily="34" charset="-122"/>
                <a:cs typeface="PingFang SC" pitchFamily="34" charset="-120"/>
              </a:rPr>
              <a:t>最现实的路线</a:t>
            </a:r>
            <a:endParaRPr lang="en-US" sz="1300" dirty="0"/>
          </a:p>
        </p:txBody>
      </p:sp>
      <p:sp>
        <p:nvSpPr>
          <p:cNvPr id="20" name="Text 18"/>
          <p:cNvSpPr/>
          <p:nvPr/>
        </p:nvSpPr>
        <p:spPr>
          <a:xfrm>
            <a:off x="8339328" y="2029968"/>
            <a:ext cx="2670048" cy="914400"/>
          </a:xfrm>
          <a:prstGeom prst="rect">
            <a:avLst/>
          </a:prstGeom>
          <a:noFill/>
          <a:ln/>
        </p:spPr>
        <p:txBody>
          <a:bodyPr wrap="square" lIns="0" tIns="0" rIns="0" bIns="0" rtlCol="0" anchor="ctr">
            <a:normAutofit/>
          </a:bodyPr>
          <a:lstStyle/>
          <a:p>
            <a:pPr indent="0" marL="0">
              <a:buNone/>
            </a:pPr>
            <a:r>
              <a:rPr lang="en-US" sz="1160" dirty="0">
                <a:solidFill>
                  <a:srgbClr val="667085"/>
                </a:solidFill>
                <a:latin typeface="PingFang SC" pitchFamily="34" charset="0"/>
                <a:ea typeface="PingFang SC" pitchFamily="34" charset="-122"/>
                <a:cs typeface="PingFang SC" pitchFamily="34" charset="-120"/>
              </a:rPr>
              <a:t>“无机骨架 + 挥发性有机卤化物源”是当前文献里最可信、也最可扩展的工艺范式。</a:t>
            </a:r>
            <a:endParaRPr lang="en-US" sz="1160" dirty="0"/>
          </a:p>
        </p:txBody>
      </p:sp>
      <p:sp>
        <p:nvSpPr>
          <p:cNvPr id="21" name="Shape 19"/>
          <p:cNvSpPr/>
          <p:nvPr/>
        </p:nvSpPr>
        <p:spPr>
          <a:xfrm>
            <a:off x="4974336" y="3584448"/>
            <a:ext cx="2999232" cy="1737360"/>
          </a:xfrm>
          <a:prstGeom prst="roundRect">
            <a:avLst>
              <a:gd name="adj" fmla="val 4211"/>
            </a:avLst>
          </a:prstGeom>
          <a:solidFill>
            <a:srgbClr val="FFFFFF"/>
          </a:solidFill>
          <a:ln w="16510">
            <a:solidFill>
              <a:srgbClr val="4E7BFF"/>
            </a:solidFill>
            <a:prstDash val="solid"/>
          </a:ln>
        </p:spPr>
      </p:sp>
      <p:sp>
        <p:nvSpPr>
          <p:cNvPr id="22" name="Shape 20"/>
          <p:cNvSpPr/>
          <p:nvPr/>
        </p:nvSpPr>
        <p:spPr>
          <a:xfrm>
            <a:off x="4992624" y="3602736"/>
            <a:ext cx="2962656" cy="73152"/>
          </a:xfrm>
          <a:prstGeom prst="rect">
            <a:avLst/>
          </a:prstGeom>
          <a:solidFill>
            <a:srgbClr val="4E7BFF"/>
          </a:solidFill>
          <a:ln w="12700">
            <a:solidFill>
              <a:srgbClr val="4E7BFF">
                <a:alpha val="0"/>
              </a:srgbClr>
            </a:solidFill>
            <a:prstDash val="solid"/>
          </a:ln>
        </p:spPr>
      </p:sp>
      <p:sp>
        <p:nvSpPr>
          <p:cNvPr id="23" name="Text 21"/>
          <p:cNvSpPr/>
          <p:nvPr/>
        </p:nvSpPr>
        <p:spPr>
          <a:xfrm>
            <a:off x="5138928" y="3749040"/>
            <a:ext cx="2670048" cy="201168"/>
          </a:xfrm>
          <a:prstGeom prst="rect">
            <a:avLst/>
          </a:prstGeom>
          <a:noFill/>
          <a:ln/>
        </p:spPr>
        <p:txBody>
          <a:bodyPr wrap="square" lIns="0" tIns="0" rIns="0" bIns="0" rtlCol="0" anchor="ctr">
            <a:normAutofit/>
          </a:bodyPr>
          <a:lstStyle/>
          <a:p>
            <a:pPr indent="0" marL="0">
              <a:buNone/>
            </a:pPr>
            <a:r>
              <a:rPr lang="en-US" sz="1300" b="1" dirty="0">
                <a:solidFill>
                  <a:srgbClr val="111827"/>
                </a:solidFill>
                <a:latin typeface="PingFang SC" pitchFamily="34" charset="0"/>
                <a:ea typeface="PingFang SC" pitchFamily="34" charset="-122"/>
                <a:cs typeface="PingFang SC" pitchFamily="34" charset="-120"/>
              </a:rPr>
              <a:t>已经证明的上限</a:t>
            </a:r>
            <a:endParaRPr lang="en-US" sz="1300" dirty="0"/>
          </a:p>
        </p:txBody>
      </p:sp>
      <p:sp>
        <p:nvSpPr>
          <p:cNvPr id="24" name="Text 22"/>
          <p:cNvSpPr/>
          <p:nvPr/>
        </p:nvSpPr>
        <p:spPr>
          <a:xfrm>
            <a:off x="5138928" y="4059936"/>
            <a:ext cx="2670048" cy="914400"/>
          </a:xfrm>
          <a:prstGeom prst="rect">
            <a:avLst/>
          </a:prstGeom>
          <a:noFill/>
          <a:ln/>
        </p:spPr>
        <p:txBody>
          <a:bodyPr wrap="square" lIns="0" tIns="0" rIns="0" bIns="0" rtlCol="0" anchor="ctr">
            <a:normAutofit/>
          </a:bodyPr>
          <a:lstStyle/>
          <a:p>
            <a:pPr indent="0" marL="0">
              <a:buNone/>
            </a:pPr>
            <a:r>
              <a:rPr lang="en-US" sz="1160" dirty="0">
                <a:solidFill>
                  <a:srgbClr val="667085"/>
                </a:solidFill>
                <a:latin typeface="PingFang SC" pitchFamily="34" charset="0"/>
                <a:ea typeface="PingFang SC" pitchFamily="34" charset="-122"/>
                <a:cs typeface="PingFang SC" pitchFamily="34" charset="-120"/>
              </a:rPr>
              <a:t>单结器件已有 18.7% 与 18.8%，宽带隙串联路线已做到 24.3%。</a:t>
            </a:r>
            <a:endParaRPr lang="en-US" sz="1160" dirty="0"/>
          </a:p>
        </p:txBody>
      </p:sp>
      <p:sp>
        <p:nvSpPr>
          <p:cNvPr id="25" name="Shape 23"/>
          <p:cNvSpPr/>
          <p:nvPr/>
        </p:nvSpPr>
        <p:spPr>
          <a:xfrm>
            <a:off x="8174736" y="3584448"/>
            <a:ext cx="2999232" cy="1737360"/>
          </a:xfrm>
          <a:prstGeom prst="roundRect">
            <a:avLst>
              <a:gd name="adj" fmla="val 4211"/>
            </a:avLst>
          </a:prstGeom>
          <a:solidFill>
            <a:srgbClr val="FFFFFF"/>
          </a:solidFill>
          <a:ln w="16510">
            <a:solidFill>
              <a:srgbClr val="C86B82"/>
            </a:solidFill>
            <a:prstDash val="solid"/>
          </a:ln>
        </p:spPr>
      </p:sp>
      <p:sp>
        <p:nvSpPr>
          <p:cNvPr id="26" name="Shape 24"/>
          <p:cNvSpPr/>
          <p:nvPr/>
        </p:nvSpPr>
        <p:spPr>
          <a:xfrm>
            <a:off x="8193024" y="3602736"/>
            <a:ext cx="2962656" cy="73152"/>
          </a:xfrm>
          <a:prstGeom prst="rect">
            <a:avLst/>
          </a:prstGeom>
          <a:solidFill>
            <a:srgbClr val="C86B82"/>
          </a:solidFill>
          <a:ln w="12700">
            <a:solidFill>
              <a:srgbClr val="C86B82">
                <a:alpha val="0"/>
              </a:srgbClr>
            </a:solidFill>
            <a:prstDash val="solid"/>
          </a:ln>
        </p:spPr>
      </p:sp>
      <p:sp>
        <p:nvSpPr>
          <p:cNvPr id="27" name="Text 25"/>
          <p:cNvSpPr/>
          <p:nvPr/>
        </p:nvSpPr>
        <p:spPr>
          <a:xfrm>
            <a:off x="8339328" y="3749040"/>
            <a:ext cx="2670048" cy="201168"/>
          </a:xfrm>
          <a:prstGeom prst="rect">
            <a:avLst/>
          </a:prstGeom>
          <a:noFill/>
          <a:ln/>
        </p:spPr>
        <p:txBody>
          <a:bodyPr wrap="square" lIns="0" tIns="0" rIns="0" bIns="0" rtlCol="0" anchor="ctr">
            <a:normAutofit/>
          </a:bodyPr>
          <a:lstStyle/>
          <a:p>
            <a:pPr indent="0" marL="0">
              <a:buNone/>
            </a:pPr>
            <a:r>
              <a:rPr lang="en-US" sz="1300" b="1" dirty="0">
                <a:solidFill>
                  <a:srgbClr val="111827"/>
                </a:solidFill>
                <a:latin typeface="PingFang SC" pitchFamily="34" charset="0"/>
                <a:ea typeface="PingFang SC" pitchFamily="34" charset="-122"/>
                <a:cs typeface="PingFang SC" pitchFamily="34" charset="-120"/>
              </a:rPr>
              <a:t>真正的难点</a:t>
            </a:r>
            <a:endParaRPr lang="en-US" sz="1300" dirty="0"/>
          </a:p>
        </p:txBody>
      </p:sp>
      <p:sp>
        <p:nvSpPr>
          <p:cNvPr id="28" name="Text 26"/>
          <p:cNvSpPr/>
          <p:nvPr/>
        </p:nvSpPr>
        <p:spPr>
          <a:xfrm>
            <a:off x="8339328" y="4059936"/>
            <a:ext cx="2670048" cy="914400"/>
          </a:xfrm>
          <a:prstGeom prst="rect">
            <a:avLst/>
          </a:prstGeom>
          <a:noFill/>
          <a:ln/>
        </p:spPr>
        <p:txBody>
          <a:bodyPr wrap="square" lIns="0" tIns="0" rIns="0" bIns="0" rtlCol="0" anchor="ctr">
            <a:normAutofit/>
          </a:bodyPr>
          <a:lstStyle/>
          <a:p>
            <a:pPr indent="0" marL="0">
              <a:buNone/>
            </a:pPr>
            <a:r>
              <a:rPr lang="en-US" sz="1160" dirty="0">
                <a:solidFill>
                  <a:srgbClr val="667085"/>
                </a:solidFill>
                <a:latin typeface="PingFang SC" pitchFamily="34" charset="0"/>
                <a:ea typeface="PingFang SC" pitchFamily="34" charset="-122"/>
                <a:cs typeface="PingFang SC" pitchFamily="34" charset="-120"/>
              </a:rPr>
              <a:t>难点不是“能不能蒸”，而是有机源稳定性、相组成控制和反应窗口管理。</a:t>
            </a:r>
            <a:endParaRPr lang="en-US" sz="1160" dirty="0"/>
          </a:p>
        </p:txBody>
      </p:sp>
      <p:sp>
        <p:nvSpPr>
          <p:cNvPr id="29" name="Shape 27"/>
          <p:cNvSpPr/>
          <p:nvPr/>
        </p:nvSpPr>
        <p:spPr>
          <a:xfrm>
            <a:off x="566928" y="6419088"/>
            <a:ext cx="11064240" cy="0"/>
          </a:xfrm>
          <a:prstGeom prst="line">
            <a:avLst/>
          </a:prstGeom>
          <a:noFill/>
          <a:ln w="8890">
            <a:solidFill>
              <a:srgbClr val="D7DCE6"/>
            </a:solidFill>
            <a:prstDash val="solid"/>
          </a:ln>
        </p:spPr>
      </p:sp>
      <p:sp>
        <p:nvSpPr>
          <p:cNvPr id="30" name="Text 28"/>
          <p:cNvSpPr/>
          <p:nvPr/>
        </p:nvSpPr>
        <p:spPr>
          <a:xfrm>
            <a:off x="603504" y="6473952"/>
            <a:ext cx="10789920" cy="182880"/>
          </a:xfrm>
          <a:prstGeom prst="rect">
            <a:avLst/>
          </a:prstGeom>
          <a:noFill/>
          <a:ln/>
        </p:spPr>
        <p:txBody>
          <a:bodyPr wrap="square" lIns="0" tIns="0" rIns="0" bIns="0" rtlCol="0" anchor="ctr">
            <a:normAutofit/>
          </a:bodyPr>
          <a:lstStyle/>
          <a:p>
            <a:pPr indent="0" marL="0">
              <a:buNone/>
            </a:pPr>
            <a:r>
              <a:rPr lang="en-US" sz="850" dirty="0">
                <a:solidFill>
                  <a:srgbClr val="667085"/>
                </a:solidFill>
                <a:latin typeface="PingFang SC" pitchFamily="34" charset="0"/>
                <a:ea typeface="PingFang SC" pitchFamily="34" charset="-122"/>
                <a:cs typeface="PingFang SC" pitchFamily="34" charset="-120"/>
              </a:rPr>
              <a:t>证据来源：[1][3][4][5][6]。其中“作者判断”为基于这些论文结果的综合归纳。</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A1020"/>
          </a:solidFill>
          <a:ln w="12700">
            <a:solidFill>
              <a:srgbClr val="0A1020">
                <a:alpha val="0"/>
              </a:srgbClr>
            </a:solidFill>
            <a:prstDash val="solid"/>
          </a:ln>
        </p:spPr>
      </p:sp>
      <p:sp>
        <p:nvSpPr>
          <p:cNvPr id="3" name="Text 1"/>
          <p:cNvSpPr/>
          <p:nvPr/>
        </p:nvSpPr>
        <p:spPr>
          <a:xfrm>
            <a:off x="566928" y="292608"/>
            <a:ext cx="1645920" cy="219456"/>
          </a:xfrm>
          <a:prstGeom prst="rect">
            <a:avLst/>
          </a:prstGeom>
          <a:noFill/>
          <a:ln/>
        </p:spPr>
        <p:txBody>
          <a:bodyPr wrap="square" lIns="0" tIns="0" rIns="0" bIns="0" rtlCol="0" anchor="ctr">
            <a:normAutofit/>
          </a:bodyPr>
          <a:lstStyle/>
          <a:p>
            <a:pPr indent="0" marL="0">
              <a:buNone/>
            </a:pPr>
            <a:r>
              <a:rPr lang="en-US" sz="1000" b="1" dirty="0">
                <a:solidFill>
                  <a:srgbClr val="18B7AE"/>
                </a:solidFill>
                <a:latin typeface="PingFang SC" pitchFamily="34" charset="0"/>
                <a:ea typeface="PingFang SC" pitchFamily="34" charset="-122"/>
                <a:cs typeface="PingFang SC" pitchFamily="34" charset="-120"/>
              </a:rPr>
              <a:t>POSITIONING</a:t>
            </a:r>
            <a:endParaRPr lang="en-US" sz="1000" dirty="0"/>
          </a:p>
        </p:txBody>
      </p:sp>
      <p:sp>
        <p:nvSpPr>
          <p:cNvPr id="4" name="Text 2"/>
          <p:cNvSpPr/>
          <p:nvPr/>
        </p:nvSpPr>
        <p:spPr>
          <a:xfrm>
            <a:off x="11109960" y="237744"/>
            <a:ext cx="502920" cy="274320"/>
          </a:xfrm>
          <a:prstGeom prst="rect">
            <a:avLst/>
          </a:prstGeom>
          <a:noFill/>
          <a:ln/>
        </p:spPr>
        <p:txBody>
          <a:bodyPr wrap="square" lIns="0" tIns="0" rIns="0" bIns="0" rtlCol="0" anchor="ctr">
            <a:normAutofit/>
          </a:bodyPr>
          <a:lstStyle/>
          <a:p>
            <a:pPr algn="r" indent="0" marL="0">
              <a:buNone/>
            </a:pPr>
            <a:r>
              <a:rPr lang="en-US" sz="1400" b="1" dirty="0">
                <a:solidFill>
                  <a:srgbClr val="0A1020"/>
                </a:solidFill>
                <a:latin typeface="PingFang SC" pitchFamily="34" charset="0"/>
                <a:ea typeface="PingFang SC" pitchFamily="34" charset="-122"/>
                <a:cs typeface="PingFang SC" pitchFamily="34" charset="-120"/>
              </a:rPr>
              <a:t>03</a:t>
            </a:r>
            <a:endParaRPr lang="en-US" sz="1400" dirty="0"/>
          </a:p>
        </p:txBody>
      </p:sp>
      <p:sp>
        <p:nvSpPr>
          <p:cNvPr id="5" name="Text 3"/>
          <p:cNvSpPr/>
          <p:nvPr/>
        </p:nvSpPr>
        <p:spPr>
          <a:xfrm>
            <a:off x="566928" y="548640"/>
            <a:ext cx="7680960" cy="402336"/>
          </a:xfrm>
          <a:prstGeom prst="rect">
            <a:avLst/>
          </a:prstGeom>
          <a:noFill/>
          <a:ln/>
        </p:spPr>
        <p:txBody>
          <a:bodyPr wrap="square" lIns="0" tIns="0" rIns="0" bIns="0" rtlCol="0" anchor="ctr">
            <a:normAutofit/>
          </a:bodyPr>
          <a:lstStyle/>
          <a:p>
            <a:pPr indent="0" marL="0">
              <a:buNone/>
            </a:pPr>
            <a:r>
              <a:rPr lang="en-US" sz="2400" b="1" dirty="0">
                <a:solidFill>
                  <a:srgbClr val="0A1020"/>
                </a:solidFill>
                <a:latin typeface="PingFang SC" pitchFamily="34" charset="0"/>
                <a:ea typeface="PingFang SC" pitchFamily="34" charset="-122"/>
                <a:cs typeface="PingFang SC" pitchFamily="34" charset="-120"/>
              </a:rPr>
              <a:t>CSS 在制备路线中的位置</a:t>
            </a:r>
            <a:endParaRPr lang="en-US" sz="2400" dirty="0"/>
          </a:p>
        </p:txBody>
      </p:sp>
      <p:sp>
        <p:nvSpPr>
          <p:cNvPr id="6" name="Text 4"/>
          <p:cNvSpPr/>
          <p:nvPr/>
        </p:nvSpPr>
        <p:spPr>
          <a:xfrm>
            <a:off x="566928" y="960120"/>
            <a:ext cx="8778240" cy="292608"/>
          </a:xfrm>
          <a:prstGeom prst="rect">
            <a:avLst/>
          </a:prstGeom>
          <a:noFill/>
          <a:ln/>
        </p:spPr>
        <p:txBody>
          <a:bodyPr wrap="square" lIns="0" tIns="0" rIns="0" bIns="0" rtlCol="0" anchor="ctr">
            <a:normAutofit/>
          </a:bodyPr>
          <a:lstStyle/>
          <a:p>
            <a:pPr indent="0" marL="0">
              <a:buNone/>
            </a:pPr>
            <a:r>
              <a:rPr lang="en-US" sz="1150" dirty="0">
                <a:solidFill>
                  <a:srgbClr val="667085"/>
                </a:solidFill>
                <a:latin typeface="PingFang SC" pitchFamily="34" charset="0"/>
                <a:ea typeface="PingFang SC" pitchFamily="34" charset="-122"/>
                <a:cs typeface="PingFang SC" pitchFamily="34" charset="-120"/>
              </a:rPr>
              <a:t>不是所有干法都一样。CSS 的独特性在于“近场几何 + 中等真空 + 高传质”。</a:t>
            </a:r>
            <a:endParaRPr lang="en-US" sz="1150" dirty="0"/>
          </a:p>
        </p:txBody>
      </p:sp>
      <p:sp>
        <p:nvSpPr>
          <p:cNvPr id="7" name="Shape 5"/>
          <p:cNvSpPr/>
          <p:nvPr/>
        </p:nvSpPr>
        <p:spPr>
          <a:xfrm>
            <a:off x="566928" y="1225296"/>
            <a:ext cx="11064240" cy="0"/>
          </a:xfrm>
          <a:prstGeom prst="line">
            <a:avLst/>
          </a:prstGeom>
          <a:noFill/>
          <a:ln w="12700">
            <a:solidFill>
              <a:srgbClr val="D7DCE6"/>
            </a:solidFill>
            <a:prstDash val="solid"/>
          </a:ln>
        </p:spPr>
      </p:sp>
      <p:sp>
        <p:nvSpPr>
          <p:cNvPr id="8" name="Shape 6"/>
          <p:cNvSpPr/>
          <p:nvPr/>
        </p:nvSpPr>
        <p:spPr>
          <a:xfrm>
            <a:off x="749808" y="1591056"/>
            <a:ext cx="2788920" cy="4023360"/>
          </a:xfrm>
          <a:prstGeom prst="roundRect">
            <a:avLst>
              <a:gd name="adj" fmla="val 2623"/>
            </a:avLst>
          </a:prstGeom>
          <a:solidFill>
            <a:srgbClr val="FFFFFF"/>
          </a:solidFill>
          <a:ln w="16510">
            <a:solidFill>
              <a:srgbClr val="4E7BFF"/>
            </a:solidFill>
            <a:prstDash val="solid"/>
          </a:ln>
        </p:spPr>
      </p:sp>
      <p:sp>
        <p:nvSpPr>
          <p:cNvPr id="9" name="Shape 7"/>
          <p:cNvSpPr/>
          <p:nvPr/>
        </p:nvSpPr>
        <p:spPr>
          <a:xfrm>
            <a:off x="768096" y="1609344"/>
            <a:ext cx="2752344" cy="73152"/>
          </a:xfrm>
          <a:prstGeom prst="rect">
            <a:avLst/>
          </a:prstGeom>
          <a:solidFill>
            <a:srgbClr val="4E7BFF"/>
          </a:solidFill>
          <a:ln w="12700">
            <a:solidFill>
              <a:srgbClr val="4E7BFF">
                <a:alpha val="0"/>
              </a:srgbClr>
            </a:solidFill>
            <a:prstDash val="solid"/>
          </a:ln>
        </p:spPr>
      </p:sp>
      <p:sp>
        <p:nvSpPr>
          <p:cNvPr id="10" name="Text 8"/>
          <p:cNvSpPr/>
          <p:nvPr/>
        </p:nvSpPr>
        <p:spPr>
          <a:xfrm>
            <a:off x="914400" y="1810512"/>
            <a:ext cx="2468880" cy="256032"/>
          </a:xfrm>
          <a:prstGeom prst="rect">
            <a:avLst/>
          </a:prstGeom>
          <a:noFill/>
          <a:ln/>
        </p:spPr>
        <p:txBody>
          <a:bodyPr wrap="square" lIns="0" tIns="0" rIns="0" bIns="0" rtlCol="0" anchor="ctr">
            <a:normAutofit/>
          </a:bodyPr>
          <a:lstStyle/>
          <a:p>
            <a:pPr algn="ctr" indent="0" marL="0">
              <a:buNone/>
            </a:pPr>
            <a:r>
              <a:rPr lang="en-US" sz="1600" b="1" dirty="0">
                <a:solidFill>
                  <a:srgbClr val="111827"/>
                </a:solidFill>
                <a:latin typeface="PingFang SC" pitchFamily="34" charset="0"/>
                <a:ea typeface="PingFang SC" pitchFamily="34" charset="-122"/>
                <a:cs typeface="PingFang SC" pitchFamily="34" charset="-120"/>
              </a:rPr>
              <a:t>溶液法</a:t>
            </a:r>
            <a:endParaRPr lang="en-US" sz="1600" dirty="0"/>
          </a:p>
        </p:txBody>
      </p:sp>
      <p:sp>
        <p:nvSpPr>
          <p:cNvPr id="11" name="Shape 9"/>
          <p:cNvSpPr/>
          <p:nvPr/>
        </p:nvSpPr>
        <p:spPr>
          <a:xfrm>
            <a:off x="914400" y="2414016"/>
            <a:ext cx="91440" cy="91440"/>
          </a:xfrm>
          <a:prstGeom prst="ellipse">
            <a:avLst/>
          </a:prstGeom>
          <a:solidFill>
            <a:srgbClr val="4E7BFF"/>
          </a:solidFill>
          <a:ln w="12700">
            <a:solidFill>
              <a:srgbClr val="4E7BFF">
                <a:alpha val="0"/>
              </a:srgbClr>
            </a:solidFill>
            <a:prstDash val="solid"/>
          </a:ln>
        </p:spPr>
      </p:sp>
      <p:sp>
        <p:nvSpPr>
          <p:cNvPr id="12" name="Text 10"/>
          <p:cNvSpPr/>
          <p:nvPr/>
        </p:nvSpPr>
        <p:spPr>
          <a:xfrm>
            <a:off x="1078992" y="2322576"/>
            <a:ext cx="2286000" cy="384048"/>
          </a:xfrm>
          <a:prstGeom prst="rect">
            <a:avLst/>
          </a:prstGeom>
          <a:noFill/>
          <a:ln/>
        </p:spPr>
        <p:txBody>
          <a:bodyPr wrap="square" lIns="0" tIns="0" rIns="0" bIns="0" rtlCol="0" anchor="ctr">
            <a:normAutofit/>
          </a:bodyPr>
          <a:lstStyle/>
          <a:p>
            <a:pPr indent="0" marL="0">
              <a:buNone/>
            </a:pPr>
            <a:r>
              <a:rPr lang="en-US" sz="1210" dirty="0">
                <a:solidFill>
                  <a:srgbClr val="667085"/>
                </a:solidFill>
                <a:latin typeface="PingFang SC" pitchFamily="34" charset="0"/>
                <a:ea typeface="PingFang SC" pitchFamily="34" charset="-122"/>
                <a:cs typeface="PingFang SC" pitchFamily="34" charset="-120"/>
              </a:rPr>
              <a:t>供料：液相前驱体 + 溶剂</a:t>
            </a:r>
            <a:endParaRPr lang="en-US" sz="1210" dirty="0"/>
          </a:p>
        </p:txBody>
      </p:sp>
      <p:sp>
        <p:nvSpPr>
          <p:cNvPr id="13" name="Shape 11"/>
          <p:cNvSpPr/>
          <p:nvPr/>
        </p:nvSpPr>
        <p:spPr>
          <a:xfrm>
            <a:off x="914400" y="3236976"/>
            <a:ext cx="91440" cy="91440"/>
          </a:xfrm>
          <a:prstGeom prst="ellipse">
            <a:avLst/>
          </a:prstGeom>
          <a:solidFill>
            <a:srgbClr val="4E7BFF"/>
          </a:solidFill>
          <a:ln w="12700">
            <a:solidFill>
              <a:srgbClr val="4E7BFF">
                <a:alpha val="0"/>
              </a:srgbClr>
            </a:solidFill>
            <a:prstDash val="solid"/>
          </a:ln>
        </p:spPr>
      </p:sp>
      <p:sp>
        <p:nvSpPr>
          <p:cNvPr id="14" name="Text 12"/>
          <p:cNvSpPr/>
          <p:nvPr/>
        </p:nvSpPr>
        <p:spPr>
          <a:xfrm>
            <a:off x="1078992" y="3145536"/>
            <a:ext cx="2286000" cy="384048"/>
          </a:xfrm>
          <a:prstGeom prst="rect">
            <a:avLst/>
          </a:prstGeom>
          <a:noFill/>
          <a:ln/>
        </p:spPr>
        <p:txBody>
          <a:bodyPr wrap="square" lIns="0" tIns="0" rIns="0" bIns="0" rtlCol="0" anchor="ctr">
            <a:normAutofit/>
          </a:bodyPr>
          <a:lstStyle/>
          <a:p>
            <a:pPr indent="0" marL="0">
              <a:buNone/>
            </a:pPr>
            <a:r>
              <a:rPr lang="en-US" sz="1210" dirty="0">
                <a:solidFill>
                  <a:srgbClr val="667085"/>
                </a:solidFill>
                <a:latin typeface="PingFang SC" pitchFamily="34" charset="0"/>
                <a:ea typeface="PingFang SC" pitchFamily="34" charset="-122"/>
                <a:cs typeface="PingFang SC" pitchFamily="34" charset="-120"/>
              </a:rPr>
              <a:t>优点：实验室效率最高、化学空间宽</a:t>
            </a:r>
            <a:endParaRPr lang="en-US" sz="1210" dirty="0"/>
          </a:p>
        </p:txBody>
      </p:sp>
      <p:sp>
        <p:nvSpPr>
          <p:cNvPr id="15" name="Shape 13"/>
          <p:cNvSpPr/>
          <p:nvPr/>
        </p:nvSpPr>
        <p:spPr>
          <a:xfrm>
            <a:off x="914400" y="4059936"/>
            <a:ext cx="91440" cy="91440"/>
          </a:xfrm>
          <a:prstGeom prst="ellipse">
            <a:avLst/>
          </a:prstGeom>
          <a:solidFill>
            <a:srgbClr val="4E7BFF"/>
          </a:solidFill>
          <a:ln w="12700">
            <a:solidFill>
              <a:srgbClr val="4E7BFF">
                <a:alpha val="0"/>
              </a:srgbClr>
            </a:solidFill>
            <a:prstDash val="solid"/>
          </a:ln>
        </p:spPr>
      </p:sp>
      <p:sp>
        <p:nvSpPr>
          <p:cNvPr id="16" name="Text 14"/>
          <p:cNvSpPr/>
          <p:nvPr/>
        </p:nvSpPr>
        <p:spPr>
          <a:xfrm>
            <a:off x="1078992" y="3968496"/>
            <a:ext cx="2286000" cy="384048"/>
          </a:xfrm>
          <a:prstGeom prst="rect">
            <a:avLst/>
          </a:prstGeom>
          <a:noFill/>
          <a:ln/>
        </p:spPr>
        <p:txBody>
          <a:bodyPr wrap="square" lIns="0" tIns="0" rIns="0" bIns="0" rtlCol="0" anchor="ctr">
            <a:normAutofit/>
          </a:bodyPr>
          <a:lstStyle/>
          <a:p>
            <a:pPr indent="0" marL="0">
              <a:buNone/>
            </a:pPr>
            <a:r>
              <a:rPr lang="en-US" sz="1210" dirty="0">
                <a:solidFill>
                  <a:srgbClr val="667085"/>
                </a:solidFill>
                <a:latin typeface="PingFang SC" pitchFamily="34" charset="0"/>
                <a:ea typeface="PingFang SC" pitchFamily="34" charset="-122"/>
                <a:cs typeface="PingFang SC" pitchFamily="34" charset="-120"/>
              </a:rPr>
              <a:t>难点：干燥/结晶窗口窄，大面积一致性难</a:t>
            </a:r>
            <a:endParaRPr lang="en-US" sz="1210" dirty="0"/>
          </a:p>
        </p:txBody>
      </p:sp>
      <p:sp>
        <p:nvSpPr>
          <p:cNvPr id="17" name="Shape 15"/>
          <p:cNvSpPr/>
          <p:nvPr/>
        </p:nvSpPr>
        <p:spPr>
          <a:xfrm>
            <a:off x="4133088" y="1591056"/>
            <a:ext cx="2788920" cy="4023360"/>
          </a:xfrm>
          <a:prstGeom prst="roundRect">
            <a:avLst>
              <a:gd name="adj" fmla="val 2623"/>
            </a:avLst>
          </a:prstGeom>
          <a:solidFill>
            <a:srgbClr val="FFFFFF"/>
          </a:solidFill>
          <a:ln w="16510">
            <a:solidFill>
              <a:srgbClr val="E9A45B"/>
            </a:solidFill>
            <a:prstDash val="solid"/>
          </a:ln>
        </p:spPr>
      </p:sp>
      <p:sp>
        <p:nvSpPr>
          <p:cNvPr id="18" name="Shape 16"/>
          <p:cNvSpPr/>
          <p:nvPr/>
        </p:nvSpPr>
        <p:spPr>
          <a:xfrm>
            <a:off x="4151376" y="1609344"/>
            <a:ext cx="2752344" cy="73152"/>
          </a:xfrm>
          <a:prstGeom prst="rect">
            <a:avLst/>
          </a:prstGeom>
          <a:solidFill>
            <a:srgbClr val="E9A45B"/>
          </a:solidFill>
          <a:ln w="12700">
            <a:solidFill>
              <a:srgbClr val="E9A45B">
                <a:alpha val="0"/>
              </a:srgbClr>
            </a:solidFill>
            <a:prstDash val="solid"/>
          </a:ln>
        </p:spPr>
      </p:sp>
      <p:sp>
        <p:nvSpPr>
          <p:cNvPr id="19" name="Text 17"/>
          <p:cNvSpPr/>
          <p:nvPr/>
        </p:nvSpPr>
        <p:spPr>
          <a:xfrm>
            <a:off x="4297680" y="1810512"/>
            <a:ext cx="2468880" cy="256032"/>
          </a:xfrm>
          <a:prstGeom prst="rect">
            <a:avLst/>
          </a:prstGeom>
          <a:noFill/>
          <a:ln/>
        </p:spPr>
        <p:txBody>
          <a:bodyPr wrap="square" lIns="0" tIns="0" rIns="0" bIns="0" rtlCol="0" anchor="ctr">
            <a:normAutofit/>
          </a:bodyPr>
          <a:lstStyle/>
          <a:p>
            <a:pPr algn="ctr" indent="0" marL="0">
              <a:buNone/>
            </a:pPr>
            <a:r>
              <a:rPr lang="en-US" sz="1600" b="1" dirty="0">
                <a:solidFill>
                  <a:srgbClr val="111827"/>
                </a:solidFill>
                <a:latin typeface="PingFang SC" pitchFamily="34" charset="0"/>
                <a:ea typeface="PingFang SC" pitchFamily="34" charset="-122"/>
                <a:cs typeface="PingFang SC" pitchFamily="34" charset="-120"/>
              </a:rPr>
              <a:t>共蒸发</a:t>
            </a:r>
            <a:endParaRPr lang="en-US" sz="1600" dirty="0"/>
          </a:p>
        </p:txBody>
      </p:sp>
      <p:sp>
        <p:nvSpPr>
          <p:cNvPr id="20" name="Shape 18"/>
          <p:cNvSpPr/>
          <p:nvPr/>
        </p:nvSpPr>
        <p:spPr>
          <a:xfrm>
            <a:off x="4297680" y="2414016"/>
            <a:ext cx="91440" cy="91440"/>
          </a:xfrm>
          <a:prstGeom prst="ellipse">
            <a:avLst/>
          </a:prstGeom>
          <a:solidFill>
            <a:srgbClr val="E9A45B"/>
          </a:solidFill>
          <a:ln w="12700">
            <a:solidFill>
              <a:srgbClr val="E9A45B">
                <a:alpha val="0"/>
              </a:srgbClr>
            </a:solidFill>
            <a:prstDash val="solid"/>
          </a:ln>
        </p:spPr>
      </p:sp>
      <p:sp>
        <p:nvSpPr>
          <p:cNvPr id="21" name="Text 19"/>
          <p:cNvSpPr/>
          <p:nvPr/>
        </p:nvSpPr>
        <p:spPr>
          <a:xfrm>
            <a:off x="4462272" y="2322576"/>
            <a:ext cx="2286000" cy="384048"/>
          </a:xfrm>
          <a:prstGeom prst="rect">
            <a:avLst/>
          </a:prstGeom>
          <a:noFill/>
          <a:ln/>
        </p:spPr>
        <p:txBody>
          <a:bodyPr wrap="square" lIns="0" tIns="0" rIns="0" bIns="0" rtlCol="0" anchor="ctr">
            <a:normAutofit/>
          </a:bodyPr>
          <a:lstStyle/>
          <a:p>
            <a:pPr indent="0" marL="0">
              <a:buNone/>
            </a:pPr>
            <a:r>
              <a:rPr lang="en-US" sz="1210" dirty="0">
                <a:solidFill>
                  <a:srgbClr val="667085"/>
                </a:solidFill>
                <a:latin typeface="PingFang SC" pitchFamily="34" charset="0"/>
                <a:ea typeface="PingFang SC" pitchFamily="34" charset="-122"/>
                <a:cs typeface="PingFang SC" pitchFamily="34" charset="-120"/>
              </a:rPr>
              <a:t>供料：多热源、较高真空、同步蒸发</a:t>
            </a:r>
            <a:endParaRPr lang="en-US" sz="1210" dirty="0"/>
          </a:p>
        </p:txBody>
      </p:sp>
      <p:sp>
        <p:nvSpPr>
          <p:cNvPr id="22" name="Shape 20"/>
          <p:cNvSpPr/>
          <p:nvPr/>
        </p:nvSpPr>
        <p:spPr>
          <a:xfrm>
            <a:off x="4297680" y="3236976"/>
            <a:ext cx="91440" cy="91440"/>
          </a:xfrm>
          <a:prstGeom prst="ellipse">
            <a:avLst/>
          </a:prstGeom>
          <a:solidFill>
            <a:srgbClr val="E9A45B"/>
          </a:solidFill>
          <a:ln w="12700">
            <a:solidFill>
              <a:srgbClr val="E9A45B">
                <a:alpha val="0"/>
              </a:srgbClr>
            </a:solidFill>
            <a:prstDash val="solid"/>
          </a:ln>
        </p:spPr>
      </p:sp>
      <p:sp>
        <p:nvSpPr>
          <p:cNvPr id="23" name="Text 21"/>
          <p:cNvSpPr/>
          <p:nvPr/>
        </p:nvSpPr>
        <p:spPr>
          <a:xfrm>
            <a:off x="4462272" y="3145536"/>
            <a:ext cx="2286000" cy="384048"/>
          </a:xfrm>
          <a:prstGeom prst="rect">
            <a:avLst/>
          </a:prstGeom>
          <a:noFill/>
          <a:ln/>
        </p:spPr>
        <p:txBody>
          <a:bodyPr wrap="square" lIns="0" tIns="0" rIns="0" bIns="0" rtlCol="0" anchor="ctr">
            <a:normAutofit/>
          </a:bodyPr>
          <a:lstStyle/>
          <a:p>
            <a:pPr indent="0" marL="0">
              <a:buNone/>
            </a:pPr>
            <a:r>
              <a:rPr lang="en-US" sz="1210" dirty="0">
                <a:solidFill>
                  <a:srgbClr val="667085"/>
                </a:solidFill>
                <a:latin typeface="PingFang SC" pitchFamily="34" charset="0"/>
                <a:ea typeface="PingFang SC" pitchFamily="34" charset="-122"/>
                <a:cs typeface="PingFang SC" pitchFamily="34" charset="-120"/>
              </a:rPr>
              <a:t>优点：洁净、可与真空线兼容</a:t>
            </a:r>
            <a:endParaRPr lang="en-US" sz="1210" dirty="0"/>
          </a:p>
        </p:txBody>
      </p:sp>
      <p:sp>
        <p:nvSpPr>
          <p:cNvPr id="24" name="Shape 22"/>
          <p:cNvSpPr/>
          <p:nvPr/>
        </p:nvSpPr>
        <p:spPr>
          <a:xfrm>
            <a:off x="4297680" y="4059936"/>
            <a:ext cx="91440" cy="91440"/>
          </a:xfrm>
          <a:prstGeom prst="ellipse">
            <a:avLst/>
          </a:prstGeom>
          <a:solidFill>
            <a:srgbClr val="E9A45B"/>
          </a:solidFill>
          <a:ln w="12700">
            <a:solidFill>
              <a:srgbClr val="E9A45B">
                <a:alpha val="0"/>
              </a:srgbClr>
            </a:solidFill>
            <a:prstDash val="solid"/>
          </a:ln>
        </p:spPr>
      </p:sp>
      <p:sp>
        <p:nvSpPr>
          <p:cNvPr id="25" name="Text 23"/>
          <p:cNvSpPr/>
          <p:nvPr/>
        </p:nvSpPr>
        <p:spPr>
          <a:xfrm>
            <a:off x="4462272" y="3968496"/>
            <a:ext cx="2286000" cy="384048"/>
          </a:xfrm>
          <a:prstGeom prst="rect">
            <a:avLst/>
          </a:prstGeom>
          <a:noFill/>
          <a:ln/>
        </p:spPr>
        <p:txBody>
          <a:bodyPr wrap="square" lIns="0" tIns="0" rIns="0" bIns="0" rtlCol="0" anchor="ctr">
            <a:normAutofit/>
          </a:bodyPr>
          <a:lstStyle/>
          <a:p>
            <a:pPr indent="0" marL="0">
              <a:buNone/>
            </a:pPr>
            <a:r>
              <a:rPr lang="en-US" sz="1210" dirty="0">
                <a:solidFill>
                  <a:srgbClr val="667085"/>
                </a:solidFill>
                <a:latin typeface="PingFang SC" pitchFamily="34" charset="0"/>
                <a:ea typeface="PingFang SC" pitchFamily="34" charset="-122"/>
                <a:cs typeface="PingFang SC" pitchFamily="34" charset="-120"/>
              </a:rPr>
              <a:t>难点：源数多、配比与蒸发速率控制负担大</a:t>
            </a:r>
            <a:endParaRPr lang="en-US" sz="1210" dirty="0"/>
          </a:p>
        </p:txBody>
      </p:sp>
      <p:sp>
        <p:nvSpPr>
          <p:cNvPr id="26" name="Shape 24"/>
          <p:cNvSpPr/>
          <p:nvPr/>
        </p:nvSpPr>
        <p:spPr>
          <a:xfrm>
            <a:off x="7516368" y="1591056"/>
            <a:ext cx="2788920" cy="4023360"/>
          </a:xfrm>
          <a:prstGeom prst="roundRect">
            <a:avLst>
              <a:gd name="adj" fmla="val 2623"/>
            </a:avLst>
          </a:prstGeom>
          <a:solidFill>
            <a:srgbClr val="FFFFFF"/>
          </a:solidFill>
          <a:ln w="16510">
            <a:solidFill>
              <a:srgbClr val="18B7AE"/>
            </a:solidFill>
            <a:prstDash val="solid"/>
          </a:ln>
        </p:spPr>
      </p:sp>
      <p:sp>
        <p:nvSpPr>
          <p:cNvPr id="27" name="Shape 25"/>
          <p:cNvSpPr/>
          <p:nvPr/>
        </p:nvSpPr>
        <p:spPr>
          <a:xfrm>
            <a:off x="7534656" y="1609344"/>
            <a:ext cx="2752344" cy="73152"/>
          </a:xfrm>
          <a:prstGeom prst="rect">
            <a:avLst/>
          </a:prstGeom>
          <a:solidFill>
            <a:srgbClr val="18B7AE"/>
          </a:solidFill>
          <a:ln w="12700">
            <a:solidFill>
              <a:srgbClr val="18B7AE">
                <a:alpha val="0"/>
              </a:srgbClr>
            </a:solidFill>
            <a:prstDash val="solid"/>
          </a:ln>
        </p:spPr>
      </p:sp>
      <p:sp>
        <p:nvSpPr>
          <p:cNvPr id="28" name="Text 26"/>
          <p:cNvSpPr/>
          <p:nvPr/>
        </p:nvSpPr>
        <p:spPr>
          <a:xfrm>
            <a:off x="7680960" y="1810512"/>
            <a:ext cx="2468880" cy="256032"/>
          </a:xfrm>
          <a:prstGeom prst="rect">
            <a:avLst/>
          </a:prstGeom>
          <a:noFill/>
          <a:ln/>
        </p:spPr>
        <p:txBody>
          <a:bodyPr wrap="square" lIns="0" tIns="0" rIns="0" bIns="0" rtlCol="0" anchor="ctr">
            <a:normAutofit/>
          </a:bodyPr>
          <a:lstStyle/>
          <a:p>
            <a:pPr algn="ctr" indent="0" marL="0">
              <a:buNone/>
            </a:pPr>
            <a:r>
              <a:rPr lang="en-US" sz="1600" b="1" dirty="0">
                <a:solidFill>
                  <a:srgbClr val="111827"/>
                </a:solidFill>
                <a:latin typeface="PingFang SC" pitchFamily="34" charset="0"/>
                <a:ea typeface="PingFang SC" pitchFamily="34" charset="-122"/>
                <a:cs typeface="PingFang SC" pitchFamily="34" charset="-120"/>
              </a:rPr>
              <a:t>近距离升华 CSS</a:t>
            </a:r>
            <a:endParaRPr lang="en-US" sz="1600" dirty="0"/>
          </a:p>
        </p:txBody>
      </p:sp>
      <p:sp>
        <p:nvSpPr>
          <p:cNvPr id="29" name="Shape 27"/>
          <p:cNvSpPr/>
          <p:nvPr/>
        </p:nvSpPr>
        <p:spPr>
          <a:xfrm>
            <a:off x="7680960" y="2414016"/>
            <a:ext cx="91440" cy="91440"/>
          </a:xfrm>
          <a:prstGeom prst="ellipse">
            <a:avLst/>
          </a:prstGeom>
          <a:solidFill>
            <a:srgbClr val="18B7AE"/>
          </a:solidFill>
          <a:ln w="12700">
            <a:solidFill>
              <a:srgbClr val="18B7AE">
                <a:alpha val="0"/>
              </a:srgbClr>
            </a:solidFill>
            <a:prstDash val="solid"/>
          </a:ln>
        </p:spPr>
      </p:sp>
      <p:sp>
        <p:nvSpPr>
          <p:cNvPr id="30" name="Text 28"/>
          <p:cNvSpPr/>
          <p:nvPr/>
        </p:nvSpPr>
        <p:spPr>
          <a:xfrm>
            <a:off x="7845552" y="2322576"/>
            <a:ext cx="2286000" cy="384048"/>
          </a:xfrm>
          <a:prstGeom prst="rect">
            <a:avLst/>
          </a:prstGeom>
          <a:noFill/>
          <a:ln/>
        </p:spPr>
        <p:txBody>
          <a:bodyPr wrap="square" lIns="0" tIns="0" rIns="0" bIns="0" rtlCol="0" anchor="ctr">
            <a:normAutofit/>
          </a:bodyPr>
          <a:lstStyle/>
          <a:p>
            <a:pPr indent="0" marL="0">
              <a:buNone/>
            </a:pPr>
            <a:r>
              <a:rPr lang="en-US" sz="1210" dirty="0">
                <a:solidFill>
                  <a:srgbClr val="667085"/>
                </a:solidFill>
                <a:latin typeface="PingFang SC" pitchFamily="34" charset="0"/>
                <a:ea typeface="PingFang SC" pitchFamily="34" charset="-122"/>
                <a:cs typeface="PingFang SC" pitchFamily="34" charset="-120"/>
              </a:rPr>
              <a:t>供料：近场 gap + 挥发性源 + 骨架转化</a:t>
            </a:r>
            <a:endParaRPr lang="en-US" sz="1210" dirty="0"/>
          </a:p>
        </p:txBody>
      </p:sp>
      <p:sp>
        <p:nvSpPr>
          <p:cNvPr id="31" name="Shape 29"/>
          <p:cNvSpPr/>
          <p:nvPr/>
        </p:nvSpPr>
        <p:spPr>
          <a:xfrm>
            <a:off x="7680960" y="3236976"/>
            <a:ext cx="91440" cy="91440"/>
          </a:xfrm>
          <a:prstGeom prst="ellipse">
            <a:avLst/>
          </a:prstGeom>
          <a:solidFill>
            <a:srgbClr val="18B7AE"/>
          </a:solidFill>
          <a:ln w="12700">
            <a:solidFill>
              <a:srgbClr val="18B7AE">
                <a:alpha val="0"/>
              </a:srgbClr>
            </a:solidFill>
            <a:prstDash val="solid"/>
          </a:ln>
        </p:spPr>
      </p:sp>
      <p:sp>
        <p:nvSpPr>
          <p:cNvPr id="32" name="Text 30"/>
          <p:cNvSpPr/>
          <p:nvPr/>
        </p:nvSpPr>
        <p:spPr>
          <a:xfrm>
            <a:off x="7845552" y="3145536"/>
            <a:ext cx="2286000" cy="384048"/>
          </a:xfrm>
          <a:prstGeom prst="rect">
            <a:avLst/>
          </a:prstGeom>
          <a:noFill/>
          <a:ln/>
        </p:spPr>
        <p:txBody>
          <a:bodyPr wrap="square" lIns="0" tIns="0" rIns="0" bIns="0" rtlCol="0" anchor="ctr">
            <a:normAutofit/>
          </a:bodyPr>
          <a:lstStyle/>
          <a:p>
            <a:pPr indent="0" marL="0">
              <a:buNone/>
            </a:pPr>
            <a:r>
              <a:rPr lang="en-US" sz="1210" dirty="0">
                <a:solidFill>
                  <a:srgbClr val="667085"/>
                </a:solidFill>
                <a:latin typeface="PingFang SC" pitchFamily="34" charset="0"/>
                <a:ea typeface="PingFang SC" pitchFamily="34" charset="-122"/>
                <a:cs typeface="PingFang SC" pitchFamily="34" charset="-120"/>
              </a:rPr>
              <a:t>优点：高材料传输、低工作压强、几何简单</a:t>
            </a:r>
            <a:endParaRPr lang="en-US" sz="1210" dirty="0"/>
          </a:p>
        </p:txBody>
      </p:sp>
      <p:sp>
        <p:nvSpPr>
          <p:cNvPr id="33" name="Shape 31"/>
          <p:cNvSpPr/>
          <p:nvPr/>
        </p:nvSpPr>
        <p:spPr>
          <a:xfrm>
            <a:off x="7680960" y="4059936"/>
            <a:ext cx="91440" cy="91440"/>
          </a:xfrm>
          <a:prstGeom prst="ellipse">
            <a:avLst/>
          </a:prstGeom>
          <a:solidFill>
            <a:srgbClr val="18B7AE"/>
          </a:solidFill>
          <a:ln w="12700">
            <a:solidFill>
              <a:srgbClr val="18B7AE">
                <a:alpha val="0"/>
              </a:srgbClr>
            </a:solidFill>
            <a:prstDash val="solid"/>
          </a:ln>
        </p:spPr>
      </p:sp>
      <p:sp>
        <p:nvSpPr>
          <p:cNvPr id="34" name="Text 32"/>
          <p:cNvSpPr/>
          <p:nvPr/>
        </p:nvSpPr>
        <p:spPr>
          <a:xfrm>
            <a:off x="7845552" y="3968496"/>
            <a:ext cx="2286000" cy="384048"/>
          </a:xfrm>
          <a:prstGeom prst="rect">
            <a:avLst/>
          </a:prstGeom>
          <a:noFill/>
          <a:ln/>
        </p:spPr>
        <p:txBody>
          <a:bodyPr wrap="square" lIns="0" tIns="0" rIns="0" bIns="0" rtlCol="0" anchor="ctr">
            <a:normAutofit/>
          </a:bodyPr>
          <a:lstStyle/>
          <a:p>
            <a:pPr indent="0" marL="0">
              <a:buNone/>
            </a:pPr>
            <a:r>
              <a:rPr lang="en-US" sz="1210" dirty="0">
                <a:solidFill>
                  <a:srgbClr val="667085"/>
                </a:solidFill>
                <a:latin typeface="PingFang SC" pitchFamily="34" charset="0"/>
                <a:ea typeface="PingFang SC" pitchFamily="34" charset="-122"/>
                <a:cs typeface="PingFang SC" pitchFamily="34" charset="-120"/>
              </a:rPr>
              <a:t>难点：source chemistry、反应前沿、带隙漂移</a:t>
            </a:r>
            <a:endParaRPr lang="en-US" sz="1210" dirty="0"/>
          </a:p>
        </p:txBody>
      </p:sp>
      <p:sp>
        <p:nvSpPr>
          <p:cNvPr id="35" name="Shape 33"/>
          <p:cNvSpPr/>
          <p:nvPr/>
        </p:nvSpPr>
        <p:spPr>
          <a:xfrm>
            <a:off x="749808" y="5797296"/>
            <a:ext cx="9555480" cy="420624"/>
          </a:xfrm>
          <a:prstGeom prst="roundRect">
            <a:avLst>
              <a:gd name="adj" fmla="val 17391"/>
            </a:avLst>
          </a:prstGeom>
          <a:solidFill>
            <a:srgbClr val="162039"/>
          </a:solidFill>
          <a:ln w="12700">
            <a:solidFill>
              <a:srgbClr val="162039"/>
            </a:solidFill>
            <a:prstDash val="solid"/>
          </a:ln>
        </p:spPr>
      </p:sp>
      <p:sp>
        <p:nvSpPr>
          <p:cNvPr id="36" name="Text 34"/>
          <p:cNvSpPr/>
          <p:nvPr/>
        </p:nvSpPr>
        <p:spPr>
          <a:xfrm>
            <a:off x="969264" y="5907024"/>
            <a:ext cx="9098280" cy="164592"/>
          </a:xfrm>
          <a:prstGeom prst="rect">
            <a:avLst/>
          </a:prstGeom>
          <a:noFill/>
          <a:ln/>
        </p:spPr>
        <p:txBody>
          <a:bodyPr wrap="square" lIns="0" tIns="0" rIns="0" bIns="0" rtlCol="0" anchor="ctr">
            <a:normAutofit/>
          </a:bodyPr>
          <a:lstStyle/>
          <a:p>
            <a:pPr algn="ctr" indent="0" marL="0">
              <a:buNone/>
            </a:pPr>
            <a:r>
              <a:rPr lang="en-US" sz="1240" dirty="0">
                <a:solidFill>
                  <a:srgbClr val="FFFFFF"/>
                </a:solidFill>
                <a:latin typeface="PingFang SC" pitchFamily="34" charset="0"/>
                <a:ea typeface="PingFang SC" pitchFamily="34" charset="-122"/>
                <a:cs typeface="PingFang SC" pitchFamily="34" charset="-120"/>
              </a:rPr>
              <a:t>一句话定位：CSS 用更低的设备复杂度，换取更高的近场供料效率；但必须接受它是一个强依赖化学计量与转化动力学的工艺。</a:t>
            </a:r>
            <a:endParaRPr lang="en-US" sz="1240" dirty="0"/>
          </a:p>
        </p:txBody>
      </p:sp>
      <p:sp>
        <p:nvSpPr>
          <p:cNvPr id="37" name="Shape 35"/>
          <p:cNvSpPr/>
          <p:nvPr/>
        </p:nvSpPr>
        <p:spPr>
          <a:xfrm>
            <a:off x="566928" y="6419088"/>
            <a:ext cx="11064240" cy="0"/>
          </a:xfrm>
          <a:prstGeom prst="line">
            <a:avLst/>
          </a:prstGeom>
          <a:noFill/>
          <a:ln w="8890">
            <a:solidFill>
              <a:srgbClr val="D7DCE6"/>
            </a:solidFill>
            <a:prstDash val="solid"/>
          </a:ln>
        </p:spPr>
      </p:sp>
      <p:sp>
        <p:nvSpPr>
          <p:cNvPr id="38" name="Text 36"/>
          <p:cNvSpPr/>
          <p:nvPr/>
        </p:nvSpPr>
        <p:spPr>
          <a:xfrm>
            <a:off x="603504" y="6473952"/>
            <a:ext cx="10789920" cy="182880"/>
          </a:xfrm>
          <a:prstGeom prst="rect">
            <a:avLst/>
          </a:prstGeom>
          <a:noFill/>
          <a:ln/>
        </p:spPr>
        <p:txBody>
          <a:bodyPr wrap="square" lIns="0" tIns="0" rIns="0" bIns="0" rtlCol="0" anchor="ctr">
            <a:normAutofit/>
          </a:bodyPr>
          <a:lstStyle/>
          <a:p>
            <a:pPr indent="0" marL="0">
              <a:buNone/>
            </a:pPr>
            <a:r>
              <a:rPr lang="en-US" sz="850" dirty="0">
                <a:solidFill>
                  <a:srgbClr val="667085"/>
                </a:solidFill>
                <a:latin typeface="PingFang SC" pitchFamily="34" charset="0"/>
                <a:ea typeface="PingFang SC" pitchFamily="34" charset="-122"/>
                <a:cs typeface="PingFang SC" pitchFamily="34" charset="-120"/>
              </a:rPr>
              <a:t>CSS 优势与行业适配性的直接证据见 [1] 和 [4]；本页对三类路线的对比包含作者概括。</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A1020"/>
          </a:solidFill>
          <a:ln w="12700">
            <a:solidFill>
              <a:srgbClr val="0A1020">
                <a:alpha val="0"/>
              </a:srgbClr>
            </a:solidFill>
            <a:prstDash val="solid"/>
          </a:ln>
        </p:spPr>
      </p:sp>
      <p:sp>
        <p:nvSpPr>
          <p:cNvPr id="3" name="Text 1"/>
          <p:cNvSpPr/>
          <p:nvPr/>
        </p:nvSpPr>
        <p:spPr>
          <a:xfrm>
            <a:off x="566928" y="292608"/>
            <a:ext cx="1645920" cy="219456"/>
          </a:xfrm>
          <a:prstGeom prst="rect">
            <a:avLst/>
          </a:prstGeom>
          <a:noFill/>
          <a:ln/>
        </p:spPr>
        <p:txBody>
          <a:bodyPr wrap="square" lIns="0" tIns="0" rIns="0" bIns="0" rtlCol="0" anchor="ctr">
            <a:normAutofit/>
          </a:bodyPr>
          <a:lstStyle/>
          <a:p>
            <a:pPr indent="0" marL="0">
              <a:buNone/>
            </a:pPr>
            <a:r>
              <a:rPr lang="en-US" sz="1000" b="1" dirty="0">
                <a:solidFill>
                  <a:srgbClr val="18B7AE"/>
                </a:solidFill>
                <a:latin typeface="PingFang SC" pitchFamily="34" charset="0"/>
                <a:ea typeface="PingFang SC" pitchFamily="34" charset="-122"/>
                <a:cs typeface="PingFang SC" pitchFamily="34" charset="-120"/>
              </a:rPr>
              <a:t>METHOD</a:t>
            </a:r>
            <a:endParaRPr lang="en-US" sz="1000" dirty="0"/>
          </a:p>
        </p:txBody>
      </p:sp>
      <p:sp>
        <p:nvSpPr>
          <p:cNvPr id="4" name="Text 2"/>
          <p:cNvSpPr/>
          <p:nvPr/>
        </p:nvSpPr>
        <p:spPr>
          <a:xfrm>
            <a:off x="11109960" y="237744"/>
            <a:ext cx="502920" cy="274320"/>
          </a:xfrm>
          <a:prstGeom prst="rect">
            <a:avLst/>
          </a:prstGeom>
          <a:noFill/>
          <a:ln/>
        </p:spPr>
        <p:txBody>
          <a:bodyPr wrap="square" lIns="0" tIns="0" rIns="0" bIns="0" rtlCol="0" anchor="ctr">
            <a:normAutofit/>
          </a:bodyPr>
          <a:lstStyle/>
          <a:p>
            <a:pPr algn="r" indent="0" marL="0">
              <a:buNone/>
            </a:pPr>
            <a:r>
              <a:rPr lang="en-US" sz="1400" b="1" dirty="0">
                <a:solidFill>
                  <a:srgbClr val="0A1020"/>
                </a:solidFill>
                <a:latin typeface="PingFang SC" pitchFamily="34" charset="0"/>
                <a:ea typeface="PingFang SC" pitchFamily="34" charset="-122"/>
                <a:cs typeface="PingFang SC" pitchFamily="34" charset="-120"/>
              </a:rPr>
              <a:t>04</a:t>
            </a:r>
            <a:endParaRPr lang="en-US" sz="1400" dirty="0"/>
          </a:p>
        </p:txBody>
      </p:sp>
      <p:sp>
        <p:nvSpPr>
          <p:cNvPr id="5" name="Text 3"/>
          <p:cNvSpPr/>
          <p:nvPr/>
        </p:nvSpPr>
        <p:spPr>
          <a:xfrm>
            <a:off x="566928" y="548640"/>
            <a:ext cx="7680960" cy="402336"/>
          </a:xfrm>
          <a:prstGeom prst="rect">
            <a:avLst/>
          </a:prstGeom>
          <a:noFill/>
          <a:ln/>
        </p:spPr>
        <p:txBody>
          <a:bodyPr wrap="square" lIns="0" tIns="0" rIns="0" bIns="0" rtlCol="0" anchor="ctr">
            <a:normAutofit/>
          </a:bodyPr>
          <a:lstStyle/>
          <a:p>
            <a:pPr indent="0" marL="0">
              <a:buNone/>
            </a:pPr>
            <a:r>
              <a:rPr lang="en-US" sz="2400" b="1" dirty="0">
                <a:solidFill>
                  <a:srgbClr val="0A1020"/>
                </a:solidFill>
                <a:latin typeface="PingFang SC" pitchFamily="34" charset="0"/>
                <a:ea typeface="PingFang SC" pitchFamily="34" charset="-122"/>
                <a:cs typeface="PingFang SC" pitchFamily="34" charset="-120"/>
              </a:rPr>
              <a:t>近距离升华到底怎么做</a:t>
            </a:r>
            <a:endParaRPr lang="en-US" sz="2400" dirty="0"/>
          </a:p>
        </p:txBody>
      </p:sp>
      <p:sp>
        <p:nvSpPr>
          <p:cNvPr id="6" name="Text 4"/>
          <p:cNvSpPr/>
          <p:nvPr/>
        </p:nvSpPr>
        <p:spPr>
          <a:xfrm>
            <a:off x="566928" y="960120"/>
            <a:ext cx="8778240" cy="292608"/>
          </a:xfrm>
          <a:prstGeom prst="rect">
            <a:avLst/>
          </a:prstGeom>
          <a:noFill/>
          <a:ln/>
        </p:spPr>
        <p:txBody>
          <a:bodyPr wrap="square" lIns="0" tIns="0" rIns="0" bIns="0" rtlCol="0" anchor="ctr">
            <a:normAutofit/>
          </a:bodyPr>
          <a:lstStyle/>
          <a:p>
            <a:pPr indent="0" marL="0">
              <a:buNone/>
            </a:pPr>
            <a:r>
              <a:rPr lang="en-US" sz="1150" dirty="0">
                <a:solidFill>
                  <a:srgbClr val="667085"/>
                </a:solidFill>
                <a:latin typeface="PingFang SC" pitchFamily="34" charset="0"/>
                <a:ea typeface="PingFang SC" pitchFamily="34" charset="-122"/>
                <a:cs typeface="PingFang SC" pitchFamily="34" charset="-120"/>
              </a:rPr>
              <a:t>对钙钛矿而言，CSS 最常见的不是“一步全蒸发”，而是围绕骨架转化组织流程。</a:t>
            </a:r>
            <a:endParaRPr lang="en-US" sz="1150" dirty="0"/>
          </a:p>
        </p:txBody>
      </p:sp>
      <p:sp>
        <p:nvSpPr>
          <p:cNvPr id="7" name="Shape 5"/>
          <p:cNvSpPr/>
          <p:nvPr/>
        </p:nvSpPr>
        <p:spPr>
          <a:xfrm>
            <a:off x="566928" y="1225296"/>
            <a:ext cx="11064240" cy="0"/>
          </a:xfrm>
          <a:prstGeom prst="line">
            <a:avLst/>
          </a:prstGeom>
          <a:noFill/>
          <a:ln w="12700">
            <a:solidFill>
              <a:srgbClr val="D7DCE6"/>
            </a:solidFill>
            <a:prstDash val="solid"/>
          </a:ln>
        </p:spPr>
      </p:sp>
      <p:sp>
        <p:nvSpPr>
          <p:cNvPr id="8" name="Shape 6"/>
          <p:cNvSpPr/>
          <p:nvPr/>
        </p:nvSpPr>
        <p:spPr>
          <a:xfrm>
            <a:off x="749808" y="1572768"/>
            <a:ext cx="4572000" cy="4526280"/>
          </a:xfrm>
          <a:prstGeom prst="roundRect">
            <a:avLst>
              <a:gd name="adj" fmla="val 1616"/>
            </a:avLst>
          </a:prstGeom>
          <a:solidFill>
            <a:srgbClr val="FFFFFF"/>
          </a:solidFill>
          <a:ln w="12700">
            <a:solidFill>
              <a:srgbClr val="D7DCE6"/>
            </a:solidFill>
            <a:prstDash val="solid"/>
          </a:ln>
        </p:spPr>
      </p:sp>
      <p:sp>
        <p:nvSpPr>
          <p:cNvPr id="9" name="Shape 7"/>
          <p:cNvSpPr/>
          <p:nvPr/>
        </p:nvSpPr>
        <p:spPr>
          <a:xfrm>
            <a:off x="768096" y="1591056"/>
            <a:ext cx="4535424" cy="73152"/>
          </a:xfrm>
          <a:prstGeom prst="rect">
            <a:avLst/>
          </a:prstGeom>
          <a:solidFill>
            <a:srgbClr val="18B7AE"/>
          </a:solidFill>
          <a:ln w="12700">
            <a:solidFill>
              <a:srgbClr val="18B7AE">
                <a:alpha val="0"/>
              </a:srgbClr>
            </a:solidFill>
            <a:prstDash val="solid"/>
          </a:ln>
        </p:spPr>
      </p:sp>
      <p:sp>
        <p:nvSpPr>
          <p:cNvPr id="10" name="Text 8"/>
          <p:cNvSpPr/>
          <p:nvPr/>
        </p:nvSpPr>
        <p:spPr>
          <a:xfrm>
            <a:off x="950976" y="1792224"/>
            <a:ext cx="1828800" cy="219456"/>
          </a:xfrm>
          <a:prstGeom prst="rect">
            <a:avLst/>
          </a:prstGeom>
          <a:noFill/>
          <a:ln/>
        </p:spPr>
        <p:txBody>
          <a:bodyPr wrap="square" lIns="0" tIns="0" rIns="0" bIns="0" rtlCol="0" anchor="ctr">
            <a:normAutofit/>
          </a:bodyPr>
          <a:lstStyle/>
          <a:p>
            <a:pPr indent="0" marL="0">
              <a:buNone/>
            </a:pPr>
            <a:r>
              <a:rPr lang="en-US" sz="1500" b="1" dirty="0">
                <a:solidFill>
                  <a:srgbClr val="111827"/>
                </a:solidFill>
                <a:latin typeface="PingFang SC" pitchFamily="34" charset="0"/>
                <a:ea typeface="PingFang SC" pitchFamily="34" charset="-122"/>
                <a:cs typeface="PingFang SC" pitchFamily="34" charset="-120"/>
              </a:rPr>
              <a:t>设备与空间构型</a:t>
            </a:r>
            <a:endParaRPr lang="en-US" sz="1500" dirty="0"/>
          </a:p>
        </p:txBody>
      </p:sp>
      <p:sp>
        <p:nvSpPr>
          <p:cNvPr id="11" name="Shape 9"/>
          <p:cNvSpPr/>
          <p:nvPr/>
        </p:nvSpPr>
        <p:spPr>
          <a:xfrm>
            <a:off x="1078992" y="2340864"/>
            <a:ext cx="3840480" cy="594360"/>
          </a:xfrm>
          <a:prstGeom prst="roundRect">
            <a:avLst/>
          </a:prstGeom>
          <a:solidFill>
            <a:srgbClr val="D7F6F3"/>
          </a:solidFill>
          <a:ln w="15240">
            <a:solidFill>
              <a:srgbClr val="18B7AE"/>
            </a:solidFill>
            <a:prstDash val="solid"/>
          </a:ln>
        </p:spPr>
      </p:sp>
      <p:sp>
        <p:nvSpPr>
          <p:cNvPr id="12" name="Text 10"/>
          <p:cNvSpPr/>
          <p:nvPr/>
        </p:nvSpPr>
        <p:spPr>
          <a:xfrm>
            <a:off x="1188720" y="2542032"/>
            <a:ext cx="3621024" cy="182880"/>
          </a:xfrm>
          <a:prstGeom prst="rect">
            <a:avLst/>
          </a:prstGeom>
          <a:noFill/>
          <a:ln/>
        </p:spPr>
        <p:txBody>
          <a:bodyPr wrap="square" lIns="0" tIns="0" rIns="0" bIns="0" rtlCol="0" anchor="ctr">
            <a:normAutofit/>
          </a:bodyPr>
          <a:lstStyle/>
          <a:p>
            <a:pPr algn="ctr" indent="0" marL="0">
              <a:buNone/>
            </a:pPr>
            <a:r>
              <a:rPr lang="en-US" sz="1200" b="1" dirty="0">
                <a:solidFill>
                  <a:srgbClr val="111827"/>
                </a:solidFill>
                <a:latin typeface="PingFang SC" pitchFamily="34" charset="0"/>
                <a:ea typeface="PingFang SC" pitchFamily="34" charset="-122"/>
                <a:cs typeface="PingFang SC" pitchFamily="34" charset="-120"/>
              </a:rPr>
              <a:t>挥发性有机卤化物源 / mixed-halide source</a:t>
            </a:r>
            <a:endParaRPr lang="en-US" sz="1200" dirty="0"/>
          </a:p>
        </p:txBody>
      </p:sp>
      <p:sp>
        <p:nvSpPr>
          <p:cNvPr id="13" name="Shape 11"/>
          <p:cNvSpPr/>
          <p:nvPr/>
        </p:nvSpPr>
        <p:spPr>
          <a:xfrm>
            <a:off x="1371600" y="3246120"/>
            <a:ext cx="3255264" cy="0"/>
          </a:xfrm>
          <a:prstGeom prst="line">
            <a:avLst/>
          </a:prstGeom>
          <a:noFill/>
          <a:ln w="15240">
            <a:solidFill>
              <a:srgbClr val="D7DCE6"/>
            </a:solidFill>
            <a:prstDash val="solid"/>
          </a:ln>
        </p:spPr>
      </p:sp>
      <p:sp>
        <p:nvSpPr>
          <p:cNvPr id="14" name="Text 12"/>
          <p:cNvSpPr/>
          <p:nvPr/>
        </p:nvSpPr>
        <p:spPr>
          <a:xfrm>
            <a:off x="1463040" y="2926080"/>
            <a:ext cx="3072384" cy="182880"/>
          </a:xfrm>
          <a:prstGeom prst="rect">
            <a:avLst/>
          </a:prstGeom>
          <a:noFill/>
          <a:ln/>
        </p:spPr>
        <p:txBody>
          <a:bodyPr wrap="square" lIns="0" tIns="0" rIns="0" bIns="0" rtlCol="0" anchor="ctr">
            <a:normAutofit/>
          </a:bodyPr>
          <a:lstStyle/>
          <a:p>
            <a:pPr algn="ctr" indent="0" marL="0">
              <a:buNone/>
            </a:pPr>
            <a:r>
              <a:rPr lang="en-US" sz="1100" dirty="0">
                <a:solidFill>
                  <a:srgbClr val="667085"/>
                </a:solidFill>
                <a:latin typeface="PingFang SC" pitchFamily="34" charset="0"/>
                <a:ea typeface="PingFang SC" pitchFamily="34" charset="-122"/>
                <a:cs typeface="PingFang SC" pitchFamily="34" charset="-120"/>
              </a:rPr>
              <a:t>小间距 / 粗真空（文献常见 1–10 mbar）</a:t>
            </a:r>
            <a:endParaRPr lang="en-US" sz="1100" dirty="0"/>
          </a:p>
        </p:txBody>
      </p:sp>
      <p:sp>
        <p:nvSpPr>
          <p:cNvPr id="15" name="Shape 13"/>
          <p:cNvSpPr/>
          <p:nvPr/>
        </p:nvSpPr>
        <p:spPr>
          <a:xfrm>
            <a:off x="1298448" y="3493008"/>
            <a:ext cx="3401568" cy="566928"/>
          </a:xfrm>
          <a:prstGeom prst="roundRect">
            <a:avLst/>
          </a:prstGeom>
          <a:solidFill>
            <a:srgbClr val="FFF1E1"/>
          </a:solidFill>
          <a:ln w="15240">
            <a:solidFill>
              <a:srgbClr val="E9A45B"/>
            </a:solidFill>
            <a:prstDash val="solid"/>
          </a:ln>
        </p:spPr>
      </p:sp>
      <p:sp>
        <p:nvSpPr>
          <p:cNvPr id="16" name="Text 14"/>
          <p:cNvSpPr/>
          <p:nvPr/>
        </p:nvSpPr>
        <p:spPr>
          <a:xfrm>
            <a:off x="1426464" y="3675888"/>
            <a:ext cx="3145536" cy="164592"/>
          </a:xfrm>
          <a:prstGeom prst="rect">
            <a:avLst/>
          </a:prstGeom>
          <a:noFill/>
          <a:ln/>
        </p:spPr>
        <p:txBody>
          <a:bodyPr wrap="square" lIns="0" tIns="0" rIns="0" bIns="0" rtlCol="0" anchor="ctr">
            <a:normAutofit/>
          </a:bodyPr>
          <a:lstStyle/>
          <a:p>
            <a:pPr algn="ctr" indent="0" marL="0">
              <a:buNone/>
            </a:pPr>
            <a:r>
              <a:rPr lang="en-US" sz="1200" b="1" dirty="0">
                <a:solidFill>
                  <a:srgbClr val="111827"/>
                </a:solidFill>
                <a:latin typeface="PingFang SC" pitchFamily="34" charset="0"/>
                <a:ea typeface="PingFang SC" pitchFamily="34" charset="-122"/>
                <a:cs typeface="PingFang SC" pitchFamily="34" charset="-120"/>
              </a:rPr>
              <a:t>受热无机骨架 / 底电极 / 纹理硅上表面</a:t>
            </a:r>
            <a:endParaRPr lang="en-US" sz="1200" dirty="0"/>
          </a:p>
        </p:txBody>
      </p:sp>
      <p:sp>
        <p:nvSpPr>
          <p:cNvPr id="17" name="Shape 15"/>
          <p:cNvSpPr/>
          <p:nvPr/>
        </p:nvSpPr>
        <p:spPr>
          <a:xfrm>
            <a:off x="1828800" y="2971800"/>
            <a:ext cx="0" cy="411480"/>
          </a:xfrm>
          <a:prstGeom prst="line">
            <a:avLst/>
          </a:prstGeom>
          <a:noFill/>
          <a:ln w="15240">
            <a:solidFill>
              <a:srgbClr val="18B7AE"/>
            </a:solidFill>
            <a:prstDash val="solid"/>
          </a:ln>
        </p:spPr>
      </p:sp>
      <p:sp>
        <p:nvSpPr>
          <p:cNvPr id="18" name="Shape 16"/>
          <p:cNvSpPr/>
          <p:nvPr/>
        </p:nvSpPr>
        <p:spPr>
          <a:xfrm>
            <a:off x="2560320" y="2971800"/>
            <a:ext cx="0" cy="411480"/>
          </a:xfrm>
          <a:prstGeom prst="line">
            <a:avLst/>
          </a:prstGeom>
          <a:noFill/>
          <a:ln w="15240">
            <a:solidFill>
              <a:srgbClr val="18B7AE"/>
            </a:solidFill>
            <a:prstDash val="solid"/>
          </a:ln>
        </p:spPr>
      </p:sp>
      <p:sp>
        <p:nvSpPr>
          <p:cNvPr id="19" name="Shape 17"/>
          <p:cNvSpPr/>
          <p:nvPr/>
        </p:nvSpPr>
        <p:spPr>
          <a:xfrm>
            <a:off x="3291840" y="2971800"/>
            <a:ext cx="0" cy="411480"/>
          </a:xfrm>
          <a:prstGeom prst="line">
            <a:avLst/>
          </a:prstGeom>
          <a:noFill/>
          <a:ln w="15240">
            <a:solidFill>
              <a:srgbClr val="18B7AE"/>
            </a:solidFill>
            <a:prstDash val="solid"/>
          </a:ln>
        </p:spPr>
      </p:sp>
      <p:sp>
        <p:nvSpPr>
          <p:cNvPr id="20" name="Shape 18"/>
          <p:cNvSpPr/>
          <p:nvPr/>
        </p:nvSpPr>
        <p:spPr>
          <a:xfrm>
            <a:off x="4023360" y="2971800"/>
            <a:ext cx="0" cy="411480"/>
          </a:xfrm>
          <a:prstGeom prst="line">
            <a:avLst/>
          </a:prstGeom>
          <a:noFill/>
          <a:ln w="15240">
            <a:solidFill>
              <a:srgbClr val="18B7AE"/>
            </a:solidFill>
            <a:prstDash val="solid"/>
          </a:ln>
        </p:spPr>
      </p:sp>
      <p:sp>
        <p:nvSpPr>
          <p:cNvPr id="21" name="Text 19"/>
          <p:cNvSpPr/>
          <p:nvPr/>
        </p:nvSpPr>
        <p:spPr>
          <a:xfrm>
            <a:off x="1463040" y="4370832"/>
            <a:ext cx="3108960" cy="182880"/>
          </a:xfrm>
          <a:prstGeom prst="rect">
            <a:avLst/>
          </a:prstGeom>
          <a:noFill/>
          <a:ln/>
        </p:spPr>
        <p:txBody>
          <a:bodyPr wrap="square" lIns="0" tIns="0" rIns="0" bIns="0" rtlCol="0" anchor="ctr">
            <a:normAutofit/>
          </a:bodyPr>
          <a:lstStyle/>
          <a:p>
            <a:pPr algn="ctr" indent="0" marL="0">
              <a:buNone/>
            </a:pPr>
            <a:r>
              <a:rPr lang="en-US" sz="1250" b="1" dirty="0">
                <a:solidFill>
                  <a:srgbClr val="0A1020"/>
                </a:solidFill>
                <a:latin typeface="PingFang SC" pitchFamily="34" charset="0"/>
                <a:ea typeface="PingFang SC" pitchFamily="34" charset="-122"/>
                <a:cs typeface="PingFang SC" pitchFamily="34" charset="-120"/>
              </a:rPr>
              <a:t>气相供料 + 表面吸附 + 相转化</a:t>
            </a:r>
            <a:endParaRPr lang="en-US" sz="1250" dirty="0"/>
          </a:p>
        </p:txBody>
      </p:sp>
      <p:sp>
        <p:nvSpPr>
          <p:cNvPr id="22" name="Text 20"/>
          <p:cNvSpPr/>
          <p:nvPr/>
        </p:nvSpPr>
        <p:spPr>
          <a:xfrm>
            <a:off x="1243584" y="4846320"/>
            <a:ext cx="3511296" cy="219456"/>
          </a:xfrm>
          <a:prstGeom prst="rect">
            <a:avLst/>
          </a:prstGeom>
          <a:noFill/>
          <a:ln/>
        </p:spPr>
        <p:txBody>
          <a:bodyPr wrap="square" lIns="0" tIns="0" rIns="0" bIns="0" rtlCol="0" anchor="ctr">
            <a:normAutofit/>
          </a:bodyPr>
          <a:lstStyle/>
          <a:p>
            <a:pPr algn="ctr" indent="0" marL="0">
              <a:buNone/>
            </a:pPr>
            <a:r>
              <a:rPr lang="en-US" sz="1300" b="1" dirty="0">
                <a:solidFill>
                  <a:srgbClr val="111827"/>
                </a:solidFill>
                <a:latin typeface="PingFang SC" pitchFamily="34" charset="0"/>
                <a:ea typeface="PingFang SC" pitchFamily="34" charset="-122"/>
                <a:cs typeface="PingFang SC" pitchFamily="34" charset="-120"/>
              </a:rPr>
              <a:t>泛化反应：PbX2(s) + AX(g) → APbX3(s)</a:t>
            </a:r>
            <a:endParaRPr lang="en-US" sz="1300" dirty="0"/>
          </a:p>
        </p:txBody>
      </p:sp>
      <p:sp>
        <p:nvSpPr>
          <p:cNvPr id="23" name="Shape 21"/>
          <p:cNvSpPr/>
          <p:nvPr/>
        </p:nvSpPr>
        <p:spPr>
          <a:xfrm>
            <a:off x="5541264" y="1572768"/>
            <a:ext cx="5888736" cy="4526280"/>
          </a:xfrm>
          <a:prstGeom prst="roundRect">
            <a:avLst>
              <a:gd name="adj" fmla="val 1616"/>
            </a:avLst>
          </a:prstGeom>
          <a:solidFill>
            <a:srgbClr val="FFFFFF"/>
          </a:solidFill>
          <a:ln w="12700">
            <a:solidFill>
              <a:srgbClr val="D7DCE6"/>
            </a:solidFill>
            <a:prstDash val="solid"/>
          </a:ln>
        </p:spPr>
      </p:sp>
      <p:sp>
        <p:nvSpPr>
          <p:cNvPr id="24" name="Shape 22"/>
          <p:cNvSpPr/>
          <p:nvPr/>
        </p:nvSpPr>
        <p:spPr>
          <a:xfrm>
            <a:off x="5559552" y="1591056"/>
            <a:ext cx="5852160" cy="73152"/>
          </a:xfrm>
          <a:prstGeom prst="rect">
            <a:avLst/>
          </a:prstGeom>
          <a:solidFill>
            <a:srgbClr val="4E7BFF"/>
          </a:solidFill>
          <a:ln w="12700">
            <a:solidFill>
              <a:srgbClr val="4E7BFF">
                <a:alpha val="0"/>
              </a:srgbClr>
            </a:solidFill>
            <a:prstDash val="solid"/>
          </a:ln>
        </p:spPr>
      </p:sp>
      <p:sp>
        <p:nvSpPr>
          <p:cNvPr id="25" name="Text 23"/>
          <p:cNvSpPr/>
          <p:nvPr/>
        </p:nvSpPr>
        <p:spPr>
          <a:xfrm>
            <a:off x="5760720" y="1792224"/>
            <a:ext cx="1828800" cy="219456"/>
          </a:xfrm>
          <a:prstGeom prst="rect">
            <a:avLst/>
          </a:prstGeom>
          <a:noFill/>
          <a:ln/>
        </p:spPr>
        <p:txBody>
          <a:bodyPr wrap="square" lIns="0" tIns="0" rIns="0" bIns="0" rtlCol="0" anchor="ctr">
            <a:normAutofit/>
          </a:bodyPr>
          <a:lstStyle/>
          <a:p>
            <a:pPr indent="0" marL="0">
              <a:buNone/>
            </a:pPr>
            <a:r>
              <a:rPr lang="en-US" sz="1500" b="1" dirty="0">
                <a:solidFill>
                  <a:srgbClr val="111827"/>
                </a:solidFill>
                <a:latin typeface="PingFang SC" pitchFamily="34" charset="0"/>
                <a:ea typeface="PingFang SC" pitchFamily="34" charset="-122"/>
                <a:cs typeface="PingFang SC" pitchFamily="34" charset="-120"/>
              </a:rPr>
              <a:t>典型工艺顺序</a:t>
            </a:r>
            <a:endParaRPr lang="en-US" sz="1500" dirty="0"/>
          </a:p>
        </p:txBody>
      </p:sp>
      <p:sp>
        <p:nvSpPr>
          <p:cNvPr id="26" name="Shape 24"/>
          <p:cNvSpPr/>
          <p:nvPr/>
        </p:nvSpPr>
        <p:spPr>
          <a:xfrm>
            <a:off x="5760720" y="2212848"/>
            <a:ext cx="310896" cy="310896"/>
          </a:xfrm>
          <a:prstGeom prst="ellipse">
            <a:avLst/>
          </a:prstGeom>
          <a:solidFill>
            <a:srgbClr val="E8EFFF"/>
          </a:solidFill>
          <a:ln w="15240">
            <a:solidFill>
              <a:srgbClr val="4E7BFF"/>
            </a:solidFill>
            <a:prstDash val="solid"/>
          </a:ln>
        </p:spPr>
      </p:sp>
      <p:sp>
        <p:nvSpPr>
          <p:cNvPr id="27" name="Text 25"/>
          <p:cNvSpPr/>
          <p:nvPr/>
        </p:nvSpPr>
        <p:spPr>
          <a:xfrm>
            <a:off x="5797296" y="2276856"/>
            <a:ext cx="237744" cy="109728"/>
          </a:xfrm>
          <a:prstGeom prst="rect">
            <a:avLst/>
          </a:prstGeom>
          <a:noFill/>
          <a:ln/>
        </p:spPr>
        <p:txBody>
          <a:bodyPr wrap="square" lIns="0" tIns="0" rIns="0" bIns="0" rtlCol="0" anchor="ctr">
            <a:normAutofit/>
          </a:bodyPr>
          <a:lstStyle/>
          <a:p>
            <a:pPr algn="ctr" indent="0" marL="0">
              <a:buNone/>
            </a:pPr>
            <a:r>
              <a:rPr lang="en-US" sz="850" b="1" dirty="0">
                <a:solidFill>
                  <a:srgbClr val="4E7BFF"/>
                </a:solidFill>
                <a:latin typeface="PingFang SC" pitchFamily="34" charset="0"/>
                <a:ea typeface="PingFang SC" pitchFamily="34" charset="-122"/>
                <a:cs typeface="PingFang SC" pitchFamily="34" charset="-120"/>
              </a:rPr>
              <a:t>01</a:t>
            </a:r>
            <a:endParaRPr lang="en-US" sz="850" dirty="0"/>
          </a:p>
        </p:txBody>
      </p:sp>
      <p:sp>
        <p:nvSpPr>
          <p:cNvPr id="28" name="Text 26"/>
          <p:cNvSpPr/>
          <p:nvPr/>
        </p:nvSpPr>
        <p:spPr>
          <a:xfrm>
            <a:off x="6199632" y="2194560"/>
            <a:ext cx="1600200" cy="182880"/>
          </a:xfrm>
          <a:prstGeom prst="rect">
            <a:avLst/>
          </a:prstGeom>
          <a:noFill/>
          <a:ln/>
        </p:spPr>
        <p:txBody>
          <a:bodyPr wrap="square" lIns="0" tIns="0" rIns="0" bIns="0" rtlCol="0" anchor="ctr">
            <a:normAutofit/>
          </a:bodyPr>
          <a:lstStyle/>
          <a:p>
            <a:pPr indent="0" marL="0">
              <a:buNone/>
            </a:pPr>
            <a:r>
              <a:rPr lang="en-US" sz="1250" b="1" dirty="0">
                <a:solidFill>
                  <a:srgbClr val="111827"/>
                </a:solidFill>
                <a:latin typeface="PingFang SC" pitchFamily="34" charset="0"/>
                <a:ea typeface="PingFang SC" pitchFamily="34" charset="-122"/>
                <a:cs typeface="PingFang SC" pitchFamily="34" charset="-120"/>
              </a:rPr>
              <a:t>先做无机骨架</a:t>
            </a:r>
            <a:endParaRPr lang="en-US" sz="1250" dirty="0"/>
          </a:p>
        </p:txBody>
      </p:sp>
      <p:sp>
        <p:nvSpPr>
          <p:cNvPr id="29" name="Text 27"/>
          <p:cNvSpPr/>
          <p:nvPr/>
        </p:nvSpPr>
        <p:spPr>
          <a:xfrm>
            <a:off x="7818120" y="2176272"/>
            <a:ext cx="3246120" cy="310896"/>
          </a:xfrm>
          <a:prstGeom prst="rect">
            <a:avLst/>
          </a:prstGeom>
          <a:noFill/>
          <a:ln/>
        </p:spPr>
        <p:txBody>
          <a:bodyPr wrap="square" lIns="0" tIns="0" rIns="0" bIns="0" rtlCol="0" anchor="ctr">
            <a:normAutofit/>
          </a:bodyPr>
          <a:lstStyle/>
          <a:p>
            <a:pPr indent="0" marL="0">
              <a:buNone/>
            </a:pPr>
            <a:r>
              <a:rPr lang="en-US" sz="1110" dirty="0">
                <a:solidFill>
                  <a:srgbClr val="667085"/>
                </a:solidFill>
                <a:latin typeface="PingFang SC" pitchFamily="34" charset="0"/>
                <a:ea typeface="PingFang SC" pitchFamily="34" charset="-122"/>
                <a:cs typeface="PingFang SC" pitchFamily="34" charset="-120"/>
              </a:rPr>
              <a:t>常见是 PbI2 / PbBr2 或可转化的含铅卤化物前驱层。</a:t>
            </a:r>
            <a:endParaRPr lang="en-US" sz="1110" dirty="0"/>
          </a:p>
        </p:txBody>
      </p:sp>
      <p:sp>
        <p:nvSpPr>
          <p:cNvPr id="30" name="Shape 28"/>
          <p:cNvSpPr/>
          <p:nvPr/>
        </p:nvSpPr>
        <p:spPr>
          <a:xfrm>
            <a:off x="5760720" y="2944368"/>
            <a:ext cx="310896" cy="310896"/>
          </a:xfrm>
          <a:prstGeom prst="ellipse">
            <a:avLst/>
          </a:prstGeom>
          <a:solidFill>
            <a:srgbClr val="E8EFFF"/>
          </a:solidFill>
          <a:ln w="15240">
            <a:solidFill>
              <a:srgbClr val="4E7BFF"/>
            </a:solidFill>
            <a:prstDash val="solid"/>
          </a:ln>
        </p:spPr>
      </p:sp>
      <p:sp>
        <p:nvSpPr>
          <p:cNvPr id="31" name="Text 29"/>
          <p:cNvSpPr/>
          <p:nvPr/>
        </p:nvSpPr>
        <p:spPr>
          <a:xfrm>
            <a:off x="5797296" y="3008376"/>
            <a:ext cx="237744" cy="109728"/>
          </a:xfrm>
          <a:prstGeom prst="rect">
            <a:avLst/>
          </a:prstGeom>
          <a:noFill/>
          <a:ln/>
        </p:spPr>
        <p:txBody>
          <a:bodyPr wrap="square" lIns="0" tIns="0" rIns="0" bIns="0" rtlCol="0" anchor="ctr">
            <a:normAutofit/>
          </a:bodyPr>
          <a:lstStyle/>
          <a:p>
            <a:pPr algn="ctr" indent="0" marL="0">
              <a:buNone/>
            </a:pPr>
            <a:r>
              <a:rPr lang="en-US" sz="850" b="1" dirty="0">
                <a:solidFill>
                  <a:srgbClr val="4E7BFF"/>
                </a:solidFill>
                <a:latin typeface="PingFang SC" pitchFamily="34" charset="0"/>
                <a:ea typeface="PingFang SC" pitchFamily="34" charset="-122"/>
                <a:cs typeface="PingFang SC" pitchFamily="34" charset="-120"/>
              </a:rPr>
              <a:t>02</a:t>
            </a:r>
            <a:endParaRPr lang="en-US" sz="850" dirty="0"/>
          </a:p>
        </p:txBody>
      </p:sp>
      <p:sp>
        <p:nvSpPr>
          <p:cNvPr id="32" name="Text 30"/>
          <p:cNvSpPr/>
          <p:nvPr/>
        </p:nvSpPr>
        <p:spPr>
          <a:xfrm>
            <a:off x="6199632" y="2926080"/>
            <a:ext cx="1600200" cy="182880"/>
          </a:xfrm>
          <a:prstGeom prst="rect">
            <a:avLst/>
          </a:prstGeom>
          <a:noFill/>
          <a:ln/>
        </p:spPr>
        <p:txBody>
          <a:bodyPr wrap="square" lIns="0" tIns="0" rIns="0" bIns="0" rtlCol="0" anchor="ctr">
            <a:normAutofit/>
          </a:bodyPr>
          <a:lstStyle/>
          <a:p>
            <a:pPr indent="0" marL="0">
              <a:buNone/>
            </a:pPr>
            <a:r>
              <a:rPr lang="en-US" sz="1250" b="1" dirty="0">
                <a:solidFill>
                  <a:srgbClr val="111827"/>
                </a:solidFill>
                <a:latin typeface="PingFang SC" pitchFamily="34" charset="0"/>
                <a:ea typeface="PingFang SC" pitchFamily="34" charset="-122"/>
                <a:cs typeface="PingFang SC" pitchFamily="34" charset="-120"/>
              </a:rPr>
              <a:t>把有机源放进近场</a:t>
            </a:r>
            <a:endParaRPr lang="en-US" sz="1250" dirty="0"/>
          </a:p>
        </p:txBody>
      </p:sp>
      <p:sp>
        <p:nvSpPr>
          <p:cNvPr id="33" name="Text 31"/>
          <p:cNvSpPr/>
          <p:nvPr/>
        </p:nvSpPr>
        <p:spPr>
          <a:xfrm>
            <a:off x="7818120" y="2907792"/>
            <a:ext cx="3246120" cy="310896"/>
          </a:xfrm>
          <a:prstGeom prst="rect">
            <a:avLst/>
          </a:prstGeom>
          <a:noFill/>
          <a:ln/>
        </p:spPr>
        <p:txBody>
          <a:bodyPr wrap="square" lIns="0" tIns="0" rIns="0" bIns="0" rtlCol="0" anchor="ctr">
            <a:normAutofit/>
          </a:bodyPr>
          <a:lstStyle/>
          <a:p>
            <a:pPr indent="0" marL="0">
              <a:buNone/>
            </a:pPr>
            <a:r>
              <a:rPr lang="en-US" sz="1110" dirty="0">
                <a:solidFill>
                  <a:srgbClr val="667085"/>
                </a:solidFill>
                <a:latin typeface="PingFang SC" pitchFamily="34" charset="0"/>
                <a:ea typeface="PingFang SC" pitchFamily="34" charset="-122"/>
                <a:cs typeface="PingFang SC" pitchFamily="34" charset="-120"/>
              </a:rPr>
              <a:t>如 FAI pellet、MABr 源或 mixed-halide organic source。</a:t>
            </a:r>
            <a:endParaRPr lang="en-US" sz="1110" dirty="0"/>
          </a:p>
        </p:txBody>
      </p:sp>
      <p:sp>
        <p:nvSpPr>
          <p:cNvPr id="34" name="Shape 32"/>
          <p:cNvSpPr/>
          <p:nvPr/>
        </p:nvSpPr>
        <p:spPr>
          <a:xfrm>
            <a:off x="5760720" y="3675888"/>
            <a:ext cx="310896" cy="310896"/>
          </a:xfrm>
          <a:prstGeom prst="ellipse">
            <a:avLst/>
          </a:prstGeom>
          <a:solidFill>
            <a:srgbClr val="E8EFFF"/>
          </a:solidFill>
          <a:ln w="15240">
            <a:solidFill>
              <a:srgbClr val="4E7BFF"/>
            </a:solidFill>
            <a:prstDash val="solid"/>
          </a:ln>
        </p:spPr>
      </p:sp>
      <p:sp>
        <p:nvSpPr>
          <p:cNvPr id="35" name="Text 33"/>
          <p:cNvSpPr/>
          <p:nvPr/>
        </p:nvSpPr>
        <p:spPr>
          <a:xfrm>
            <a:off x="5797296" y="3739896"/>
            <a:ext cx="237744" cy="109728"/>
          </a:xfrm>
          <a:prstGeom prst="rect">
            <a:avLst/>
          </a:prstGeom>
          <a:noFill/>
          <a:ln/>
        </p:spPr>
        <p:txBody>
          <a:bodyPr wrap="square" lIns="0" tIns="0" rIns="0" bIns="0" rtlCol="0" anchor="ctr">
            <a:normAutofit/>
          </a:bodyPr>
          <a:lstStyle/>
          <a:p>
            <a:pPr algn="ctr" indent="0" marL="0">
              <a:buNone/>
            </a:pPr>
            <a:r>
              <a:rPr lang="en-US" sz="850" b="1" dirty="0">
                <a:solidFill>
                  <a:srgbClr val="4E7BFF"/>
                </a:solidFill>
                <a:latin typeface="PingFang SC" pitchFamily="34" charset="0"/>
                <a:ea typeface="PingFang SC" pitchFamily="34" charset="-122"/>
                <a:cs typeface="PingFang SC" pitchFamily="34" charset="-120"/>
              </a:rPr>
              <a:t>03</a:t>
            </a:r>
            <a:endParaRPr lang="en-US" sz="850" dirty="0"/>
          </a:p>
        </p:txBody>
      </p:sp>
      <p:sp>
        <p:nvSpPr>
          <p:cNvPr id="36" name="Text 34"/>
          <p:cNvSpPr/>
          <p:nvPr/>
        </p:nvSpPr>
        <p:spPr>
          <a:xfrm>
            <a:off x="6199632" y="3657600"/>
            <a:ext cx="1600200" cy="182880"/>
          </a:xfrm>
          <a:prstGeom prst="rect">
            <a:avLst/>
          </a:prstGeom>
          <a:noFill/>
          <a:ln/>
        </p:spPr>
        <p:txBody>
          <a:bodyPr wrap="square" lIns="0" tIns="0" rIns="0" bIns="0" rtlCol="0" anchor="ctr">
            <a:normAutofit/>
          </a:bodyPr>
          <a:lstStyle/>
          <a:p>
            <a:pPr indent="0" marL="0">
              <a:buNone/>
            </a:pPr>
            <a:r>
              <a:rPr lang="en-US" sz="1250" b="1" dirty="0">
                <a:solidFill>
                  <a:srgbClr val="111827"/>
                </a:solidFill>
                <a:latin typeface="PingFang SC" pitchFamily="34" charset="0"/>
                <a:ea typeface="PingFang SC" pitchFamily="34" charset="-122"/>
                <a:cs typeface="PingFang SC" pitchFamily="34" charset="-120"/>
              </a:rPr>
              <a:t>控制 gap、温度与压强</a:t>
            </a:r>
            <a:endParaRPr lang="en-US" sz="1250" dirty="0"/>
          </a:p>
        </p:txBody>
      </p:sp>
      <p:sp>
        <p:nvSpPr>
          <p:cNvPr id="37" name="Text 35"/>
          <p:cNvSpPr/>
          <p:nvPr/>
        </p:nvSpPr>
        <p:spPr>
          <a:xfrm>
            <a:off x="7818120" y="3639312"/>
            <a:ext cx="3246120" cy="310896"/>
          </a:xfrm>
          <a:prstGeom prst="rect">
            <a:avLst/>
          </a:prstGeom>
          <a:noFill/>
          <a:ln/>
        </p:spPr>
        <p:txBody>
          <a:bodyPr wrap="square" lIns="0" tIns="0" rIns="0" bIns="0" rtlCol="0" anchor="ctr">
            <a:normAutofit/>
          </a:bodyPr>
          <a:lstStyle/>
          <a:p>
            <a:pPr indent="0" marL="0">
              <a:buNone/>
            </a:pPr>
            <a:r>
              <a:rPr lang="en-US" sz="1110" dirty="0">
                <a:solidFill>
                  <a:srgbClr val="667085"/>
                </a:solidFill>
                <a:latin typeface="PingFang SC" pitchFamily="34" charset="0"/>
                <a:ea typeface="PingFang SC" pitchFamily="34" charset="-122"/>
                <a:cs typeface="PingFang SC" pitchFamily="34" charset="-120"/>
              </a:rPr>
              <a:t>CSS 的核心变量不是一个，而是几何、热场与 source chemistry 的联立。</a:t>
            </a:r>
            <a:endParaRPr lang="en-US" sz="1110" dirty="0"/>
          </a:p>
        </p:txBody>
      </p:sp>
      <p:sp>
        <p:nvSpPr>
          <p:cNvPr id="38" name="Shape 36"/>
          <p:cNvSpPr/>
          <p:nvPr/>
        </p:nvSpPr>
        <p:spPr>
          <a:xfrm>
            <a:off x="5760720" y="4407408"/>
            <a:ext cx="310896" cy="310896"/>
          </a:xfrm>
          <a:prstGeom prst="ellipse">
            <a:avLst/>
          </a:prstGeom>
          <a:solidFill>
            <a:srgbClr val="E8EFFF"/>
          </a:solidFill>
          <a:ln w="15240">
            <a:solidFill>
              <a:srgbClr val="4E7BFF"/>
            </a:solidFill>
            <a:prstDash val="solid"/>
          </a:ln>
        </p:spPr>
      </p:sp>
      <p:sp>
        <p:nvSpPr>
          <p:cNvPr id="39" name="Text 37"/>
          <p:cNvSpPr/>
          <p:nvPr/>
        </p:nvSpPr>
        <p:spPr>
          <a:xfrm>
            <a:off x="5797296" y="4471416"/>
            <a:ext cx="237744" cy="109728"/>
          </a:xfrm>
          <a:prstGeom prst="rect">
            <a:avLst/>
          </a:prstGeom>
          <a:noFill/>
          <a:ln/>
        </p:spPr>
        <p:txBody>
          <a:bodyPr wrap="square" lIns="0" tIns="0" rIns="0" bIns="0" rtlCol="0" anchor="ctr">
            <a:normAutofit/>
          </a:bodyPr>
          <a:lstStyle/>
          <a:p>
            <a:pPr algn="ctr" indent="0" marL="0">
              <a:buNone/>
            </a:pPr>
            <a:r>
              <a:rPr lang="en-US" sz="850" b="1" dirty="0">
                <a:solidFill>
                  <a:srgbClr val="4E7BFF"/>
                </a:solidFill>
                <a:latin typeface="PingFang SC" pitchFamily="34" charset="0"/>
                <a:ea typeface="PingFang SC" pitchFamily="34" charset="-122"/>
                <a:cs typeface="PingFang SC" pitchFamily="34" charset="-120"/>
              </a:rPr>
              <a:t>04</a:t>
            </a:r>
            <a:endParaRPr lang="en-US" sz="850" dirty="0"/>
          </a:p>
        </p:txBody>
      </p:sp>
      <p:sp>
        <p:nvSpPr>
          <p:cNvPr id="40" name="Text 38"/>
          <p:cNvSpPr/>
          <p:nvPr/>
        </p:nvSpPr>
        <p:spPr>
          <a:xfrm>
            <a:off x="6199632" y="4389120"/>
            <a:ext cx="1600200" cy="182880"/>
          </a:xfrm>
          <a:prstGeom prst="rect">
            <a:avLst/>
          </a:prstGeom>
          <a:noFill/>
          <a:ln/>
        </p:spPr>
        <p:txBody>
          <a:bodyPr wrap="square" lIns="0" tIns="0" rIns="0" bIns="0" rtlCol="0" anchor="ctr">
            <a:normAutofit/>
          </a:bodyPr>
          <a:lstStyle/>
          <a:p>
            <a:pPr indent="0" marL="0">
              <a:buNone/>
            </a:pPr>
            <a:r>
              <a:rPr lang="en-US" sz="1250" b="1" dirty="0">
                <a:solidFill>
                  <a:srgbClr val="111827"/>
                </a:solidFill>
                <a:latin typeface="PingFang SC" pitchFamily="34" charset="0"/>
                <a:ea typeface="PingFang SC" pitchFamily="34" charset="-122"/>
                <a:cs typeface="PingFang SC" pitchFamily="34" charset="-120"/>
              </a:rPr>
              <a:t>受控供料并触发表面反应</a:t>
            </a:r>
            <a:endParaRPr lang="en-US" sz="1250" dirty="0"/>
          </a:p>
        </p:txBody>
      </p:sp>
      <p:sp>
        <p:nvSpPr>
          <p:cNvPr id="41" name="Text 39"/>
          <p:cNvSpPr/>
          <p:nvPr/>
        </p:nvSpPr>
        <p:spPr>
          <a:xfrm>
            <a:off x="7818120" y="4370832"/>
            <a:ext cx="3246120" cy="310896"/>
          </a:xfrm>
          <a:prstGeom prst="rect">
            <a:avLst/>
          </a:prstGeom>
          <a:noFill/>
          <a:ln/>
        </p:spPr>
        <p:txBody>
          <a:bodyPr wrap="square" lIns="0" tIns="0" rIns="0" bIns="0" rtlCol="0" anchor="ctr">
            <a:normAutofit/>
          </a:bodyPr>
          <a:lstStyle/>
          <a:p>
            <a:pPr indent="0" marL="0">
              <a:buNone/>
            </a:pPr>
            <a:r>
              <a:rPr lang="en-US" sz="1110" dirty="0">
                <a:solidFill>
                  <a:srgbClr val="667085"/>
                </a:solidFill>
                <a:latin typeface="PingFang SC" pitchFamily="34" charset="0"/>
                <a:ea typeface="PingFang SC" pitchFamily="34" charset="-122"/>
                <a:cs typeface="PingFang SC" pitchFamily="34" charset="-120"/>
              </a:rPr>
              <a:t>真正决定是否得到目标相的，是反应前沿能否均匀推进。</a:t>
            </a:r>
            <a:endParaRPr lang="en-US" sz="1110" dirty="0"/>
          </a:p>
        </p:txBody>
      </p:sp>
      <p:sp>
        <p:nvSpPr>
          <p:cNvPr id="42" name="Shape 40"/>
          <p:cNvSpPr/>
          <p:nvPr/>
        </p:nvSpPr>
        <p:spPr>
          <a:xfrm>
            <a:off x="5760720" y="5138928"/>
            <a:ext cx="310896" cy="310896"/>
          </a:xfrm>
          <a:prstGeom prst="ellipse">
            <a:avLst/>
          </a:prstGeom>
          <a:solidFill>
            <a:srgbClr val="E8EFFF"/>
          </a:solidFill>
          <a:ln w="15240">
            <a:solidFill>
              <a:srgbClr val="4E7BFF"/>
            </a:solidFill>
            <a:prstDash val="solid"/>
          </a:ln>
        </p:spPr>
      </p:sp>
      <p:sp>
        <p:nvSpPr>
          <p:cNvPr id="43" name="Text 41"/>
          <p:cNvSpPr/>
          <p:nvPr/>
        </p:nvSpPr>
        <p:spPr>
          <a:xfrm>
            <a:off x="5797296" y="5202936"/>
            <a:ext cx="237744" cy="109728"/>
          </a:xfrm>
          <a:prstGeom prst="rect">
            <a:avLst/>
          </a:prstGeom>
          <a:noFill/>
          <a:ln/>
        </p:spPr>
        <p:txBody>
          <a:bodyPr wrap="square" lIns="0" tIns="0" rIns="0" bIns="0" rtlCol="0" anchor="ctr">
            <a:normAutofit/>
          </a:bodyPr>
          <a:lstStyle/>
          <a:p>
            <a:pPr algn="ctr" indent="0" marL="0">
              <a:buNone/>
            </a:pPr>
            <a:r>
              <a:rPr lang="en-US" sz="850" b="1" dirty="0">
                <a:solidFill>
                  <a:srgbClr val="4E7BFF"/>
                </a:solidFill>
                <a:latin typeface="PingFang SC" pitchFamily="34" charset="0"/>
                <a:ea typeface="PingFang SC" pitchFamily="34" charset="-122"/>
                <a:cs typeface="PingFang SC" pitchFamily="34" charset="-120"/>
              </a:rPr>
              <a:t>05</a:t>
            </a:r>
            <a:endParaRPr lang="en-US" sz="850" dirty="0"/>
          </a:p>
        </p:txBody>
      </p:sp>
      <p:sp>
        <p:nvSpPr>
          <p:cNvPr id="44" name="Text 42"/>
          <p:cNvSpPr/>
          <p:nvPr/>
        </p:nvSpPr>
        <p:spPr>
          <a:xfrm>
            <a:off x="6199632" y="5120640"/>
            <a:ext cx="1600200" cy="182880"/>
          </a:xfrm>
          <a:prstGeom prst="rect">
            <a:avLst/>
          </a:prstGeom>
          <a:noFill/>
          <a:ln/>
        </p:spPr>
        <p:txBody>
          <a:bodyPr wrap="square" lIns="0" tIns="0" rIns="0" bIns="0" rtlCol="0" anchor="ctr">
            <a:normAutofit/>
          </a:bodyPr>
          <a:lstStyle/>
          <a:p>
            <a:pPr indent="0" marL="0">
              <a:buNone/>
            </a:pPr>
            <a:r>
              <a:rPr lang="en-US" sz="1250" b="1" dirty="0">
                <a:solidFill>
                  <a:srgbClr val="111827"/>
                </a:solidFill>
                <a:latin typeface="PingFang SC" pitchFamily="34" charset="0"/>
                <a:ea typeface="PingFang SC" pitchFamily="34" charset="-122"/>
                <a:cs typeface="PingFang SC" pitchFamily="34" charset="-120"/>
              </a:rPr>
              <a:t>后续稳定化/集成</a:t>
            </a:r>
            <a:endParaRPr lang="en-US" sz="1250" dirty="0"/>
          </a:p>
        </p:txBody>
      </p:sp>
      <p:sp>
        <p:nvSpPr>
          <p:cNvPr id="45" name="Text 43"/>
          <p:cNvSpPr/>
          <p:nvPr/>
        </p:nvSpPr>
        <p:spPr>
          <a:xfrm>
            <a:off x="7818120" y="5102352"/>
            <a:ext cx="3246120" cy="310896"/>
          </a:xfrm>
          <a:prstGeom prst="rect">
            <a:avLst/>
          </a:prstGeom>
          <a:noFill/>
          <a:ln/>
        </p:spPr>
        <p:txBody>
          <a:bodyPr wrap="square" lIns="0" tIns="0" rIns="0" bIns="0" rtlCol="0" anchor="ctr">
            <a:normAutofit/>
          </a:bodyPr>
          <a:lstStyle/>
          <a:p>
            <a:pPr indent="0" marL="0">
              <a:buNone/>
            </a:pPr>
            <a:r>
              <a:rPr lang="en-US" sz="1110" dirty="0">
                <a:solidFill>
                  <a:srgbClr val="667085"/>
                </a:solidFill>
                <a:latin typeface="PingFang SC" pitchFamily="34" charset="0"/>
                <a:ea typeface="PingFang SC" pitchFamily="34" charset="-122"/>
                <a:cs typeface="PingFang SC" pitchFamily="34" charset="-120"/>
              </a:rPr>
              <a:t>包括温度应力、纹理硅兼容性和带隙保持。</a:t>
            </a:r>
            <a:endParaRPr lang="en-US" sz="1110" dirty="0"/>
          </a:p>
        </p:txBody>
      </p:sp>
      <p:sp>
        <p:nvSpPr>
          <p:cNvPr id="46" name="Shape 44"/>
          <p:cNvSpPr/>
          <p:nvPr/>
        </p:nvSpPr>
        <p:spPr>
          <a:xfrm>
            <a:off x="566928" y="6419088"/>
            <a:ext cx="11064240" cy="0"/>
          </a:xfrm>
          <a:prstGeom prst="line">
            <a:avLst/>
          </a:prstGeom>
          <a:noFill/>
          <a:ln w="8890">
            <a:solidFill>
              <a:srgbClr val="D7DCE6"/>
            </a:solidFill>
            <a:prstDash val="solid"/>
          </a:ln>
        </p:spPr>
      </p:sp>
      <p:sp>
        <p:nvSpPr>
          <p:cNvPr id="47" name="Text 45"/>
          <p:cNvSpPr/>
          <p:nvPr/>
        </p:nvSpPr>
        <p:spPr>
          <a:xfrm>
            <a:off x="603504" y="6473952"/>
            <a:ext cx="10789920" cy="182880"/>
          </a:xfrm>
          <a:prstGeom prst="rect">
            <a:avLst/>
          </a:prstGeom>
          <a:noFill/>
          <a:ln/>
        </p:spPr>
        <p:txBody>
          <a:bodyPr wrap="square" lIns="0" tIns="0" rIns="0" bIns="0" rtlCol="0" anchor="ctr">
            <a:normAutofit/>
          </a:bodyPr>
          <a:lstStyle/>
          <a:p>
            <a:pPr indent="0" marL="0">
              <a:buNone/>
            </a:pPr>
            <a:r>
              <a:rPr lang="en-US" sz="850" dirty="0">
                <a:solidFill>
                  <a:srgbClr val="667085"/>
                </a:solidFill>
                <a:latin typeface="PingFang SC" pitchFamily="34" charset="0"/>
                <a:ea typeface="PingFang SC" pitchFamily="34" charset="-122"/>
                <a:cs typeface="PingFang SC" pitchFamily="34" charset="-120"/>
              </a:rPr>
              <a:t>工艺路线与代表案例来源：[1][2][4][6]。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A1020"/>
          </a:solidFill>
          <a:ln w="12700">
            <a:solidFill>
              <a:srgbClr val="0A1020">
                <a:alpha val="0"/>
              </a:srgbClr>
            </a:solidFill>
            <a:prstDash val="solid"/>
          </a:ln>
        </p:spPr>
      </p:sp>
      <p:sp>
        <p:nvSpPr>
          <p:cNvPr id="3" name="Text 1"/>
          <p:cNvSpPr/>
          <p:nvPr/>
        </p:nvSpPr>
        <p:spPr>
          <a:xfrm>
            <a:off x="566928" y="292608"/>
            <a:ext cx="1645920" cy="219456"/>
          </a:xfrm>
          <a:prstGeom prst="rect">
            <a:avLst/>
          </a:prstGeom>
          <a:noFill/>
          <a:ln/>
        </p:spPr>
        <p:txBody>
          <a:bodyPr wrap="square" lIns="0" tIns="0" rIns="0" bIns="0" rtlCol="0" anchor="ctr">
            <a:normAutofit/>
          </a:bodyPr>
          <a:lstStyle/>
          <a:p>
            <a:pPr indent="0" marL="0">
              <a:buNone/>
            </a:pPr>
            <a:r>
              <a:rPr lang="en-US" sz="1000" b="1" dirty="0">
                <a:solidFill>
                  <a:srgbClr val="18B7AE"/>
                </a:solidFill>
                <a:latin typeface="PingFang SC" pitchFamily="34" charset="0"/>
                <a:ea typeface="PingFang SC" pitchFamily="34" charset="-122"/>
                <a:cs typeface="PingFang SC" pitchFamily="34" charset="-120"/>
              </a:rPr>
              <a:t>PRINCIPLE I</a:t>
            </a:r>
            <a:endParaRPr lang="en-US" sz="1000" dirty="0"/>
          </a:p>
        </p:txBody>
      </p:sp>
      <p:sp>
        <p:nvSpPr>
          <p:cNvPr id="4" name="Text 2"/>
          <p:cNvSpPr/>
          <p:nvPr/>
        </p:nvSpPr>
        <p:spPr>
          <a:xfrm>
            <a:off x="11109960" y="237744"/>
            <a:ext cx="502920" cy="274320"/>
          </a:xfrm>
          <a:prstGeom prst="rect">
            <a:avLst/>
          </a:prstGeom>
          <a:noFill/>
          <a:ln/>
        </p:spPr>
        <p:txBody>
          <a:bodyPr wrap="square" lIns="0" tIns="0" rIns="0" bIns="0" rtlCol="0" anchor="ctr">
            <a:normAutofit/>
          </a:bodyPr>
          <a:lstStyle/>
          <a:p>
            <a:pPr algn="r" indent="0" marL="0">
              <a:buNone/>
            </a:pPr>
            <a:r>
              <a:rPr lang="en-US" sz="1400" b="1" dirty="0">
                <a:solidFill>
                  <a:srgbClr val="0A1020"/>
                </a:solidFill>
                <a:latin typeface="PingFang SC" pitchFamily="34" charset="0"/>
                <a:ea typeface="PingFang SC" pitchFamily="34" charset="-122"/>
                <a:cs typeface="PingFang SC" pitchFamily="34" charset="-120"/>
              </a:rPr>
              <a:t>05</a:t>
            </a:r>
            <a:endParaRPr lang="en-US" sz="1400" dirty="0"/>
          </a:p>
        </p:txBody>
      </p:sp>
      <p:sp>
        <p:nvSpPr>
          <p:cNvPr id="5" name="Text 3"/>
          <p:cNvSpPr/>
          <p:nvPr/>
        </p:nvSpPr>
        <p:spPr>
          <a:xfrm>
            <a:off x="566928" y="548640"/>
            <a:ext cx="7680960" cy="402336"/>
          </a:xfrm>
          <a:prstGeom prst="rect">
            <a:avLst/>
          </a:prstGeom>
          <a:noFill/>
          <a:ln/>
        </p:spPr>
        <p:txBody>
          <a:bodyPr wrap="square" lIns="0" tIns="0" rIns="0" bIns="0" rtlCol="0" anchor="ctr">
            <a:normAutofit/>
          </a:bodyPr>
          <a:lstStyle/>
          <a:p>
            <a:pPr indent="0" marL="0">
              <a:buNone/>
            </a:pPr>
            <a:r>
              <a:rPr lang="en-US" sz="2400" b="1" dirty="0">
                <a:solidFill>
                  <a:srgbClr val="0A1020"/>
                </a:solidFill>
                <a:latin typeface="PingFang SC" pitchFamily="34" charset="0"/>
                <a:ea typeface="PingFang SC" pitchFamily="34" charset="-122"/>
                <a:cs typeface="PingFang SC" pitchFamily="34" charset="-120"/>
              </a:rPr>
              <a:t>原理一：近场传质为什么有效</a:t>
            </a:r>
            <a:endParaRPr lang="en-US" sz="2400" dirty="0"/>
          </a:p>
        </p:txBody>
      </p:sp>
      <p:sp>
        <p:nvSpPr>
          <p:cNvPr id="6" name="Text 4"/>
          <p:cNvSpPr/>
          <p:nvPr/>
        </p:nvSpPr>
        <p:spPr>
          <a:xfrm>
            <a:off x="566928" y="960120"/>
            <a:ext cx="8778240" cy="292608"/>
          </a:xfrm>
          <a:prstGeom prst="rect">
            <a:avLst/>
          </a:prstGeom>
          <a:noFill/>
          <a:ln/>
        </p:spPr>
        <p:txBody>
          <a:bodyPr wrap="square" lIns="0" tIns="0" rIns="0" bIns="0" rtlCol="0" anchor="ctr">
            <a:normAutofit/>
          </a:bodyPr>
          <a:lstStyle/>
          <a:p>
            <a:pPr indent="0" marL="0">
              <a:buNone/>
            </a:pPr>
            <a:r>
              <a:rPr lang="en-US" sz="1150" dirty="0">
                <a:solidFill>
                  <a:srgbClr val="667085"/>
                </a:solidFill>
                <a:latin typeface="PingFang SC" pitchFamily="34" charset="0"/>
                <a:ea typeface="PingFang SC" pitchFamily="34" charset="-122"/>
                <a:cs typeface="PingFang SC" pitchFamily="34" charset="-120"/>
              </a:rPr>
              <a:t>短 gap 不只是“离得近”，而是显著改变了局部供料、分压与输运阻力。</a:t>
            </a:r>
            <a:endParaRPr lang="en-US" sz="1150" dirty="0"/>
          </a:p>
        </p:txBody>
      </p:sp>
      <p:sp>
        <p:nvSpPr>
          <p:cNvPr id="7" name="Shape 5"/>
          <p:cNvSpPr/>
          <p:nvPr/>
        </p:nvSpPr>
        <p:spPr>
          <a:xfrm>
            <a:off x="566928" y="1225296"/>
            <a:ext cx="11064240" cy="0"/>
          </a:xfrm>
          <a:prstGeom prst="line">
            <a:avLst/>
          </a:prstGeom>
          <a:noFill/>
          <a:ln w="12700">
            <a:solidFill>
              <a:srgbClr val="D7DCE6"/>
            </a:solidFill>
            <a:prstDash val="solid"/>
          </a:ln>
        </p:spPr>
      </p:sp>
      <p:sp>
        <p:nvSpPr>
          <p:cNvPr id="8" name="Shape 6"/>
          <p:cNvSpPr/>
          <p:nvPr/>
        </p:nvSpPr>
        <p:spPr>
          <a:xfrm>
            <a:off x="749808" y="1572768"/>
            <a:ext cx="4425696" cy="4572000"/>
          </a:xfrm>
          <a:prstGeom prst="roundRect">
            <a:avLst>
              <a:gd name="adj" fmla="val 1653"/>
            </a:avLst>
          </a:prstGeom>
          <a:solidFill>
            <a:srgbClr val="FFFFFF"/>
          </a:solidFill>
          <a:ln w="12700">
            <a:solidFill>
              <a:srgbClr val="D7DCE6"/>
            </a:solidFill>
            <a:prstDash val="solid"/>
          </a:ln>
        </p:spPr>
      </p:sp>
      <p:sp>
        <p:nvSpPr>
          <p:cNvPr id="9" name="Shape 7"/>
          <p:cNvSpPr/>
          <p:nvPr/>
        </p:nvSpPr>
        <p:spPr>
          <a:xfrm>
            <a:off x="768096" y="1591056"/>
            <a:ext cx="4389120" cy="73152"/>
          </a:xfrm>
          <a:prstGeom prst="rect">
            <a:avLst/>
          </a:prstGeom>
          <a:solidFill>
            <a:srgbClr val="18B7AE"/>
          </a:solidFill>
          <a:ln w="12700">
            <a:solidFill>
              <a:srgbClr val="18B7AE">
                <a:alpha val="0"/>
              </a:srgbClr>
            </a:solidFill>
            <a:prstDash val="solid"/>
          </a:ln>
        </p:spPr>
      </p:sp>
      <p:sp>
        <p:nvSpPr>
          <p:cNvPr id="10" name="Text 8"/>
          <p:cNvSpPr/>
          <p:nvPr/>
        </p:nvSpPr>
        <p:spPr>
          <a:xfrm>
            <a:off x="969264" y="1810512"/>
            <a:ext cx="1005840" cy="201168"/>
          </a:xfrm>
          <a:prstGeom prst="rect">
            <a:avLst/>
          </a:prstGeom>
          <a:noFill/>
          <a:ln/>
        </p:spPr>
        <p:txBody>
          <a:bodyPr wrap="square" lIns="0" tIns="0" rIns="0" bIns="0" rtlCol="0" anchor="ctr">
            <a:normAutofit/>
          </a:bodyPr>
          <a:lstStyle/>
          <a:p>
            <a:pPr indent="0" marL="0">
              <a:buNone/>
            </a:pPr>
            <a:r>
              <a:rPr lang="en-US" sz="1450" b="1" dirty="0">
                <a:solidFill>
                  <a:srgbClr val="111827"/>
                </a:solidFill>
                <a:latin typeface="PingFang SC" pitchFamily="34" charset="0"/>
                <a:ea typeface="PingFang SC" pitchFamily="34" charset="-122"/>
                <a:cs typeface="PingFang SC" pitchFamily="34" charset="-120"/>
              </a:rPr>
              <a:t>概念图</a:t>
            </a:r>
            <a:endParaRPr lang="en-US" sz="1450" dirty="0"/>
          </a:p>
        </p:txBody>
      </p:sp>
      <p:sp>
        <p:nvSpPr>
          <p:cNvPr id="11" name="Shape 9"/>
          <p:cNvSpPr/>
          <p:nvPr/>
        </p:nvSpPr>
        <p:spPr>
          <a:xfrm>
            <a:off x="1115568" y="2240280"/>
            <a:ext cx="3611880" cy="512064"/>
          </a:xfrm>
          <a:prstGeom prst="roundRect">
            <a:avLst/>
          </a:prstGeom>
          <a:solidFill>
            <a:srgbClr val="D7F6F3"/>
          </a:solidFill>
          <a:ln w="15240">
            <a:solidFill>
              <a:srgbClr val="18B7AE"/>
            </a:solidFill>
            <a:prstDash val="solid"/>
          </a:ln>
        </p:spPr>
      </p:sp>
      <p:sp>
        <p:nvSpPr>
          <p:cNvPr id="12" name="Text 10"/>
          <p:cNvSpPr/>
          <p:nvPr/>
        </p:nvSpPr>
        <p:spPr>
          <a:xfrm>
            <a:off x="1938528" y="2404872"/>
            <a:ext cx="1920240" cy="164592"/>
          </a:xfrm>
          <a:prstGeom prst="rect">
            <a:avLst/>
          </a:prstGeom>
          <a:noFill/>
          <a:ln/>
        </p:spPr>
        <p:txBody>
          <a:bodyPr wrap="square" lIns="0" tIns="0" rIns="0" bIns="0" rtlCol="0" anchor="ctr">
            <a:normAutofit/>
          </a:bodyPr>
          <a:lstStyle/>
          <a:p>
            <a:pPr algn="ctr" indent="0" marL="0">
              <a:buNone/>
            </a:pPr>
            <a:r>
              <a:rPr lang="en-US" sz="1250" b="1" dirty="0">
                <a:solidFill>
                  <a:srgbClr val="111827"/>
                </a:solidFill>
                <a:latin typeface="PingFang SC" pitchFamily="34" charset="0"/>
                <a:ea typeface="PingFang SC" pitchFamily="34" charset="-122"/>
                <a:cs typeface="PingFang SC" pitchFamily="34" charset="-120"/>
              </a:rPr>
              <a:t>源侧分压 Psource</a:t>
            </a:r>
            <a:endParaRPr lang="en-US" sz="1250" dirty="0"/>
          </a:p>
        </p:txBody>
      </p:sp>
      <p:sp>
        <p:nvSpPr>
          <p:cNvPr id="13" name="Shape 11"/>
          <p:cNvSpPr/>
          <p:nvPr/>
        </p:nvSpPr>
        <p:spPr>
          <a:xfrm>
            <a:off x="1298448" y="3858768"/>
            <a:ext cx="3246120" cy="493776"/>
          </a:xfrm>
          <a:prstGeom prst="roundRect">
            <a:avLst/>
          </a:prstGeom>
          <a:solidFill>
            <a:srgbClr val="FFF1E1"/>
          </a:solidFill>
          <a:ln w="15240">
            <a:solidFill>
              <a:srgbClr val="E9A45B"/>
            </a:solidFill>
            <a:prstDash val="solid"/>
          </a:ln>
        </p:spPr>
      </p:sp>
      <p:sp>
        <p:nvSpPr>
          <p:cNvPr id="14" name="Text 12"/>
          <p:cNvSpPr/>
          <p:nvPr/>
        </p:nvSpPr>
        <p:spPr>
          <a:xfrm>
            <a:off x="1609344" y="4023360"/>
            <a:ext cx="2633472" cy="164592"/>
          </a:xfrm>
          <a:prstGeom prst="rect">
            <a:avLst/>
          </a:prstGeom>
          <a:noFill/>
          <a:ln/>
        </p:spPr>
        <p:txBody>
          <a:bodyPr wrap="square" lIns="0" tIns="0" rIns="0" bIns="0" rtlCol="0" anchor="ctr">
            <a:normAutofit/>
          </a:bodyPr>
          <a:lstStyle/>
          <a:p>
            <a:pPr algn="ctr" indent="0" marL="0">
              <a:buNone/>
            </a:pPr>
            <a:r>
              <a:rPr lang="en-US" sz="1200" b="1" dirty="0">
                <a:solidFill>
                  <a:srgbClr val="111827"/>
                </a:solidFill>
                <a:latin typeface="PingFang SC" pitchFamily="34" charset="0"/>
                <a:ea typeface="PingFang SC" pitchFamily="34" charset="-122"/>
                <a:cs typeface="PingFang SC" pitchFamily="34" charset="-120"/>
              </a:rPr>
              <a:t>表面分压 Psurface / 转化界面</a:t>
            </a:r>
            <a:endParaRPr lang="en-US" sz="1200" dirty="0"/>
          </a:p>
        </p:txBody>
      </p:sp>
      <p:sp>
        <p:nvSpPr>
          <p:cNvPr id="15" name="Shape 13"/>
          <p:cNvSpPr/>
          <p:nvPr/>
        </p:nvSpPr>
        <p:spPr>
          <a:xfrm>
            <a:off x="1417320" y="3154680"/>
            <a:ext cx="2907792" cy="0"/>
          </a:xfrm>
          <a:prstGeom prst="line">
            <a:avLst/>
          </a:prstGeom>
          <a:noFill/>
          <a:ln w="15240">
            <a:solidFill>
              <a:srgbClr val="D7DCE6"/>
            </a:solidFill>
            <a:prstDash val="solid"/>
          </a:ln>
        </p:spPr>
      </p:sp>
      <p:sp>
        <p:nvSpPr>
          <p:cNvPr id="16" name="Text 14"/>
          <p:cNvSpPr/>
          <p:nvPr/>
        </p:nvSpPr>
        <p:spPr>
          <a:xfrm>
            <a:off x="1883664" y="2852928"/>
            <a:ext cx="1920240" cy="182880"/>
          </a:xfrm>
          <a:prstGeom prst="rect">
            <a:avLst/>
          </a:prstGeom>
          <a:noFill/>
          <a:ln/>
        </p:spPr>
        <p:txBody>
          <a:bodyPr wrap="square" lIns="0" tIns="0" rIns="0" bIns="0" rtlCol="0" anchor="ctr">
            <a:normAutofit/>
          </a:bodyPr>
          <a:lstStyle/>
          <a:p>
            <a:pPr algn="ctr" indent="0" marL="0">
              <a:buNone/>
            </a:pPr>
            <a:r>
              <a:rPr lang="en-US" sz="1200" dirty="0">
                <a:solidFill>
                  <a:srgbClr val="667085"/>
                </a:solidFill>
                <a:latin typeface="PingFang SC" pitchFamily="34" charset="0"/>
                <a:ea typeface="PingFang SC" pitchFamily="34" charset="-122"/>
                <a:cs typeface="PingFang SC" pitchFamily="34" charset="-120"/>
              </a:rPr>
              <a:t>gap ↓  →  传质阻力 ↓</a:t>
            </a:r>
            <a:endParaRPr lang="en-US" sz="1200" dirty="0"/>
          </a:p>
        </p:txBody>
      </p:sp>
      <p:sp>
        <p:nvSpPr>
          <p:cNvPr id="17" name="Shape 15"/>
          <p:cNvSpPr/>
          <p:nvPr/>
        </p:nvSpPr>
        <p:spPr>
          <a:xfrm>
            <a:off x="1828800" y="2743200"/>
            <a:ext cx="0" cy="877824"/>
          </a:xfrm>
          <a:prstGeom prst="line">
            <a:avLst/>
          </a:prstGeom>
          <a:noFill/>
          <a:ln w="13970">
            <a:solidFill>
              <a:srgbClr val="18B7AE"/>
            </a:solidFill>
            <a:prstDash val="solid"/>
          </a:ln>
        </p:spPr>
      </p:sp>
      <p:sp>
        <p:nvSpPr>
          <p:cNvPr id="18" name="Shape 16"/>
          <p:cNvSpPr/>
          <p:nvPr/>
        </p:nvSpPr>
        <p:spPr>
          <a:xfrm>
            <a:off x="2578608" y="2743200"/>
            <a:ext cx="0" cy="877824"/>
          </a:xfrm>
          <a:prstGeom prst="line">
            <a:avLst/>
          </a:prstGeom>
          <a:noFill/>
          <a:ln w="13970">
            <a:solidFill>
              <a:srgbClr val="18B7AE"/>
            </a:solidFill>
            <a:prstDash val="solid"/>
          </a:ln>
        </p:spPr>
      </p:sp>
      <p:sp>
        <p:nvSpPr>
          <p:cNvPr id="19" name="Shape 17"/>
          <p:cNvSpPr/>
          <p:nvPr/>
        </p:nvSpPr>
        <p:spPr>
          <a:xfrm>
            <a:off x="3328416" y="2743200"/>
            <a:ext cx="0" cy="877824"/>
          </a:xfrm>
          <a:prstGeom prst="line">
            <a:avLst/>
          </a:prstGeom>
          <a:noFill/>
          <a:ln w="13970">
            <a:solidFill>
              <a:srgbClr val="18B7AE"/>
            </a:solidFill>
            <a:prstDash val="solid"/>
          </a:ln>
        </p:spPr>
      </p:sp>
      <p:sp>
        <p:nvSpPr>
          <p:cNvPr id="20" name="Shape 18"/>
          <p:cNvSpPr/>
          <p:nvPr/>
        </p:nvSpPr>
        <p:spPr>
          <a:xfrm>
            <a:off x="4078224" y="2743200"/>
            <a:ext cx="0" cy="877824"/>
          </a:xfrm>
          <a:prstGeom prst="line">
            <a:avLst/>
          </a:prstGeom>
          <a:noFill/>
          <a:ln w="13970">
            <a:solidFill>
              <a:srgbClr val="18B7AE"/>
            </a:solidFill>
            <a:prstDash val="solid"/>
          </a:ln>
        </p:spPr>
      </p:sp>
      <p:sp>
        <p:nvSpPr>
          <p:cNvPr id="21" name="Shape 19"/>
          <p:cNvSpPr/>
          <p:nvPr/>
        </p:nvSpPr>
        <p:spPr>
          <a:xfrm>
            <a:off x="1097280" y="4754880"/>
            <a:ext cx="3749040" cy="1005840"/>
          </a:xfrm>
          <a:prstGeom prst="roundRect">
            <a:avLst>
              <a:gd name="adj" fmla="val 7273"/>
            </a:avLst>
          </a:prstGeom>
          <a:solidFill>
            <a:srgbClr val="162039"/>
          </a:solidFill>
          <a:ln w="12700">
            <a:solidFill>
              <a:srgbClr val="162039"/>
            </a:solidFill>
            <a:prstDash val="solid"/>
          </a:ln>
        </p:spPr>
      </p:sp>
      <p:sp>
        <p:nvSpPr>
          <p:cNvPr id="22" name="Text 20"/>
          <p:cNvSpPr/>
          <p:nvPr/>
        </p:nvSpPr>
        <p:spPr>
          <a:xfrm>
            <a:off x="1298448" y="4992624"/>
            <a:ext cx="3346704" cy="457200"/>
          </a:xfrm>
          <a:prstGeom prst="rect">
            <a:avLst/>
          </a:prstGeom>
          <a:noFill/>
          <a:ln/>
        </p:spPr>
        <p:txBody>
          <a:bodyPr wrap="square" lIns="0" tIns="0" rIns="0" bIns="0" rtlCol="0" anchor="ctr">
            <a:normAutofit/>
          </a:bodyPr>
          <a:lstStyle/>
          <a:p>
            <a:pPr algn="ctr" indent="0" marL="0">
              <a:buNone/>
            </a:pPr>
            <a:r>
              <a:rPr lang="en-US" sz="1240" dirty="0">
                <a:solidFill>
                  <a:srgbClr val="FFFFFF"/>
                </a:solidFill>
                <a:latin typeface="PingFang SC" pitchFamily="34" charset="0"/>
                <a:ea typeface="PingFang SC" pitchFamily="34" charset="-122"/>
                <a:cs typeface="PingFang SC" pitchFamily="34" charset="-120"/>
              </a:rPr>
              <a:t>经验上可把它理解为：</a:t>
            </a:r>
            <a:endParaRPr lang="en-US" sz="1240" dirty="0"/>
          </a:p>
          <a:p>
            <a:pPr algn="ctr" indent="0" marL="0">
              <a:buNone/>
            </a:pPr>
            <a:r>
              <a:rPr lang="en-US" sz="1240" dirty="0">
                <a:solidFill>
                  <a:srgbClr val="FFFFFF"/>
                </a:solidFill>
                <a:latin typeface="PingFang SC" pitchFamily="34" charset="0"/>
                <a:ea typeface="PingFang SC" pitchFamily="34" charset="-122"/>
                <a:cs typeface="PingFang SC" pitchFamily="34" charset="-120"/>
              </a:rPr>
              <a:t>ΔP = Psource − Psurface；gap 越短，局部供料越充足。</a:t>
            </a:r>
            <a:endParaRPr lang="en-US" sz="1240" dirty="0"/>
          </a:p>
        </p:txBody>
      </p:sp>
      <p:sp>
        <p:nvSpPr>
          <p:cNvPr id="23" name="Shape 21"/>
          <p:cNvSpPr/>
          <p:nvPr/>
        </p:nvSpPr>
        <p:spPr>
          <a:xfrm>
            <a:off x="5468112" y="1572768"/>
            <a:ext cx="5980176" cy="4572000"/>
          </a:xfrm>
          <a:prstGeom prst="roundRect">
            <a:avLst>
              <a:gd name="adj" fmla="val 1600"/>
            </a:avLst>
          </a:prstGeom>
          <a:solidFill>
            <a:srgbClr val="FFFFFF"/>
          </a:solidFill>
          <a:ln w="12700">
            <a:solidFill>
              <a:srgbClr val="D7DCE6"/>
            </a:solidFill>
            <a:prstDash val="solid"/>
          </a:ln>
        </p:spPr>
      </p:sp>
      <p:sp>
        <p:nvSpPr>
          <p:cNvPr id="24" name="Shape 22"/>
          <p:cNvSpPr/>
          <p:nvPr/>
        </p:nvSpPr>
        <p:spPr>
          <a:xfrm>
            <a:off x="5486400" y="1591056"/>
            <a:ext cx="5943600" cy="73152"/>
          </a:xfrm>
          <a:prstGeom prst="rect">
            <a:avLst/>
          </a:prstGeom>
          <a:solidFill>
            <a:srgbClr val="4E7BFF"/>
          </a:solidFill>
          <a:ln w="12700">
            <a:solidFill>
              <a:srgbClr val="4E7BFF">
                <a:alpha val="0"/>
              </a:srgbClr>
            </a:solidFill>
            <a:prstDash val="solid"/>
          </a:ln>
        </p:spPr>
      </p:sp>
      <p:sp>
        <p:nvSpPr>
          <p:cNvPr id="25" name="Text 23"/>
          <p:cNvSpPr/>
          <p:nvPr/>
        </p:nvSpPr>
        <p:spPr>
          <a:xfrm>
            <a:off x="5705856" y="1810512"/>
            <a:ext cx="2834640" cy="219456"/>
          </a:xfrm>
          <a:prstGeom prst="rect">
            <a:avLst/>
          </a:prstGeom>
          <a:noFill/>
          <a:ln/>
        </p:spPr>
        <p:txBody>
          <a:bodyPr wrap="square" lIns="0" tIns="0" rIns="0" bIns="0" rtlCol="0" anchor="ctr">
            <a:normAutofit/>
          </a:bodyPr>
          <a:lstStyle/>
          <a:p>
            <a:pPr indent="0" marL="0">
              <a:buNone/>
            </a:pPr>
            <a:r>
              <a:rPr lang="en-US" sz="1450" b="1" dirty="0">
                <a:solidFill>
                  <a:srgbClr val="111827"/>
                </a:solidFill>
                <a:latin typeface="PingFang SC" pitchFamily="34" charset="0"/>
                <a:ea typeface="PingFang SC" pitchFamily="34" charset="-122"/>
                <a:cs typeface="PingFang SC" pitchFamily="34" charset="-120"/>
              </a:rPr>
              <a:t>从文献里可以比较稳地读出三件事</a:t>
            </a:r>
            <a:endParaRPr lang="en-US" sz="1450" dirty="0"/>
          </a:p>
        </p:txBody>
      </p:sp>
      <p:sp>
        <p:nvSpPr>
          <p:cNvPr id="26" name="Shape 24"/>
          <p:cNvSpPr/>
          <p:nvPr/>
        </p:nvSpPr>
        <p:spPr>
          <a:xfrm>
            <a:off x="5724144" y="2359152"/>
            <a:ext cx="91440" cy="91440"/>
          </a:xfrm>
          <a:prstGeom prst="ellipse">
            <a:avLst/>
          </a:prstGeom>
          <a:solidFill>
            <a:srgbClr val="4E7BFF"/>
          </a:solidFill>
          <a:ln w="12700">
            <a:solidFill>
              <a:srgbClr val="4E7BFF">
                <a:alpha val="0"/>
              </a:srgbClr>
            </a:solidFill>
            <a:prstDash val="solid"/>
          </a:ln>
        </p:spPr>
      </p:sp>
      <p:sp>
        <p:nvSpPr>
          <p:cNvPr id="27" name="Text 25"/>
          <p:cNvSpPr/>
          <p:nvPr/>
        </p:nvSpPr>
        <p:spPr>
          <a:xfrm>
            <a:off x="5888736" y="2267712"/>
            <a:ext cx="5157216" cy="384048"/>
          </a:xfrm>
          <a:prstGeom prst="rect">
            <a:avLst/>
          </a:prstGeom>
          <a:noFill/>
          <a:ln/>
        </p:spPr>
        <p:txBody>
          <a:bodyPr wrap="square" lIns="0" tIns="0" rIns="0" bIns="0" rtlCol="0" anchor="ctr">
            <a:normAutofit/>
          </a:bodyPr>
          <a:lstStyle/>
          <a:p>
            <a:pPr indent="0" marL="0">
              <a:buNone/>
            </a:pPr>
            <a:r>
              <a:rPr lang="en-US" sz="1240" dirty="0">
                <a:solidFill>
                  <a:srgbClr val="667085"/>
                </a:solidFill>
                <a:latin typeface="PingFang SC" pitchFamily="34" charset="0"/>
                <a:ea typeface="PingFang SC" pitchFamily="34" charset="-122"/>
                <a:cs typeface="PingFang SC" pitchFamily="34" charset="-120"/>
              </a:rPr>
              <a:t>CSS 在钙钛矿论文中反复被描述为具有高材料传输与低工作压强优势。</a:t>
            </a:r>
            <a:endParaRPr lang="en-US" sz="1240" dirty="0"/>
          </a:p>
        </p:txBody>
      </p:sp>
      <p:sp>
        <p:nvSpPr>
          <p:cNvPr id="28" name="Shape 26"/>
          <p:cNvSpPr/>
          <p:nvPr/>
        </p:nvSpPr>
        <p:spPr>
          <a:xfrm>
            <a:off x="5724144" y="3145536"/>
            <a:ext cx="91440" cy="91440"/>
          </a:xfrm>
          <a:prstGeom prst="ellipse">
            <a:avLst/>
          </a:prstGeom>
          <a:solidFill>
            <a:srgbClr val="4E7BFF"/>
          </a:solidFill>
          <a:ln w="12700">
            <a:solidFill>
              <a:srgbClr val="4E7BFF">
                <a:alpha val="0"/>
              </a:srgbClr>
            </a:solidFill>
            <a:prstDash val="solid"/>
          </a:ln>
        </p:spPr>
      </p:sp>
      <p:sp>
        <p:nvSpPr>
          <p:cNvPr id="29" name="Text 27"/>
          <p:cNvSpPr/>
          <p:nvPr/>
        </p:nvSpPr>
        <p:spPr>
          <a:xfrm>
            <a:off x="5888736" y="3054096"/>
            <a:ext cx="5157216" cy="384048"/>
          </a:xfrm>
          <a:prstGeom prst="rect">
            <a:avLst/>
          </a:prstGeom>
          <a:noFill/>
          <a:ln/>
        </p:spPr>
        <p:txBody>
          <a:bodyPr wrap="square" lIns="0" tIns="0" rIns="0" bIns="0" rtlCol="0" anchor="ctr">
            <a:normAutofit/>
          </a:bodyPr>
          <a:lstStyle/>
          <a:p>
            <a:pPr indent="0" marL="0">
              <a:buNone/>
            </a:pPr>
            <a:r>
              <a:rPr lang="en-US" sz="1240" dirty="0">
                <a:solidFill>
                  <a:srgbClr val="667085"/>
                </a:solidFill>
                <a:latin typeface="PingFang SC" pitchFamily="34" charset="0"/>
                <a:ea typeface="PingFang SC" pitchFamily="34" charset="-122"/>
                <a:cs typeface="PingFang SC" pitchFamily="34" charset="-120"/>
              </a:rPr>
              <a:t>1 mbar 与 10 mbar 两类代表结果都已给出有效器件，说明 CSS 不依赖超高真空才成立。</a:t>
            </a:r>
            <a:endParaRPr lang="en-US" sz="1240" dirty="0"/>
          </a:p>
        </p:txBody>
      </p:sp>
      <p:sp>
        <p:nvSpPr>
          <p:cNvPr id="30" name="Shape 28"/>
          <p:cNvSpPr/>
          <p:nvPr/>
        </p:nvSpPr>
        <p:spPr>
          <a:xfrm>
            <a:off x="5724144" y="3931920"/>
            <a:ext cx="91440" cy="91440"/>
          </a:xfrm>
          <a:prstGeom prst="ellipse">
            <a:avLst/>
          </a:prstGeom>
          <a:solidFill>
            <a:srgbClr val="4E7BFF"/>
          </a:solidFill>
          <a:ln w="12700">
            <a:solidFill>
              <a:srgbClr val="4E7BFF">
                <a:alpha val="0"/>
              </a:srgbClr>
            </a:solidFill>
            <a:prstDash val="solid"/>
          </a:ln>
        </p:spPr>
      </p:sp>
      <p:sp>
        <p:nvSpPr>
          <p:cNvPr id="31" name="Text 29"/>
          <p:cNvSpPr/>
          <p:nvPr/>
        </p:nvSpPr>
        <p:spPr>
          <a:xfrm>
            <a:off x="5888736" y="3840480"/>
            <a:ext cx="5157216" cy="384048"/>
          </a:xfrm>
          <a:prstGeom prst="rect">
            <a:avLst/>
          </a:prstGeom>
          <a:noFill/>
          <a:ln/>
        </p:spPr>
        <p:txBody>
          <a:bodyPr wrap="square" lIns="0" tIns="0" rIns="0" bIns="0" rtlCol="0" anchor="ctr">
            <a:normAutofit/>
          </a:bodyPr>
          <a:lstStyle/>
          <a:p>
            <a:pPr indent="0" marL="0">
              <a:buNone/>
            </a:pPr>
            <a:r>
              <a:rPr lang="en-US" sz="1240" dirty="0">
                <a:solidFill>
                  <a:srgbClr val="667085"/>
                </a:solidFill>
                <a:latin typeface="PingFang SC" pitchFamily="34" charset="0"/>
                <a:ea typeface="PingFang SC" pitchFamily="34" charset="-122"/>
                <a:cs typeface="PingFang SC" pitchFamily="34" charset="-120"/>
              </a:rPr>
              <a:t>到 2026 年的宽带隙工作里，机制分析已明确提示：CSS 过程可进入 substitution-reaction-limited regime。</a:t>
            </a:r>
            <a:endParaRPr lang="en-US" sz="1240" dirty="0"/>
          </a:p>
        </p:txBody>
      </p:sp>
      <p:sp>
        <p:nvSpPr>
          <p:cNvPr id="32" name="Shape 30"/>
          <p:cNvSpPr/>
          <p:nvPr/>
        </p:nvSpPr>
        <p:spPr>
          <a:xfrm>
            <a:off x="5724144" y="4828032"/>
            <a:ext cx="5449824" cy="841248"/>
          </a:xfrm>
          <a:prstGeom prst="roundRect">
            <a:avLst>
              <a:gd name="adj" fmla="val 8696"/>
            </a:avLst>
          </a:prstGeom>
          <a:solidFill>
            <a:srgbClr val="E8EFFF"/>
          </a:solidFill>
          <a:ln w="12700">
            <a:solidFill>
              <a:srgbClr val="E8EFFF"/>
            </a:solidFill>
            <a:prstDash val="solid"/>
          </a:ln>
        </p:spPr>
      </p:sp>
      <p:sp>
        <p:nvSpPr>
          <p:cNvPr id="33" name="Text 31"/>
          <p:cNvSpPr/>
          <p:nvPr/>
        </p:nvSpPr>
        <p:spPr>
          <a:xfrm>
            <a:off x="5961888" y="5029200"/>
            <a:ext cx="5010912" cy="384048"/>
          </a:xfrm>
          <a:prstGeom prst="rect">
            <a:avLst/>
          </a:prstGeom>
          <a:noFill/>
          <a:ln/>
        </p:spPr>
        <p:txBody>
          <a:bodyPr wrap="square" lIns="0" tIns="0" rIns="0" bIns="0" rtlCol="0" anchor="ctr">
            <a:normAutofit/>
          </a:bodyPr>
          <a:lstStyle/>
          <a:p>
            <a:pPr algn="ctr" indent="0" marL="0">
              <a:buNone/>
            </a:pPr>
            <a:r>
              <a:rPr lang="en-US" sz="1210" b="1" dirty="0">
                <a:solidFill>
                  <a:srgbClr val="0A1020"/>
                </a:solidFill>
                <a:latin typeface="PingFang SC" pitchFamily="34" charset="0"/>
                <a:ea typeface="PingFang SC" pitchFamily="34" charset="-122"/>
                <a:cs typeface="PingFang SC" pitchFamily="34" charset="-120"/>
              </a:rPr>
              <a:t>因此，整体速率更适合写成：voverall = min(vtransport, vreaction)。</a:t>
            </a:r>
            <a:endParaRPr lang="en-US" sz="1210" dirty="0"/>
          </a:p>
          <a:p>
            <a:pPr algn="ctr" indent="0" marL="0">
              <a:buNone/>
            </a:pPr>
            <a:r>
              <a:rPr lang="en-US" sz="1210" b="1" dirty="0">
                <a:solidFill>
                  <a:srgbClr val="0A1020"/>
                </a:solidFill>
                <a:latin typeface="PingFang SC" pitchFamily="34" charset="0"/>
                <a:ea typeface="PingFang SC" pitchFamily="34" charset="-122"/>
                <a:cs typeface="PingFang SC" pitchFamily="34" charset="-120"/>
              </a:rPr>
              <a:t>对钙钛矿来说，真正限制上限的常常不是“能否到达”，而是“到达后能否稳定转化”。</a:t>
            </a:r>
            <a:endParaRPr lang="en-US" sz="1210" dirty="0"/>
          </a:p>
        </p:txBody>
      </p:sp>
      <p:sp>
        <p:nvSpPr>
          <p:cNvPr id="34" name="Shape 32"/>
          <p:cNvSpPr/>
          <p:nvPr/>
        </p:nvSpPr>
        <p:spPr>
          <a:xfrm>
            <a:off x="566928" y="6419088"/>
            <a:ext cx="11064240" cy="0"/>
          </a:xfrm>
          <a:prstGeom prst="line">
            <a:avLst/>
          </a:prstGeom>
          <a:noFill/>
          <a:ln w="8890">
            <a:solidFill>
              <a:srgbClr val="D7DCE6"/>
            </a:solidFill>
            <a:prstDash val="solid"/>
          </a:ln>
        </p:spPr>
      </p:sp>
      <p:sp>
        <p:nvSpPr>
          <p:cNvPr id="35" name="Text 33"/>
          <p:cNvSpPr/>
          <p:nvPr/>
        </p:nvSpPr>
        <p:spPr>
          <a:xfrm>
            <a:off x="603504" y="6473952"/>
            <a:ext cx="10789920" cy="182880"/>
          </a:xfrm>
          <a:prstGeom prst="rect">
            <a:avLst/>
          </a:prstGeom>
          <a:noFill/>
          <a:ln/>
        </p:spPr>
        <p:txBody>
          <a:bodyPr wrap="square" lIns="0" tIns="0" rIns="0" bIns="0" rtlCol="0" anchor="ctr">
            <a:normAutofit/>
          </a:bodyPr>
          <a:lstStyle/>
          <a:p>
            <a:pPr indent="0" marL="0">
              <a:buNone/>
            </a:pPr>
            <a:r>
              <a:rPr lang="en-US" sz="850" dirty="0">
                <a:solidFill>
                  <a:srgbClr val="667085"/>
                </a:solidFill>
                <a:latin typeface="PingFang SC" pitchFamily="34" charset="0"/>
                <a:ea typeface="PingFang SC" pitchFamily="34" charset="-122"/>
                <a:cs typeface="PingFang SC" pitchFamily="34" charset="-120"/>
              </a:rPr>
              <a:t>直接证据：[1] 10 mbar 粗真空器件；[4] 1 mbar 大面积 CSS；[6] substitution-reaction-limited 机制表述。</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A1020"/>
          </a:solidFill>
          <a:ln w="12700">
            <a:solidFill>
              <a:srgbClr val="0A1020">
                <a:alpha val="0"/>
              </a:srgbClr>
            </a:solidFill>
            <a:prstDash val="solid"/>
          </a:ln>
        </p:spPr>
      </p:sp>
      <p:sp>
        <p:nvSpPr>
          <p:cNvPr id="3" name="Text 1"/>
          <p:cNvSpPr/>
          <p:nvPr/>
        </p:nvSpPr>
        <p:spPr>
          <a:xfrm>
            <a:off x="566928" y="292608"/>
            <a:ext cx="1645920" cy="219456"/>
          </a:xfrm>
          <a:prstGeom prst="rect">
            <a:avLst/>
          </a:prstGeom>
          <a:noFill/>
          <a:ln/>
        </p:spPr>
        <p:txBody>
          <a:bodyPr wrap="square" lIns="0" tIns="0" rIns="0" bIns="0" rtlCol="0" anchor="ctr">
            <a:normAutofit/>
          </a:bodyPr>
          <a:lstStyle/>
          <a:p>
            <a:pPr indent="0" marL="0">
              <a:buNone/>
            </a:pPr>
            <a:r>
              <a:rPr lang="en-US" sz="1000" b="1" dirty="0">
                <a:solidFill>
                  <a:srgbClr val="18B7AE"/>
                </a:solidFill>
                <a:latin typeface="PingFang SC" pitchFamily="34" charset="0"/>
                <a:ea typeface="PingFang SC" pitchFamily="34" charset="-122"/>
                <a:cs typeface="PingFang SC" pitchFamily="34" charset="-120"/>
              </a:rPr>
              <a:t>PRINCIPLE II</a:t>
            </a:r>
            <a:endParaRPr lang="en-US" sz="1000" dirty="0"/>
          </a:p>
        </p:txBody>
      </p:sp>
      <p:sp>
        <p:nvSpPr>
          <p:cNvPr id="4" name="Text 2"/>
          <p:cNvSpPr/>
          <p:nvPr/>
        </p:nvSpPr>
        <p:spPr>
          <a:xfrm>
            <a:off x="11109960" y="237744"/>
            <a:ext cx="502920" cy="274320"/>
          </a:xfrm>
          <a:prstGeom prst="rect">
            <a:avLst/>
          </a:prstGeom>
          <a:noFill/>
          <a:ln/>
        </p:spPr>
        <p:txBody>
          <a:bodyPr wrap="square" lIns="0" tIns="0" rIns="0" bIns="0" rtlCol="0" anchor="ctr">
            <a:normAutofit/>
          </a:bodyPr>
          <a:lstStyle/>
          <a:p>
            <a:pPr algn="r" indent="0" marL="0">
              <a:buNone/>
            </a:pPr>
            <a:r>
              <a:rPr lang="en-US" sz="1400" b="1" dirty="0">
                <a:solidFill>
                  <a:srgbClr val="0A1020"/>
                </a:solidFill>
                <a:latin typeface="PingFang SC" pitchFamily="34" charset="0"/>
                <a:ea typeface="PingFang SC" pitchFamily="34" charset="-122"/>
                <a:cs typeface="PingFang SC" pitchFamily="34" charset="-120"/>
              </a:rPr>
              <a:t>06</a:t>
            </a:r>
            <a:endParaRPr lang="en-US" sz="1400" dirty="0"/>
          </a:p>
        </p:txBody>
      </p:sp>
      <p:sp>
        <p:nvSpPr>
          <p:cNvPr id="5" name="Text 3"/>
          <p:cNvSpPr/>
          <p:nvPr/>
        </p:nvSpPr>
        <p:spPr>
          <a:xfrm>
            <a:off x="566928" y="548640"/>
            <a:ext cx="7680960" cy="402336"/>
          </a:xfrm>
          <a:prstGeom prst="rect">
            <a:avLst/>
          </a:prstGeom>
          <a:noFill/>
          <a:ln/>
        </p:spPr>
        <p:txBody>
          <a:bodyPr wrap="square" lIns="0" tIns="0" rIns="0" bIns="0" rtlCol="0" anchor="ctr">
            <a:normAutofit/>
          </a:bodyPr>
          <a:lstStyle/>
          <a:p>
            <a:pPr indent="0" marL="0">
              <a:buNone/>
            </a:pPr>
            <a:r>
              <a:rPr lang="en-US" sz="2400" b="1" dirty="0">
                <a:solidFill>
                  <a:srgbClr val="0A1020"/>
                </a:solidFill>
                <a:latin typeface="PingFang SC" pitchFamily="34" charset="0"/>
                <a:ea typeface="PingFang SC" pitchFamily="34" charset="-122"/>
                <a:cs typeface="PingFang SC" pitchFamily="34" charset="-120"/>
              </a:rPr>
              <a:t>原理二：钙钛矿不是只靠“蒸”，更靠“转化”</a:t>
            </a:r>
            <a:endParaRPr lang="en-US" sz="2400" dirty="0"/>
          </a:p>
        </p:txBody>
      </p:sp>
      <p:sp>
        <p:nvSpPr>
          <p:cNvPr id="6" name="Text 4"/>
          <p:cNvSpPr/>
          <p:nvPr/>
        </p:nvSpPr>
        <p:spPr>
          <a:xfrm>
            <a:off x="566928" y="960120"/>
            <a:ext cx="8778240" cy="292608"/>
          </a:xfrm>
          <a:prstGeom prst="rect">
            <a:avLst/>
          </a:prstGeom>
          <a:noFill/>
          <a:ln/>
        </p:spPr>
        <p:txBody>
          <a:bodyPr wrap="square" lIns="0" tIns="0" rIns="0" bIns="0" rtlCol="0" anchor="ctr">
            <a:normAutofit/>
          </a:bodyPr>
          <a:lstStyle/>
          <a:p>
            <a:pPr indent="0" marL="0">
              <a:buNone/>
            </a:pPr>
            <a:r>
              <a:rPr lang="en-US" sz="1150" dirty="0">
                <a:solidFill>
                  <a:srgbClr val="667085"/>
                </a:solidFill>
                <a:latin typeface="PingFang SC" pitchFamily="34" charset="0"/>
                <a:ea typeface="PingFang SC" pitchFamily="34" charset="-122"/>
                <a:cs typeface="PingFang SC" pitchFamily="34" charset="-120"/>
              </a:rPr>
              <a:t>把 CSS 当成“气相供料 + 固相反应”问题，很多现象会突然变得合理。</a:t>
            </a:r>
            <a:endParaRPr lang="en-US" sz="1150" dirty="0"/>
          </a:p>
        </p:txBody>
      </p:sp>
      <p:sp>
        <p:nvSpPr>
          <p:cNvPr id="7" name="Shape 5"/>
          <p:cNvSpPr/>
          <p:nvPr/>
        </p:nvSpPr>
        <p:spPr>
          <a:xfrm>
            <a:off x="566928" y="1225296"/>
            <a:ext cx="11064240" cy="0"/>
          </a:xfrm>
          <a:prstGeom prst="line">
            <a:avLst/>
          </a:prstGeom>
          <a:noFill/>
          <a:ln w="12700">
            <a:solidFill>
              <a:srgbClr val="D7DCE6"/>
            </a:solidFill>
            <a:prstDash val="solid"/>
          </a:ln>
        </p:spPr>
      </p:sp>
      <p:sp>
        <p:nvSpPr>
          <p:cNvPr id="8" name="Shape 6"/>
          <p:cNvSpPr/>
          <p:nvPr/>
        </p:nvSpPr>
        <p:spPr>
          <a:xfrm>
            <a:off x="749808" y="1572768"/>
            <a:ext cx="4791456" cy="4572000"/>
          </a:xfrm>
          <a:prstGeom prst="roundRect">
            <a:avLst>
              <a:gd name="adj" fmla="val 1600"/>
            </a:avLst>
          </a:prstGeom>
          <a:solidFill>
            <a:srgbClr val="FFFFFF"/>
          </a:solidFill>
          <a:ln w="12700">
            <a:solidFill>
              <a:srgbClr val="D7DCE6"/>
            </a:solidFill>
            <a:prstDash val="solid"/>
          </a:ln>
        </p:spPr>
      </p:sp>
      <p:sp>
        <p:nvSpPr>
          <p:cNvPr id="9" name="Shape 7"/>
          <p:cNvSpPr/>
          <p:nvPr/>
        </p:nvSpPr>
        <p:spPr>
          <a:xfrm>
            <a:off x="768096" y="1591056"/>
            <a:ext cx="4754880" cy="73152"/>
          </a:xfrm>
          <a:prstGeom prst="rect">
            <a:avLst/>
          </a:prstGeom>
          <a:solidFill>
            <a:srgbClr val="E9A45B"/>
          </a:solidFill>
          <a:ln w="12700">
            <a:solidFill>
              <a:srgbClr val="E9A45B">
                <a:alpha val="0"/>
              </a:srgbClr>
            </a:solidFill>
            <a:prstDash val="solid"/>
          </a:ln>
        </p:spPr>
      </p:sp>
      <p:sp>
        <p:nvSpPr>
          <p:cNvPr id="10" name="Text 8"/>
          <p:cNvSpPr/>
          <p:nvPr/>
        </p:nvSpPr>
        <p:spPr>
          <a:xfrm>
            <a:off x="987552" y="1810512"/>
            <a:ext cx="1005840" cy="201168"/>
          </a:xfrm>
          <a:prstGeom prst="rect">
            <a:avLst/>
          </a:prstGeom>
          <a:noFill/>
          <a:ln/>
        </p:spPr>
        <p:txBody>
          <a:bodyPr wrap="square" lIns="0" tIns="0" rIns="0" bIns="0" rtlCol="0" anchor="ctr">
            <a:normAutofit/>
          </a:bodyPr>
          <a:lstStyle/>
          <a:p>
            <a:pPr indent="0" marL="0">
              <a:buNone/>
            </a:pPr>
            <a:r>
              <a:rPr lang="en-US" sz="1450" b="1" dirty="0">
                <a:solidFill>
                  <a:srgbClr val="111827"/>
                </a:solidFill>
                <a:latin typeface="PingFang SC" pitchFamily="34" charset="0"/>
                <a:ea typeface="PingFang SC" pitchFamily="34" charset="-122"/>
                <a:cs typeface="PingFang SC" pitchFamily="34" charset="-120"/>
              </a:rPr>
              <a:t>转化链条</a:t>
            </a:r>
            <a:endParaRPr lang="en-US" sz="1450" dirty="0"/>
          </a:p>
        </p:txBody>
      </p:sp>
      <p:sp>
        <p:nvSpPr>
          <p:cNvPr id="11" name="Shape 9"/>
          <p:cNvSpPr/>
          <p:nvPr/>
        </p:nvSpPr>
        <p:spPr>
          <a:xfrm>
            <a:off x="1060704" y="2267712"/>
            <a:ext cx="1078992" cy="658368"/>
          </a:xfrm>
          <a:prstGeom prst="roundRect">
            <a:avLst>
              <a:gd name="adj" fmla="val 11111"/>
            </a:avLst>
          </a:prstGeom>
          <a:solidFill>
            <a:srgbClr val="FFF1E1"/>
          </a:solidFill>
          <a:ln w="12700">
            <a:solidFill>
              <a:srgbClr val="D7DCE6"/>
            </a:solidFill>
            <a:prstDash val="solid"/>
          </a:ln>
        </p:spPr>
      </p:sp>
      <p:sp>
        <p:nvSpPr>
          <p:cNvPr id="12" name="Text 10"/>
          <p:cNvSpPr/>
          <p:nvPr/>
        </p:nvSpPr>
        <p:spPr>
          <a:xfrm>
            <a:off x="1133856" y="2468880"/>
            <a:ext cx="932688" cy="219456"/>
          </a:xfrm>
          <a:prstGeom prst="rect">
            <a:avLst/>
          </a:prstGeom>
          <a:noFill/>
          <a:ln/>
        </p:spPr>
        <p:txBody>
          <a:bodyPr wrap="square" lIns="0" tIns="0" rIns="0" bIns="0" rtlCol="0" anchor="ctr">
            <a:normAutofit/>
          </a:bodyPr>
          <a:lstStyle/>
          <a:p>
            <a:pPr algn="ctr" indent="0" marL="0">
              <a:buNone/>
            </a:pPr>
            <a:r>
              <a:rPr lang="en-US" sz="1150" b="1" dirty="0">
                <a:solidFill>
                  <a:srgbClr val="111827"/>
                </a:solidFill>
                <a:latin typeface="PingFang SC" pitchFamily="34" charset="0"/>
                <a:ea typeface="PingFang SC" pitchFamily="34" charset="-122"/>
                <a:cs typeface="PingFang SC" pitchFamily="34" charset="-120"/>
              </a:rPr>
              <a:t>无机骨架</a:t>
            </a:r>
            <a:endParaRPr lang="en-US" sz="1150" dirty="0"/>
          </a:p>
        </p:txBody>
      </p:sp>
      <p:sp>
        <p:nvSpPr>
          <p:cNvPr id="13" name="Shape 11"/>
          <p:cNvSpPr/>
          <p:nvPr/>
        </p:nvSpPr>
        <p:spPr>
          <a:xfrm>
            <a:off x="2377440" y="2267712"/>
            <a:ext cx="1078992" cy="658368"/>
          </a:xfrm>
          <a:prstGeom prst="roundRect">
            <a:avLst>
              <a:gd name="adj" fmla="val 11111"/>
            </a:avLst>
          </a:prstGeom>
          <a:solidFill>
            <a:srgbClr val="D7F6F3"/>
          </a:solidFill>
          <a:ln w="12700">
            <a:solidFill>
              <a:srgbClr val="D7DCE6"/>
            </a:solidFill>
            <a:prstDash val="solid"/>
          </a:ln>
        </p:spPr>
      </p:sp>
      <p:sp>
        <p:nvSpPr>
          <p:cNvPr id="14" name="Text 12"/>
          <p:cNvSpPr/>
          <p:nvPr/>
        </p:nvSpPr>
        <p:spPr>
          <a:xfrm>
            <a:off x="2450592" y="2468880"/>
            <a:ext cx="932688" cy="219456"/>
          </a:xfrm>
          <a:prstGeom prst="rect">
            <a:avLst/>
          </a:prstGeom>
          <a:noFill/>
          <a:ln/>
        </p:spPr>
        <p:txBody>
          <a:bodyPr wrap="square" lIns="0" tIns="0" rIns="0" bIns="0" rtlCol="0" anchor="ctr">
            <a:normAutofit/>
          </a:bodyPr>
          <a:lstStyle/>
          <a:p>
            <a:pPr algn="ctr" indent="0" marL="0">
              <a:buNone/>
            </a:pPr>
            <a:r>
              <a:rPr lang="en-US" sz="1150" b="1" dirty="0">
                <a:solidFill>
                  <a:srgbClr val="111827"/>
                </a:solidFill>
                <a:latin typeface="PingFang SC" pitchFamily="34" charset="0"/>
                <a:ea typeface="PingFang SC" pitchFamily="34" charset="-122"/>
                <a:cs typeface="PingFang SC" pitchFamily="34" charset="-120"/>
              </a:rPr>
              <a:t>有机源供料</a:t>
            </a:r>
            <a:endParaRPr lang="en-US" sz="1150" dirty="0"/>
          </a:p>
        </p:txBody>
      </p:sp>
      <p:sp>
        <p:nvSpPr>
          <p:cNvPr id="15" name="Shape 13"/>
          <p:cNvSpPr/>
          <p:nvPr/>
        </p:nvSpPr>
        <p:spPr>
          <a:xfrm>
            <a:off x="3694176" y="2267712"/>
            <a:ext cx="1078992" cy="658368"/>
          </a:xfrm>
          <a:prstGeom prst="roundRect">
            <a:avLst>
              <a:gd name="adj" fmla="val 11111"/>
            </a:avLst>
          </a:prstGeom>
          <a:solidFill>
            <a:srgbClr val="E8EFFF"/>
          </a:solidFill>
          <a:ln w="12700">
            <a:solidFill>
              <a:srgbClr val="D7DCE6"/>
            </a:solidFill>
            <a:prstDash val="solid"/>
          </a:ln>
        </p:spPr>
      </p:sp>
      <p:sp>
        <p:nvSpPr>
          <p:cNvPr id="16" name="Text 14"/>
          <p:cNvSpPr/>
          <p:nvPr/>
        </p:nvSpPr>
        <p:spPr>
          <a:xfrm>
            <a:off x="3767328" y="2468880"/>
            <a:ext cx="932688" cy="219456"/>
          </a:xfrm>
          <a:prstGeom prst="rect">
            <a:avLst/>
          </a:prstGeom>
          <a:noFill/>
          <a:ln/>
        </p:spPr>
        <p:txBody>
          <a:bodyPr wrap="square" lIns="0" tIns="0" rIns="0" bIns="0" rtlCol="0" anchor="ctr">
            <a:normAutofit/>
          </a:bodyPr>
          <a:lstStyle/>
          <a:p>
            <a:pPr algn="ctr" indent="0" marL="0">
              <a:buNone/>
            </a:pPr>
            <a:r>
              <a:rPr lang="en-US" sz="1150" b="1" dirty="0">
                <a:solidFill>
                  <a:srgbClr val="111827"/>
                </a:solidFill>
                <a:latin typeface="PingFang SC" pitchFamily="34" charset="0"/>
                <a:ea typeface="PingFang SC" pitchFamily="34" charset="-122"/>
                <a:cs typeface="PingFang SC" pitchFamily="34" charset="-120"/>
              </a:rPr>
              <a:t>反应前沿推进</a:t>
            </a:r>
            <a:endParaRPr lang="en-US" sz="1150" dirty="0"/>
          </a:p>
        </p:txBody>
      </p:sp>
      <p:sp>
        <p:nvSpPr>
          <p:cNvPr id="17" name="Shape 15"/>
          <p:cNvSpPr/>
          <p:nvPr/>
        </p:nvSpPr>
        <p:spPr>
          <a:xfrm>
            <a:off x="2377440" y="3493008"/>
            <a:ext cx="1078992" cy="658368"/>
          </a:xfrm>
          <a:prstGeom prst="roundRect">
            <a:avLst>
              <a:gd name="adj" fmla="val 11111"/>
            </a:avLst>
          </a:prstGeom>
          <a:solidFill>
            <a:srgbClr val="FCEAF0"/>
          </a:solidFill>
          <a:ln w="12700">
            <a:solidFill>
              <a:srgbClr val="D7DCE6"/>
            </a:solidFill>
            <a:prstDash val="solid"/>
          </a:ln>
        </p:spPr>
      </p:sp>
      <p:sp>
        <p:nvSpPr>
          <p:cNvPr id="18" name="Text 16"/>
          <p:cNvSpPr/>
          <p:nvPr/>
        </p:nvSpPr>
        <p:spPr>
          <a:xfrm>
            <a:off x="2450592" y="3694176"/>
            <a:ext cx="932688" cy="219456"/>
          </a:xfrm>
          <a:prstGeom prst="rect">
            <a:avLst/>
          </a:prstGeom>
          <a:noFill/>
          <a:ln/>
        </p:spPr>
        <p:txBody>
          <a:bodyPr wrap="square" lIns="0" tIns="0" rIns="0" bIns="0" rtlCol="0" anchor="ctr">
            <a:normAutofit/>
          </a:bodyPr>
          <a:lstStyle/>
          <a:p>
            <a:pPr algn="ctr" indent="0" marL="0">
              <a:buNone/>
            </a:pPr>
            <a:r>
              <a:rPr lang="en-US" sz="1150" b="1" dirty="0">
                <a:solidFill>
                  <a:srgbClr val="111827"/>
                </a:solidFill>
                <a:latin typeface="PingFang SC" pitchFamily="34" charset="0"/>
                <a:ea typeface="PingFang SC" pitchFamily="34" charset="-122"/>
                <a:cs typeface="PingFang SC" pitchFamily="34" charset="-120"/>
              </a:rPr>
              <a:t>晶粒长大</a:t>
            </a:r>
            <a:endParaRPr lang="en-US" sz="1150" dirty="0"/>
          </a:p>
        </p:txBody>
      </p:sp>
      <p:sp>
        <p:nvSpPr>
          <p:cNvPr id="19" name="Shape 17"/>
          <p:cNvSpPr/>
          <p:nvPr/>
        </p:nvSpPr>
        <p:spPr>
          <a:xfrm>
            <a:off x="3694176" y="3493008"/>
            <a:ext cx="1078992" cy="658368"/>
          </a:xfrm>
          <a:prstGeom prst="roundRect">
            <a:avLst>
              <a:gd name="adj" fmla="val 11111"/>
            </a:avLst>
          </a:prstGeom>
          <a:solidFill>
            <a:srgbClr val="E6F7EC"/>
          </a:solidFill>
          <a:ln w="12700">
            <a:solidFill>
              <a:srgbClr val="D7DCE6"/>
            </a:solidFill>
            <a:prstDash val="solid"/>
          </a:ln>
        </p:spPr>
      </p:sp>
      <p:sp>
        <p:nvSpPr>
          <p:cNvPr id="20" name="Text 18"/>
          <p:cNvSpPr/>
          <p:nvPr/>
        </p:nvSpPr>
        <p:spPr>
          <a:xfrm>
            <a:off x="3767328" y="3694176"/>
            <a:ext cx="932688" cy="219456"/>
          </a:xfrm>
          <a:prstGeom prst="rect">
            <a:avLst/>
          </a:prstGeom>
          <a:noFill/>
          <a:ln/>
        </p:spPr>
        <p:txBody>
          <a:bodyPr wrap="square" lIns="0" tIns="0" rIns="0" bIns="0" rtlCol="0" anchor="ctr">
            <a:normAutofit/>
          </a:bodyPr>
          <a:lstStyle/>
          <a:p>
            <a:pPr algn="ctr" indent="0" marL="0">
              <a:buNone/>
            </a:pPr>
            <a:r>
              <a:rPr lang="en-US" sz="1150" b="1" dirty="0">
                <a:solidFill>
                  <a:srgbClr val="111827"/>
                </a:solidFill>
                <a:latin typeface="PingFang SC" pitchFamily="34" charset="0"/>
                <a:ea typeface="PingFang SC" pitchFamily="34" charset="-122"/>
                <a:cs typeface="PingFang SC" pitchFamily="34" charset="-120"/>
              </a:rPr>
              <a:t>目标相钙钛矿</a:t>
            </a:r>
            <a:endParaRPr lang="en-US" sz="1150" dirty="0"/>
          </a:p>
        </p:txBody>
      </p:sp>
      <p:sp>
        <p:nvSpPr>
          <p:cNvPr id="21" name="Shape 19"/>
          <p:cNvSpPr/>
          <p:nvPr/>
        </p:nvSpPr>
        <p:spPr>
          <a:xfrm>
            <a:off x="2139696" y="2596896"/>
            <a:ext cx="201168" cy="0"/>
          </a:xfrm>
          <a:prstGeom prst="line">
            <a:avLst/>
          </a:prstGeom>
          <a:noFill/>
          <a:ln w="15240">
            <a:solidFill>
              <a:srgbClr val="0A1020"/>
            </a:solidFill>
            <a:prstDash val="solid"/>
          </a:ln>
        </p:spPr>
      </p:sp>
      <p:sp>
        <p:nvSpPr>
          <p:cNvPr id="22" name="Shape 20"/>
          <p:cNvSpPr/>
          <p:nvPr/>
        </p:nvSpPr>
        <p:spPr>
          <a:xfrm>
            <a:off x="3456432" y="2596896"/>
            <a:ext cx="201168" cy="0"/>
          </a:xfrm>
          <a:prstGeom prst="line">
            <a:avLst/>
          </a:prstGeom>
          <a:noFill/>
          <a:ln w="15240">
            <a:solidFill>
              <a:srgbClr val="0A1020"/>
            </a:solidFill>
            <a:prstDash val="solid"/>
          </a:ln>
        </p:spPr>
      </p:sp>
      <p:sp>
        <p:nvSpPr>
          <p:cNvPr id="23" name="Shape 21"/>
          <p:cNvSpPr/>
          <p:nvPr/>
        </p:nvSpPr>
        <p:spPr>
          <a:xfrm>
            <a:off x="2907792" y="2926080"/>
            <a:ext cx="0" cy="530352"/>
          </a:xfrm>
          <a:prstGeom prst="line">
            <a:avLst/>
          </a:prstGeom>
          <a:noFill/>
          <a:ln w="15240">
            <a:solidFill>
              <a:srgbClr val="0A1020"/>
            </a:solidFill>
            <a:prstDash val="solid"/>
          </a:ln>
        </p:spPr>
      </p:sp>
      <p:sp>
        <p:nvSpPr>
          <p:cNvPr id="24" name="Shape 22"/>
          <p:cNvSpPr/>
          <p:nvPr/>
        </p:nvSpPr>
        <p:spPr>
          <a:xfrm>
            <a:off x="4224528" y="3822192"/>
            <a:ext cx="201168" cy="0"/>
          </a:xfrm>
          <a:prstGeom prst="line">
            <a:avLst/>
          </a:prstGeom>
          <a:noFill/>
          <a:ln w="15240">
            <a:solidFill>
              <a:srgbClr val="0A1020"/>
            </a:solidFill>
            <a:prstDash val="solid"/>
          </a:ln>
        </p:spPr>
      </p:sp>
      <p:sp>
        <p:nvSpPr>
          <p:cNvPr id="25" name="Shape 23"/>
          <p:cNvSpPr/>
          <p:nvPr/>
        </p:nvSpPr>
        <p:spPr>
          <a:xfrm>
            <a:off x="1042416" y="4736592"/>
            <a:ext cx="4352544" cy="877824"/>
          </a:xfrm>
          <a:prstGeom prst="roundRect">
            <a:avLst>
              <a:gd name="adj" fmla="val 8333"/>
            </a:avLst>
          </a:prstGeom>
          <a:solidFill>
            <a:srgbClr val="162039"/>
          </a:solidFill>
          <a:ln w="12700">
            <a:solidFill>
              <a:srgbClr val="162039"/>
            </a:solidFill>
            <a:prstDash val="solid"/>
          </a:ln>
        </p:spPr>
      </p:sp>
      <p:sp>
        <p:nvSpPr>
          <p:cNvPr id="26" name="Text 24"/>
          <p:cNvSpPr/>
          <p:nvPr/>
        </p:nvSpPr>
        <p:spPr>
          <a:xfrm>
            <a:off x="1298448" y="4992624"/>
            <a:ext cx="3840480" cy="274320"/>
          </a:xfrm>
          <a:prstGeom prst="rect">
            <a:avLst/>
          </a:prstGeom>
          <a:noFill/>
          <a:ln/>
        </p:spPr>
        <p:txBody>
          <a:bodyPr wrap="square" lIns="0" tIns="0" rIns="0" bIns="0" rtlCol="0" anchor="ctr">
            <a:normAutofit/>
          </a:bodyPr>
          <a:lstStyle/>
          <a:p>
            <a:pPr algn="ctr" indent="0" marL="0">
              <a:buNone/>
            </a:pPr>
            <a:r>
              <a:rPr lang="en-US" sz="1220" b="1" dirty="0">
                <a:solidFill>
                  <a:srgbClr val="FFFFFF"/>
                </a:solidFill>
                <a:latin typeface="PingFang SC" pitchFamily="34" charset="0"/>
                <a:ea typeface="PingFang SC" pitchFamily="34" charset="-122"/>
                <a:cs typeface="PingFang SC" pitchFamily="34" charset="-120"/>
              </a:rPr>
              <a:t>这也是为什么 source chemistry、界面状态与相组成控制会比“单纯提高蒸发速率”更重要。</a:t>
            </a:r>
            <a:endParaRPr lang="en-US" sz="1220" dirty="0"/>
          </a:p>
        </p:txBody>
      </p:sp>
      <p:sp>
        <p:nvSpPr>
          <p:cNvPr id="27" name="Shape 25"/>
          <p:cNvSpPr/>
          <p:nvPr/>
        </p:nvSpPr>
        <p:spPr>
          <a:xfrm>
            <a:off x="5779008" y="1572768"/>
            <a:ext cx="5669280" cy="4572000"/>
          </a:xfrm>
          <a:prstGeom prst="roundRect">
            <a:avLst>
              <a:gd name="adj" fmla="val 1600"/>
            </a:avLst>
          </a:prstGeom>
          <a:solidFill>
            <a:srgbClr val="FFFFFF"/>
          </a:solidFill>
          <a:ln w="12700">
            <a:solidFill>
              <a:srgbClr val="D7DCE6"/>
            </a:solidFill>
            <a:prstDash val="solid"/>
          </a:ln>
        </p:spPr>
      </p:sp>
      <p:sp>
        <p:nvSpPr>
          <p:cNvPr id="28" name="Shape 26"/>
          <p:cNvSpPr/>
          <p:nvPr/>
        </p:nvSpPr>
        <p:spPr>
          <a:xfrm>
            <a:off x="5797296" y="1591056"/>
            <a:ext cx="5632704" cy="73152"/>
          </a:xfrm>
          <a:prstGeom prst="rect">
            <a:avLst/>
          </a:prstGeom>
          <a:solidFill>
            <a:srgbClr val="18B7AE"/>
          </a:solidFill>
          <a:ln w="12700">
            <a:solidFill>
              <a:srgbClr val="18B7AE">
                <a:alpha val="0"/>
              </a:srgbClr>
            </a:solidFill>
            <a:prstDash val="solid"/>
          </a:ln>
        </p:spPr>
      </p:sp>
      <p:sp>
        <p:nvSpPr>
          <p:cNvPr id="29" name="Text 27"/>
          <p:cNvSpPr/>
          <p:nvPr/>
        </p:nvSpPr>
        <p:spPr>
          <a:xfrm>
            <a:off x="5998464" y="1810512"/>
            <a:ext cx="2286000" cy="201168"/>
          </a:xfrm>
          <a:prstGeom prst="rect">
            <a:avLst/>
          </a:prstGeom>
          <a:noFill/>
          <a:ln/>
        </p:spPr>
        <p:txBody>
          <a:bodyPr wrap="square" lIns="0" tIns="0" rIns="0" bIns="0" rtlCol="0" anchor="ctr">
            <a:normAutofit/>
          </a:bodyPr>
          <a:lstStyle/>
          <a:p>
            <a:pPr indent="0" marL="0">
              <a:buNone/>
            </a:pPr>
            <a:r>
              <a:rPr lang="en-US" sz="1450" b="1" dirty="0">
                <a:solidFill>
                  <a:srgbClr val="111827"/>
                </a:solidFill>
                <a:latin typeface="PingFang SC" pitchFamily="34" charset="0"/>
                <a:ea typeface="PingFang SC" pitchFamily="34" charset="-122"/>
                <a:cs typeface="PingFang SC" pitchFamily="34" charset="-120"/>
              </a:rPr>
              <a:t>证据怎么支持这个判断</a:t>
            </a:r>
            <a:endParaRPr lang="en-US" sz="1450" dirty="0"/>
          </a:p>
        </p:txBody>
      </p:sp>
      <p:sp>
        <p:nvSpPr>
          <p:cNvPr id="30" name="Shape 28"/>
          <p:cNvSpPr/>
          <p:nvPr/>
        </p:nvSpPr>
        <p:spPr>
          <a:xfrm>
            <a:off x="6016752" y="2322576"/>
            <a:ext cx="91440" cy="91440"/>
          </a:xfrm>
          <a:prstGeom prst="ellipse">
            <a:avLst/>
          </a:prstGeom>
          <a:solidFill>
            <a:srgbClr val="18B7AE"/>
          </a:solidFill>
          <a:ln w="12700">
            <a:solidFill>
              <a:srgbClr val="18B7AE">
                <a:alpha val="0"/>
              </a:srgbClr>
            </a:solidFill>
            <a:prstDash val="solid"/>
          </a:ln>
        </p:spPr>
      </p:sp>
      <p:sp>
        <p:nvSpPr>
          <p:cNvPr id="31" name="Text 29"/>
          <p:cNvSpPr/>
          <p:nvPr/>
        </p:nvSpPr>
        <p:spPr>
          <a:xfrm>
            <a:off x="6181344" y="2231136"/>
            <a:ext cx="4864608" cy="384048"/>
          </a:xfrm>
          <a:prstGeom prst="rect">
            <a:avLst/>
          </a:prstGeom>
          <a:noFill/>
          <a:ln/>
        </p:spPr>
        <p:txBody>
          <a:bodyPr wrap="square" lIns="0" tIns="0" rIns="0" bIns="0" rtlCol="0" anchor="ctr">
            <a:normAutofit/>
          </a:bodyPr>
          <a:lstStyle/>
          <a:p>
            <a:pPr indent="0" marL="0">
              <a:buNone/>
            </a:pPr>
            <a:r>
              <a:rPr lang="en-US" sz="1180" dirty="0">
                <a:solidFill>
                  <a:srgbClr val="667085"/>
                </a:solidFill>
                <a:latin typeface="PingFang SC" pitchFamily="34" charset="0"/>
                <a:ea typeface="PingFang SC" pitchFamily="34" charset="-122"/>
                <a:cs typeface="PingFang SC" pitchFamily="34" charset="-120"/>
              </a:rPr>
              <a:t>2020 的 MAPbBr3 工作采用“PbBr2 先成层、再用 MABr 近场供料”的两步 CSS 路线，本身就说明转化是主线。[2]</a:t>
            </a:r>
            <a:endParaRPr lang="en-US" sz="1180" dirty="0"/>
          </a:p>
        </p:txBody>
      </p:sp>
      <p:sp>
        <p:nvSpPr>
          <p:cNvPr id="32" name="Shape 30"/>
          <p:cNvSpPr/>
          <p:nvPr/>
        </p:nvSpPr>
        <p:spPr>
          <a:xfrm>
            <a:off x="6016752" y="3072384"/>
            <a:ext cx="91440" cy="91440"/>
          </a:xfrm>
          <a:prstGeom prst="ellipse">
            <a:avLst/>
          </a:prstGeom>
          <a:solidFill>
            <a:srgbClr val="18B7AE"/>
          </a:solidFill>
          <a:ln w="12700">
            <a:solidFill>
              <a:srgbClr val="18B7AE">
                <a:alpha val="0"/>
              </a:srgbClr>
            </a:solidFill>
            <a:prstDash val="solid"/>
          </a:ln>
        </p:spPr>
      </p:sp>
      <p:sp>
        <p:nvSpPr>
          <p:cNvPr id="33" name="Text 31"/>
          <p:cNvSpPr/>
          <p:nvPr/>
        </p:nvSpPr>
        <p:spPr>
          <a:xfrm>
            <a:off x="6181344" y="2980944"/>
            <a:ext cx="4864608" cy="384048"/>
          </a:xfrm>
          <a:prstGeom prst="rect">
            <a:avLst/>
          </a:prstGeom>
          <a:noFill/>
          <a:ln/>
        </p:spPr>
        <p:txBody>
          <a:bodyPr wrap="square" lIns="0" tIns="0" rIns="0" bIns="0" rtlCol="0" anchor="ctr">
            <a:normAutofit/>
          </a:bodyPr>
          <a:lstStyle/>
          <a:p>
            <a:pPr indent="0" marL="0">
              <a:buNone/>
            </a:pPr>
            <a:r>
              <a:rPr lang="en-US" sz="1180" dirty="0">
                <a:solidFill>
                  <a:srgbClr val="667085"/>
                </a:solidFill>
                <a:latin typeface="PingFang SC" pitchFamily="34" charset="0"/>
                <a:ea typeface="PingFang SC" pitchFamily="34" charset="-122"/>
                <a:cs typeface="PingFang SC" pitchFamily="34" charset="-120"/>
              </a:rPr>
              <a:t>2024 ACS Energy Letters 用可多次复用的 FAI pellet 做有机源，核心解决的是 source stability，而不是单纯的蒸发装置问题。[1]</a:t>
            </a:r>
            <a:endParaRPr lang="en-US" sz="1180" dirty="0"/>
          </a:p>
        </p:txBody>
      </p:sp>
      <p:sp>
        <p:nvSpPr>
          <p:cNvPr id="34" name="Shape 32"/>
          <p:cNvSpPr/>
          <p:nvPr/>
        </p:nvSpPr>
        <p:spPr>
          <a:xfrm>
            <a:off x="6016752" y="3822192"/>
            <a:ext cx="91440" cy="91440"/>
          </a:xfrm>
          <a:prstGeom prst="ellipse">
            <a:avLst/>
          </a:prstGeom>
          <a:solidFill>
            <a:srgbClr val="18B7AE"/>
          </a:solidFill>
          <a:ln w="12700">
            <a:solidFill>
              <a:srgbClr val="18B7AE">
                <a:alpha val="0"/>
              </a:srgbClr>
            </a:solidFill>
            <a:prstDash val="solid"/>
          </a:ln>
        </p:spPr>
      </p:sp>
      <p:sp>
        <p:nvSpPr>
          <p:cNvPr id="35" name="Text 33"/>
          <p:cNvSpPr/>
          <p:nvPr/>
        </p:nvSpPr>
        <p:spPr>
          <a:xfrm>
            <a:off x="6181344" y="3730752"/>
            <a:ext cx="4864608" cy="384048"/>
          </a:xfrm>
          <a:prstGeom prst="rect">
            <a:avLst/>
          </a:prstGeom>
          <a:noFill/>
          <a:ln/>
        </p:spPr>
        <p:txBody>
          <a:bodyPr wrap="square" lIns="0" tIns="0" rIns="0" bIns="0" rtlCol="0" anchor="ctr">
            <a:normAutofit/>
          </a:bodyPr>
          <a:lstStyle/>
          <a:p>
            <a:pPr indent="0" marL="0">
              <a:buNone/>
            </a:pPr>
            <a:r>
              <a:rPr lang="en-US" sz="1180" dirty="0">
                <a:solidFill>
                  <a:srgbClr val="667085"/>
                </a:solidFill>
                <a:latin typeface="PingFang SC" pitchFamily="34" charset="0"/>
                <a:ea typeface="PingFang SC" pitchFamily="34" charset="-122"/>
                <a:cs typeface="PingFang SC" pitchFamily="34" charset="-120"/>
              </a:rPr>
              <a:t>2022 close-space annealing 表明，即便不走 sublimation，只要把中间相置于受限空间中，也能显著放大晶粒、提升结晶与延长寿命。[5]</a:t>
            </a:r>
            <a:endParaRPr lang="en-US" sz="1180" dirty="0"/>
          </a:p>
        </p:txBody>
      </p:sp>
      <p:sp>
        <p:nvSpPr>
          <p:cNvPr id="36" name="Shape 34"/>
          <p:cNvSpPr/>
          <p:nvPr/>
        </p:nvSpPr>
        <p:spPr>
          <a:xfrm>
            <a:off x="6016752" y="4572000"/>
            <a:ext cx="91440" cy="91440"/>
          </a:xfrm>
          <a:prstGeom prst="ellipse">
            <a:avLst/>
          </a:prstGeom>
          <a:solidFill>
            <a:srgbClr val="18B7AE"/>
          </a:solidFill>
          <a:ln w="12700">
            <a:solidFill>
              <a:srgbClr val="18B7AE">
                <a:alpha val="0"/>
              </a:srgbClr>
            </a:solidFill>
            <a:prstDash val="solid"/>
          </a:ln>
        </p:spPr>
      </p:sp>
      <p:sp>
        <p:nvSpPr>
          <p:cNvPr id="37" name="Text 35"/>
          <p:cNvSpPr/>
          <p:nvPr/>
        </p:nvSpPr>
        <p:spPr>
          <a:xfrm>
            <a:off x="6181344" y="4480560"/>
            <a:ext cx="4864608" cy="384048"/>
          </a:xfrm>
          <a:prstGeom prst="rect">
            <a:avLst/>
          </a:prstGeom>
          <a:noFill/>
          <a:ln/>
        </p:spPr>
        <p:txBody>
          <a:bodyPr wrap="square" lIns="0" tIns="0" rIns="0" bIns="0" rtlCol="0" anchor="ctr">
            <a:normAutofit/>
          </a:bodyPr>
          <a:lstStyle/>
          <a:p>
            <a:pPr indent="0" marL="0">
              <a:buNone/>
            </a:pPr>
            <a:r>
              <a:rPr lang="en-US" sz="1180" dirty="0">
                <a:solidFill>
                  <a:srgbClr val="667085"/>
                </a:solidFill>
                <a:latin typeface="PingFang SC" pitchFamily="34" charset="0"/>
                <a:ea typeface="PingFang SC" pitchFamily="34" charset="-122"/>
                <a:cs typeface="PingFang SC" pitchFamily="34" charset="-120"/>
              </a:rPr>
              <a:t>2026 的宽带隙 CSS 进一步把这一点说清：它已进入 substitution-reaction-limited 语境。[6]</a:t>
            </a:r>
            <a:endParaRPr lang="en-US" sz="1180" dirty="0"/>
          </a:p>
        </p:txBody>
      </p:sp>
      <p:sp>
        <p:nvSpPr>
          <p:cNvPr id="38" name="Shape 36"/>
          <p:cNvSpPr/>
          <p:nvPr/>
        </p:nvSpPr>
        <p:spPr>
          <a:xfrm>
            <a:off x="566928" y="6419088"/>
            <a:ext cx="11064240" cy="0"/>
          </a:xfrm>
          <a:prstGeom prst="line">
            <a:avLst/>
          </a:prstGeom>
          <a:noFill/>
          <a:ln w="8890">
            <a:solidFill>
              <a:srgbClr val="D7DCE6"/>
            </a:solidFill>
            <a:prstDash val="solid"/>
          </a:ln>
        </p:spPr>
      </p:sp>
      <p:sp>
        <p:nvSpPr>
          <p:cNvPr id="39" name="Text 37"/>
          <p:cNvSpPr/>
          <p:nvPr/>
        </p:nvSpPr>
        <p:spPr>
          <a:xfrm>
            <a:off x="603504" y="6473952"/>
            <a:ext cx="10789920" cy="182880"/>
          </a:xfrm>
          <a:prstGeom prst="rect">
            <a:avLst/>
          </a:prstGeom>
          <a:noFill/>
          <a:ln/>
        </p:spPr>
        <p:txBody>
          <a:bodyPr wrap="square" lIns="0" tIns="0" rIns="0" bIns="0" rtlCol="0" anchor="ctr">
            <a:normAutofit/>
          </a:bodyPr>
          <a:lstStyle/>
          <a:p>
            <a:pPr indent="0" marL="0">
              <a:buNone/>
            </a:pPr>
            <a:r>
              <a:rPr lang="en-US" sz="850" dirty="0">
                <a:solidFill>
                  <a:srgbClr val="667085"/>
                </a:solidFill>
                <a:latin typeface="PingFang SC" pitchFamily="34" charset="0"/>
                <a:ea typeface="PingFang SC" pitchFamily="34" charset="-122"/>
                <a:cs typeface="PingFang SC" pitchFamily="34" charset="-120"/>
              </a:rPr>
              <a:t>关键支持文献：[1][2][5][6]。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A1020"/>
          </a:solidFill>
          <a:ln w="12700">
            <a:solidFill>
              <a:srgbClr val="0A1020">
                <a:alpha val="0"/>
              </a:srgbClr>
            </a:solidFill>
            <a:prstDash val="solid"/>
          </a:ln>
        </p:spPr>
      </p:sp>
      <p:sp>
        <p:nvSpPr>
          <p:cNvPr id="3" name="Text 1"/>
          <p:cNvSpPr/>
          <p:nvPr/>
        </p:nvSpPr>
        <p:spPr>
          <a:xfrm>
            <a:off x="566928" y="292608"/>
            <a:ext cx="1645920" cy="219456"/>
          </a:xfrm>
          <a:prstGeom prst="rect">
            <a:avLst/>
          </a:prstGeom>
          <a:noFill/>
          <a:ln/>
        </p:spPr>
        <p:txBody>
          <a:bodyPr wrap="square" lIns="0" tIns="0" rIns="0" bIns="0" rtlCol="0" anchor="ctr">
            <a:normAutofit/>
          </a:bodyPr>
          <a:lstStyle/>
          <a:p>
            <a:pPr indent="0" marL="0">
              <a:buNone/>
            </a:pPr>
            <a:r>
              <a:rPr lang="en-US" sz="1000" b="1" dirty="0">
                <a:solidFill>
                  <a:srgbClr val="18B7AE"/>
                </a:solidFill>
                <a:latin typeface="PingFang SC" pitchFamily="34" charset="0"/>
                <a:ea typeface="PingFang SC" pitchFamily="34" charset="-122"/>
                <a:cs typeface="PingFang SC" pitchFamily="34" charset="-120"/>
              </a:rPr>
              <a:t>EVIDENCE</a:t>
            </a:r>
            <a:endParaRPr lang="en-US" sz="1000" dirty="0"/>
          </a:p>
        </p:txBody>
      </p:sp>
      <p:sp>
        <p:nvSpPr>
          <p:cNvPr id="4" name="Text 2"/>
          <p:cNvSpPr/>
          <p:nvPr/>
        </p:nvSpPr>
        <p:spPr>
          <a:xfrm>
            <a:off x="11109960" y="237744"/>
            <a:ext cx="502920" cy="274320"/>
          </a:xfrm>
          <a:prstGeom prst="rect">
            <a:avLst/>
          </a:prstGeom>
          <a:noFill/>
          <a:ln/>
        </p:spPr>
        <p:txBody>
          <a:bodyPr wrap="square" lIns="0" tIns="0" rIns="0" bIns="0" rtlCol="0" anchor="ctr">
            <a:normAutofit/>
          </a:bodyPr>
          <a:lstStyle/>
          <a:p>
            <a:pPr algn="r" indent="0" marL="0">
              <a:buNone/>
            </a:pPr>
            <a:r>
              <a:rPr lang="en-US" sz="1400" b="1" dirty="0">
                <a:solidFill>
                  <a:srgbClr val="0A1020"/>
                </a:solidFill>
                <a:latin typeface="PingFang SC" pitchFamily="34" charset="0"/>
                <a:ea typeface="PingFang SC" pitchFamily="34" charset="-122"/>
                <a:cs typeface="PingFang SC" pitchFamily="34" charset="-120"/>
              </a:rPr>
              <a:t>07</a:t>
            </a:r>
            <a:endParaRPr lang="en-US" sz="1400" dirty="0"/>
          </a:p>
        </p:txBody>
      </p:sp>
      <p:sp>
        <p:nvSpPr>
          <p:cNvPr id="5" name="Text 3"/>
          <p:cNvSpPr/>
          <p:nvPr/>
        </p:nvSpPr>
        <p:spPr>
          <a:xfrm>
            <a:off x="566928" y="548640"/>
            <a:ext cx="7680960" cy="402336"/>
          </a:xfrm>
          <a:prstGeom prst="rect">
            <a:avLst/>
          </a:prstGeom>
          <a:noFill/>
          <a:ln/>
        </p:spPr>
        <p:txBody>
          <a:bodyPr wrap="square" lIns="0" tIns="0" rIns="0" bIns="0" rtlCol="0" anchor="ctr">
            <a:normAutofit/>
          </a:bodyPr>
          <a:lstStyle/>
          <a:p>
            <a:pPr indent="0" marL="0">
              <a:buNone/>
            </a:pPr>
            <a:r>
              <a:rPr lang="en-US" sz="2400" b="1" dirty="0">
                <a:solidFill>
                  <a:srgbClr val="0A1020"/>
                </a:solidFill>
                <a:latin typeface="PingFang SC" pitchFamily="34" charset="0"/>
                <a:ea typeface="PingFang SC" pitchFamily="34" charset="-122"/>
                <a:cs typeface="PingFang SC" pitchFamily="34" charset="-120"/>
              </a:rPr>
              <a:t>代表性文献证据</a:t>
            </a:r>
            <a:endParaRPr lang="en-US" sz="2400" dirty="0"/>
          </a:p>
        </p:txBody>
      </p:sp>
      <p:sp>
        <p:nvSpPr>
          <p:cNvPr id="6" name="Text 4"/>
          <p:cNvSpPr/>
          <p:nvPr/>
        </p:nvSpPr>
        <p:spPr>
          <a:xfrm>
            <a:off x="566928" y="960120"/>
            <a:ext cx="8778240" cy="292608"/>
          </a:xfrm>
          <a:prstGeom prst="rect">
            <a:avLst/>
          </a:prstGeom>
          <a:noFill/>
          <a:ln/>
        </p:spPr>
        <p:txBody>
          <a:bodyPr wrap="square" lIns="0" tIns="0" rIns="0" bIns="0" rtlCol="0" anchor="ctr">
            <a:normAutofit/>
          </a:bodyPr>
          <a:lstStyle/>
          <a:p>
            <a:pPr indent="0" marL="0">
              <a:buNone/>
            </a:pPr>
            <a:r>
              <a:rPr lang="en-US" sz="1150" dirty="0">
                <a:solidFill>
                  <a:srgbClr val="667085"/>
                </a:solidFill>
                <a:latin typeface="PingFang SC" pitchFamily="34" charset="0"/>
                <a:ea typeface="PingFang SC" pitchFamily="34" charset="-122"/>
                <a:cs typeface="PingFang SC" pitchFamily="34" charset="-120"/>
              </a:rPr>
              <a:t>把重要结果按时间铺开，比只看一篇 paper 更容易判断这条路线到底是“偶然有效”还是“持续变好”。</a:t>
            </a:r>
            <a:endParaRPr lang="en-US" sz="1150" dirty="0"/>
          </a:p>
        </p:txBody>
      </p:sp>
      <p:sp>
        <p:nvSpPr>
          <p:cNvPr id="7" name="Shape 5"/>
          <p:cNvSpPr/>
          <p:nvPr/>
        </p:nvSpPr>
        <p:spPr>
          <a:xfrm>
            <a:off x="566928" y="1225296"/>
            <a:ext cx="11064240" cy="0"/>
          </a:xfrm>
          <a:prstGeom prst="line">
            <a:avLst/>
          </a:prstGeom>
          <a:noFill/>
          <a:ln w="12700">
            <a:solidFill>
              <a:srgbClr val="D7DCE6"/>
            </a:solidFill>
            <a:prstDash val="solid"/>
          </a:ln>
        </p:spPr>
      </p:sp>
      <p:sp>
        <p:nvSpPr>
          <p:cNvPr id="8" name="Shape 6"/>
          <p:cNvSpPr/>
          <p:nvPr/>
        </p:nvSpPr>
        <p:spPr>
          <a:xfrm>
            <a:off x="1024128" y="3712464"/>
            <a:ext cx="10058400" cy="0"/>
          </a:xfrm>
          <a:prstGeom prst="line">
            <a:avLst/>
          </a:prstGeom>
          <a:noFill/>
          <a:ln w="16510">
            <a:solidFill>
              <a:srgbClr val="D7DCE6"/>
            </a:solidFill>
            <a:prstDash val="solid"/>
          </a:ln>
        </p:spPr>
      </p:sp>
      <p:sp>
        <p:nvSpPr>
          <p:cNvPr id="9" name="Shape 7"/>
          <p:cNvSpPr/>
          <p:nvPr/>
        </p:nvSpPr>
        <p:spPr>
          <a:xfrm>
            <a:off x="658368" y="2295144"/>
            <a:ext cx="1792224" cy="1170432"/>
          </a:xfrm>
          <a:prstGeom prst="roundRect">
            <a:avLst>
              <a:gd name="adj" fmla="val 6250"/>
            </a:avLst>
          </a:prstGeom>
          <a:solidFill>
            <a:srgbClr val="FFFFFF"/>
          </a:solidFill>
          <a:ln w="15240">
            <a:solidFill>
              <a:srgbClr val="E9A45B"/>
            </a:solidFill>
            <a:prstDash val="solid"/>
          </a:ln>
        </p:spPr>
      </p:sp>
      <p:sp>
        <p:nvSpPr>
          <p:cNvPr id="10" name="Shape 8"/>
          <p:cNvSpPr/>
          <p:nvPr/>
        </p:nvSpPr>
        <p:spPr>
          <a:xfrm>
            <a:off x="676656" y="2313432"/>
            <a:ext cx="1755648" cy="73152"/>
          </a:xfrm>
          <a:prstGeom prst="rect">
            <a:avLst/>
          </a:prstGeom>
          <a:solidFill>
            <a:srgbClr val="E9A45B"/>
          </a:solidFill>
          <a:ln w="12700">
            <a:solidFill>
              <a:srgbClr val="E9A45B">
                <a:alpha val="0"/>
              </a:srgbClr>
            </a:solidFill>
            <a:prstDash val="solid"/>
          </a:ln>
        </p:spPr>
      </p:sp>
      <p:sp>
        <p:nvSpPr>
          <p:cNvPr id="11" name="Shape 9"/>
          <p:cNvSpPr/>
          <p:nvPr/>
        </p:nvSpPr>
        <p:spPr>
          <a:xfrm>
            <a:off x="1554480" y="3465576"/>
            <a:ext cx="0" cy="-402336"/>
          </a:xfrm>
          <a:prstGeom prst="line">
            <a:avLst/>
          </a:prstGeom>
          <a:noFill/>
          <a:ln w="13970">
            <a:solidFill>
              <a:srgbClr val="E9A45B"/>
            </a:solidFill>
            <a:prstDash val="solid"/>
          </a:ln>
        </p:spPr>
      </p:sp>
      <p:sp>
        <p:nvSpPr>
          <p:cNvPr id="12" name="Shape 10"/>
          <p:cNvSpPr/>
          <p:nvPr/>
        </p:nvSpPr>
        <p:spPr>
          <a:xfrm>
            <a:off x="1490472" y="3648456"/>
            <a:ext cx="128016" cy="128016"/>
          </a:xfrm>
          <a:prstGeom prst="ellipse">
            <a:avLst/>
          </a:prstGeom>
          <a:solidFill>
            <a:srgbClr val="E9A45B"/>
          </a:solidFill>
          <a:ln w="12700">
            <a:solidFill>
              <a:srgbClr val="E9A45B"/>
            </a:solidFill>
            <a:prstDash val="solid"/>
          </a:ln>
        </p:spPr>
      </p:sp>
      <p:sp>
        <p:nvSpPr>
          <p:cNvPr id="13" name="Text 11"/>
          <p:cNvSpPr/>
          <p:nvPr/>
        </p:nvSpPr>
        <p:spPr>
          <a:xfrm>
            <a:off x="1243584" y="3666744"/>
            <a:ext cx="621792" cy="164592"/>
          </a:xfrm>
          <a:prstGeom prst="rect">
            <a:avLst/>
          </a:prstGeom>
          <a:noFill/>
          <a:ln/>
        </p:spPr>
        <p:txBody>
          <a:bodyPr wrap="square" lIns="0" tIns="0" rIns="0" bIns="0" rtlCol="0" anchor="ctr">
            <a:normAutofit/>
          </a:bodyPr>
          <a:lstStyle/>
          <a:p>
            <a:pPr algn="ctr" indent="0" marL="0">
              <a:buNone/>
            </a:pPr>
            <a:r>
              <a:rPr lang="en-US" sz="950" b="1" dirty="0">
                <a:solidFill>
                  <a:srgbClr val="E9A45B"/>
                </a:solidFill>
                <a:latin typeface="PingFang SC" pitchFamily="34" charset="0"/>
                <a:ea typeface="PingFang SC" pitchFamily="34" charset="-122"/>
                <a:cs typeface="PingFang SC" pitchFamily="34" charset="-120"/>
              </a:rPr>
              <a:t>2020</a:t>
            </a:r>
            <a:endParaRPr lang="en-US" sz="950" dirty="0"/>
          </a:p>
        </p:txBody>
      </p:sp>
      <p:sp>
        <p:nvSpPr>
          <p:cNvPr id="14" name="Text 12"/>
          <p:cNvSpPr/>
          <p:nvPr/>
        </p:nvSpPr>
        <p:spPr>
          <a:xfrm>
            <a:off x="777240" y="2423160"/>
            <a:ext cx="1554480" cy="237744"/>
          </a:xfrm>
          <a:prstGeom prst="rect">
            <a:avLst/>
          </a:prstGeom>
          <a:noFill/>
          <a:ln/>
        </p:spPr>
        <p:txBody>
          <a:bodyPr wrap="square" lIns="0" tIns="0" rIns="0" bIns="0" rtlCol="0" anchor="ctr">
            <a:normAutofit/>
          </a:bodyPr>
          <a:lstStyle/>
          <a:p>
            <a:pPr algn="ctr" indent="0" marL="0">
              <a:buNone/>
            </a:pPr>
            <a:r>
              <a:rPr lang="en-US" sz="1030" b="1" dirty="0">
                <a:solidFill>
                  <a:srgbClr val="111827"/>
                </a:solidFill>
                <a:latin typeface="PingFang SC" pitchFamily="34" charset="0"/>
                <a:ea typeface="PingFang SC" pitchFamily="34" charset="-122"/>
                <a:cs typeface="PingFang SC" pitchFamily="34" charset="-120"/>
              </a:rPr>
              <a:t>MAPbBr3</a:t>
            </a:r>
            <a:endParaRPr lang="en-US" sz="1030" dirty="0"/>
          </a:p>
        </p:txBody>
      </p:sp>
      <p:sp>
        <p:nvSpPr>
          <p:cNvPr id="15" name="Text 13"/>
          <p:cNvSpPr/>
          <p:nvPr/>
        </p:nvSpPr>
        <p:spPr>
          <a:xfrm>
            <a:off x="786384" y="2715768"/>
            <a:ext cx="1536192" cy="566928"/>
          </a:xfrm>
          <a:prstGeom prst="rect">
            <a:avLst/>
          </a:prstGeom>
          <a:noFill/>
          <a:ln/>
        </p:spPr>
        <p:txBody>
          <a:bodyPr wrap="square" lIns="0" tIns="0" rIns="0" bIns="0" rtlCol="0" anchor="ctr">
            <a:normAutofit/>
          </a:bodyPr>
          <a:lstStyle/>
          <a:p>
            <a:pPr algn="ctr" indent="0" marL="0">
              <a:buNone/>
            </a:pPr>
            <a:r>
              <a:rPr lang="en-US" sz="940" dirty="0">
                <a:solidFill>
                  <a:srgbClr val="667085"/>
                </a:solidFill>
                <a:latin typeface="PingFang SC" pitchFamily="34" charset="0"/>
                <a:ea typeface="PingFang SC" pitchFamily="34" charset="-122"/>
                <a:cs typeface="PingFang SC" pitchFamily="34" charset="-120"/>
              </a:rPr>
              <a:t>两步 CSS；3 μm 膜厚；</a:t>
            </a:r>
            <a:endParaRPr lang="en-US" sz="940" dirty="0"/>
          </a:p>
          <a:p>
            <a:pPr algn="ctr" indent="0" marL="0">
              <a:buNone/>
            </a:pPr>
            <a:r>
              <a:rPr lang="en-US" sz="940" dirty="0">
                <a:solidFill>
                  <a:srgbClr val="667085"/>
                </a:solidFill>
                <a:latin typeface="PingFang SC" pitchFamily="34" charset="0"/>
                <a:ea typeface="PingFang SC" pitchFamily="34" charset="-122"/>
                <a:cs typeface="PingFang SC" pitchFamily="34" charset="-120"/>
              </a:rPr>
              <a:t>粗糙度 118→6 nm。</a:t>
            </a:r>
            <a:endParaRPr lang="en-US" sz="940" dirty="0"/>
          </a:p>
        </p:txBody>
      </p:sp>
      <p:sp>
        <p:nvSpPr>
          <p:cNvPr id="16" name="Shape 14"/>
          <p:cNvSpPr/>
          <p:nvPr/>
        </p:nvSpPr>
        <p:spPr>
          <a:xfrm>
            <a:off x="2724912" y="3877056"/>
            <a:ext cx="1792224" cy="1170432"/>
          </a:xfrm>
          <a:prstGeom prst="roundRect">
            <a:avLst>
              <a:gd name="adj" fmla="val 6250"/>
            </a:avLst>
          </a:prstGeom>
          <a:solidFill>
            <a:srgbClr val="FFFFFF"/>
          </a:solidFill>
          <a:ln w="15240">
            <a:solidFill>
              <a:srgbClr val="18B7AE"/>
            </a:solidFill>
            <a:prstDash val="solid"/>
          </a:ln>
        </p:spPr>
      </p:sp>
      <p:sp>
        <p:nvSpPr>
          <p:cNvPr id="17" name="Shape 15"/>
          <p:cNvSpPr/>
          <p:nvPr/>
        </p:nvSpPr>
        <p:spPr>
          <a:xfrm>
            <a:off x="2743200" y="3895344"/>
            <a:ext cx="1755648" cy="73152"/>
          </a:xfrm>
          <a:prstGeom prst="rect">
            <a:avLst/>
          </a:prstGeom>
          <a:solidFill>
            <a:srgbClr val="18B7AE"/>
          </a:solidFill>
          <a:ln w="12700">
            <a:solidFill>
              <a:srgbClr val="18B7AE">
                <a:alpha val="0"/>
              </a:srgbClr>
            </a:solidFill>
            <a:prstDash val="solid"/>
          </a:ln>
        </p:spPr>
      </p:sp>
      <p:sp>
        <p:nvSpPr>
          <p:cNvPr id="18" name="Shape 16"/>
          <p:cNvSpPr/>
          <p:nvPr/>
        </p:nvSpPr>
        <p:spPr>
          <a:xfrm>
            <a:off x="3621024" y="3721608"/>
            <a:ext cx="0" cy="402336"/>
          </a:xfrm>
          <a:prstGeom prst="line">
            <a:avLst/>
          </a:prstGeom>
          <a:noFill/>
          <a:ln w="13970">
            <a:solidFill>
              <a:srgbClr val="18B7AE"/>
            </a:solidFill>
            <a:prstDash val="solid"/>
          </a:ln>
        </p:spPr>
      </p:sp>
      <p:sp>
        <p:nvSpPr>
          <p:cNvPr id="19" name="Shape 17"/>
          <p:cNvSpPr/>
          <p:nvPr/>
        </p:nvSpPr>
        <p:spPr>
          <a:xfrm>
            <a:off x="3557016" y="3648456"/>
            <a:ext cx="128016" cy="128016"/>
          </a:xfrm>
          <a:prstGeom prst="ellipse">
            <a:avLst/>
          </a:prstGeom>
          <a:solidFill>
            <a:srgbClr val="18B7AE"/>
          </a:solidFill>
          <a:ln w="12700">
            <a:solidFill>
              <a:srgbClr val="18B7AE"/>
            </a:solidFill>
            <a:prstDash val="solid"/>
          </a:ln>
        </p:spPr>
      </p:sp>
      <p:sp>
        <p:nvSpPr>
          <p:cNvPr id="20" name="Text 18"/>
          <p:cNvSpPr/>
          <p:nvPr/>
        </p:nvSpPr>
        <p:spPr>
          <a:xfrm>
            <a:off x="3310128" y="3831336"/>
            <a:ext cx="621792" cy="164592"/>
          </a:xfrm>
          <a:prstGeom prst="rect">
            <a:avLst/>
          </a:prstGeom>
          <a:noFill/>
          <a:ln/>
        </p:spPr>
        <p:txBody>
          <a:bodyPr wrap="square" lIns="0" tIns="0" rIns="0" bIns="0" rtlCol="0" anchor="ctr">
            <a:normAutofit/>
          </a:bodyPr>
          <a:lstStyle/>
          <a:p>
            <a:pPr algn="ctr" indent="0" marL="0">
              <a:buNone/>
            </a:pPr>
            <a:r>
              <a:rPr lang="en-US" sz="950" b="1" dirty="0">
                <a:solidFill>
                  <a:srgbClr val="18B7AE"/>
                </a:solidFill>
                <a:latin typeface="PingFang SC" pitchFamily="34" charset="0"/>
                <a:ea typeface="PingFang SC" pitchFamily="34" charset="-122"/>
                <a:cs typeface="PingFang SC" pitchFamily="34" charset="-120"/>
              </a:rPr>
              <a:t>2024</a:t>
            </a:r>
            <a:endParaRPr lang="en-US" sz="950" dirty="0"/>
          </a:p>
        </p:txBody>
      </p:sp>
      <p:sp>
        <p:nvSpPr>
          <p:cNvPr id="21" name="Text 19"/>
          <p:cNvSpPr/>
          <p:nvPr/>
        </p:nvSpPr>
        <p:spPr>
          <a:xfrm>
            <a:off x="2843784" y="4005072"/>
            <a:ext cx="1554480" cy="237744"/>
          </a:xfrm>
          <a:prstGeom prst="rect">
            <a:avLst/>
          </a:prstGeom>
          <a:noFill/>
          <a:ln/>
        </p:spPr>
        <p:txBody>
          <a:bodyPr wrap="square" lIns="0" tIns="0" rIns="0" bIns="0" rtlCol="0" anchor="ctr">
            <a:normAutofit/>
          </a:bodyPr>
          <a:lstStyle/>
          <a:p>
            <a:pPr algn="ctr" indent="0" marL="0">
              <a:buNone/>
            </a:pPr>
            <a:r>
              <a:rPr lang="en-US" sz="1030" b="1" dirty="0">
                <a:solidFill>
                  <a:srgbClr val="111827"/>
                </a:solidFill>
                <a:latin typeface="PingFang SC" pitchFamily="34" charset="0"/>
                <a:ea typeface="PingFang SC" pitchFamily="34" charset="-122"/>
                <a:cs typeface="PingFang SC" pitchFamily="34" charset="-120"/>
              </a:rPr>
              <a:t>CsFA 碘化物</a:t>
            </a:r>
            <a:endParaRPr lang="en-US" sz="1030" dirty="0"/>
          </a:p>
        </p:txBody>
      </p:sp>
      <p:sp>
        <p:nvSpPr>
          <p:cNvPr id="22" name="Text 20"/>
          <p:cNvSpPr/>
          <p:nvPr/>
        </p:nvSpPr>
        <p:spPr>
          <a:xfrm>
            <a:off x="2852928" y="4297680"/>
            <a:ext cx="1536192" cy="566928"/>
          </a:xfrm>
          <a:prstGeom prst="rect">
            <a:avLst/>
          </a:prstGeom>
          <a:noFill/>
          <a:ln/>
        </p:spPr>
        <p:txBody>
          <a:bodyPr wrap="square" lIns="0" tIns="0" rIns="0" bIns="0" rtlCol="0" anchor="ctr">
            <a:normAutofit/>
          </a:bodyPr>
          <a:lstStyle/>
          <a:p>
            <a:pPr algn="ctr" indent="0" marL="0">
              <a:buNone/>
            </a:pPr>
            <a:r>
              <a:rPr lang="en-US" sz="940" dirty="0">
                <a:solidFill>
                  <a:srgbClr val="667085"/>
                </a:solidFill>
                <a:latin typeface="PingFang SC" pitchFamily="34" charset="0"/>
                <a:ea typeface="PingFang SC" pitchFamily="34" charset="-122"/>
                <a:cs typeface="PingFang SC" pitchFamily="34" charset="-120"/>
              </a:rPr>
              <a:t>10 mbar；18.7%；</a:t>
            </a:r>
            <a:endParaRPr lang="en-US" sz="940" dirty="0"/>
          </a:p>
          <a:p>
            <a:pPr algn="ctr" indent="0" marL="0">
              <a:buNone/>
            </a:pPr>
            <a:r>
              <a:rPr lang="en-US" sz="940" dirty="0">
                <a:solidFill>
                  <a:srgbClr val="667085"/>
                </a:solidFill>
                <a:latin typeface="PingFang SC" pitchFamily="34" charset="0"/>
                <a:ea typeface="PingFang SC" pitchFamily="34" charset="-122"/>
                <a:cs typeface="PingFang SC" pitchFamily="34" charset="-120"/>
              </a:rPr>
              <a:t>FAI pellet 可复用。</a:t>
            </a:r>
            <a:endParaRPr lang="en-US" sz="940" dirty="0"/>
          </a:p>
        </p:txBody>
      </p:sp>
      <p:sp>
        <p:nvSpPr>
          <p:cNvPr id="23" name="Shape 21"/>
          <p:cNvSpPr/>
          <p:nvPr/>
        </p:nvSpPr>
        <p:spPr>
          <a:xfrm>
            <a:off x="4791456" y="2295144"/>
            <a:ext cx="1792224" cy="1170432"/>
          </a:xfrm>
          <a:prstGeom prst="roundRect">
            <a:avLst>
              <a:gd name="adj" fmla="val 6250"/>
            </a:avLst>
          </a:prstGeom>
          <a:solidFill>
            <a:srgbClr val="FFFFFF"/>
          </a:solidFill>
          <a:ln w="15240">
            <a:solidFill>
              <a:srgbClr val="4E7BFF"/>
            </a:solidFill>
            <a:prstDash val="solid"/>
          </a:ln>
        </p:spPr>
      </p:sp>
      <p:sp>
        <p:nvSpPr>
          <p:cNvPr id="24" name="Shape 22"/>
          <p:cNvSpPr/>
          <p:nvPr/>
        </p:nvSpPr>
        <p:spPr>
          <a:xfrm>
            <a:off x="4809744" y="2313432"/>
            <a:ext cx="1755648" cy="73152"/>
          </a:xfrm>
          <a:prstGeom prst="rect">
            <a:avLst/>
          </a:prstGeom>
          <a:solidFill>
            <a:srgbClr val="4E7BFF"/>
          </a:solidFill>
          <a:ln w="12700">
            <a:solidFill>
              <a:srgbClr val="4E7BFF">
                <a:alpha val="0"/>
              </a:srgbClr>
            </a:solidFill>
            <a:prstDash val="solid"/>
          </a:ln>
        </p:spPr>
      </p:sp>
      <p:sp>
        <p:nvSpPr>
          <p:cNvPr id="25" name="Shape 23"/>
          <p:cNvSpPr/>
          <p:nvPr/>
        </p:nvSpPr>
        <p:spPr>
          <a:xfrm>
            <a:off x="5687568" y="3465576"/>
            <a:ext cx="0" cy="-402336"/>
          </a:xfrm>
          <a:prstGeom prst="line">
            <a:avLst/>
          </a:prstGeom>
          <a:noFill/>
          <a:ln w="13970">
            <a:solidFill>
              <a:srgbClr val="4E7BFF"/>
            </a:solidFill>
            <a:prstDash val="solid"/>
          </a:ln>
        </p:spPr>
      </p:sp>
      <p:sp>
        <p:nvSpPr>
          <p:cNvPr id="26" name="Shape 24"/>
          <p:cNvSpPr/>
          <p:nvPr/>
        </p:nvSpPr>
        <p:spPr>
          <a:xfrm>
            <a:off x="5623560" y="3648456"/>
            <a:ext cx="128016" cy="128016"/>
          </a:xfrm>
          <a:prstGeom prst="ellipse">
            <a:avLst/>
          </a:prstGeom>
          <a:solidFill>
            <a:srgbClr val="4E7BFF"/>
          </a:solidFill>
          <a:ln w="12700">
            <a:solidFill>
              <a:srgbClr val="4E7BFF"/>
            </a:solidFill>
            <a:prstDash val="solid"/>
          </a:ln>
        </p:spPr>
      </p:sp>
      <p:sp>
        <p:nvSpPr>
          <p:cNvPr id="27" name="Text 25"/>
          <p:cNvSpPr/>
          <p:nvPr/>
        </p:nvSpPr>
        <p:spPr>
          <a:xfrm>
            <a:off x="5376672" y="3666744"/>
            <a:ext cx="621792" cy="164592"/>
          </a:xfrm>
          <a:prstGeom prst="rect">
            <a:avLst/>
          </a:prstGeom>
          <a:noFill/>
          <a:ln/>
        </p:spPr>
        <p:txBody>
          <a:bodyPr wrap="square" lIns="0" tIns="0" rIns="0" bIns="0" rtlCol="0" anchor="ctr">
            <a:normAutofit/>
          </a:bodyPr>
          <a:lstStyle/>
          <a:p>
            <a:pPr algn="ctr" indent="0" marL="0">
              <a:buNone/>
            </a:pPr>
            <a:r>
              <a:rPr lang="en-US" sz="950" b="1" dirty="0">
                <a:solidFill>
                  <a:srgbClr val="4E7BFF"/>
                </a:solidFill>
                <a:latin typeface="PingFang SC" pitchFamily="34" charset="0"/>
                <a:ea typeface="PingFang SC" pitchFamily="34" charset="-122"/>
                <a:cs typeface="PingFang SC" pitchFamily="34" charset="-120"/>
              </a:rPr>
              <a:t>2024</a:t>
            </a:r>
            <a:endParaRPr lang="en-US" sz="950" dirty="0"/>
          </a:p>
        </p:txBody>
      </p:sp>
      <p:sp>
        <p:nvSpPr>
          <p:cNvPr id="28" name="Text 26"/>
          <p:cNvSpPr/>
          <p:nvPr/>
        </p:nvSpPr>
        <p:spPr>
          <a:xfrm>
            <a:off x="4910328" y="2423160"/>
            <a:ext cx="1554480" cy="237744"/>
          </a:xfrm>
          <a:prstGeom prst="rect">
            <a:avLst/>
          </a:prstGeom>
          <a:noFill/>
          <a:ln/>
        </p:spPr>
        <p:txBody>
          <a:bodyPr wrap="square" lIns="0" tIns="0" rIns="0" bIns="0" rtlCol="0" anchor="ctr">
            <a:normAutofit/>
          </a:bodyPr>
          <a:lstStyle/>
          <a:p>
            <a:pPr algn="ctr" indent="0" marL="0">
              <a:buNone/>
            </a:pPr>
            <a:r>
              <a:rPr lang="en-US" sz="1030" b="1" dirty="0">
                <a:solidFill>
                  <a:srgbClr val="111827"/>
                </a:solidFill>
                <a:latin typeface="PingFang SC" pitchFamily="34" charset="0"/>
                <a:ea typeface="PingFang SC" pitchFamily="34" charset="-122"/>
                <a:cs typeface="PingFang SC" pitchFamily="34" charset="-120"/>
              </a:rPr>
              <a:t>CsPbBr3</a:t>
            </a:r>
            <a:endParaRPr lang="en-US" sz="1030" dirty="0"/>
          </a:p>
        </p:txBody>
      </p:sp>
      <p:sp>
        <p:nvSpPr>
          <p:cNvPr id="29" name="Text 27"/>
          <p:cNvSpPr/>
          <p:nvPr/>
        </p:nvSpPr>
        <p:spPr>
          <a:xfrm>
            <a:off x="4919472" y="2715768"/>
            <a:ext cx="1536192" cy="566928"/>
          </a:xfrm>
          <a:prstGeom prst="rect">
            <a:avLst/>
          </a:prstGeom>
          <a:noFill/>
          <a:ln/>
        </p:spPr>
        <p:txBody>
          <a:bodyPr wrap="square" lIns="0" tIns="0" rIns="0" bIns="0" rtlCol="0" anchor="ctr">
            <a:normAutofit/>
          </a:bodyPr>
          <a:lstStyle/>
          <a:p>
            <a:pPr algn="ctr" indent="0" marL="0">
              <a:buNone/>
            </a:pPr>
            <a:r>
              <a:rPr lang="en-US" sz="940" dirty="0">
                <a:solidFill>
                  <a:srgbClr val="667085"/>
                </a:solidFill>
                <a:latin typeface="PingFang SC" pitchFamily="34" charset="0"/>
                <a:ea typeface="PingFang SC" pitchFamily="34" charset="-122"/>
                <a:cs typeface="PingFang SC" pitchFamily="34" charset="-120"/>
              </a:rPr>
              <a:t>单相薄膜；10 μm/min；</a:t>
            </a:r>
            <a:endParaRPr lang="en-US" sz="940" dirty="0"/>
          </a:p>
          <a:p>
            <a:pPr algn="ctr" indent="0" marL="0">
              <a:buNone/>
            </a:pPr>
            <a:r>
              <a:rPr lang="en-US" sz="940" dirty="0">
                <a:solidFill>
                  <a:srgbClr val="667085"/>
                </a:solidFill>
                <a:latin typeface="PingFang SC" pitchFamily="34" charset="0"/>
                <a:ea typeface="PingFang SC" pitchFamily="34" charset="-122"/>
                <a:cs typeface="PingFang SC" pitchFamily="34" charset="-120"/>
              </a:rPr>
              <a:t>利用率最高 98%。</a:t>
            </a:r>
            <a:endParaRPr lang="en-US" sz="940" dirty="0"/>
          </a:p>
        </p:txBody>
      </p:sp>
      <p:sp>
        <p:nvSpPr>
          <p:cNvPr id="30" name="Shape 28"/>
          <p:cNvSpPr/>
          <p:nvPr/>
        </p:nvSpPr>
        <p:spPr>
          <a:xfrm>
            <a:off x="6858000" y="3877056"/>
            <a:ext cx="1792224" cy="1170432"/>
          </a:xfrm>
          <a:prstGeom prst="roundRect">
            <a:avLst>
              <a:gd name="adj" fmla="val 6250"/>
            </a:avLst>
          </a:prstGeom>
          <a:solidFill>
            <a:srgbClr val="FFFFFF"/>
          </a:solidFill>
          <a:ln w="15240">
            <a:solidFill>
              <a:srgbClr val="2E9D5B"/>
            </a:solidFill>
            <a:prstDash val="solid"/>
          </a:ln>
        </p:spPr>
      </p:sp>
      <p:sp>
        <p:nvSpPr>
          <p:cNvPr id="31" name="Shape 29"/>
          <p:cNvSpPr/>
          <p:nvPr/>
        </p:nvSpPr>
        <p:spPr>
          <a:xfrm>
            <a:off x="6876288" y="3895344"/>
            <a:ext cx="1755648" cy="73152"/>
          </a:xfrm>
          <a:prstGeom prst="rect">
            <a:avLst/>
          </a:prstGeom>
          <a:solidFill>
            <a:srgbClr val="2E9D5B"/>
          </a:solidFill>
          <a:ln w="12700">
            <a:solidFill>
              <a:srgbClr val="2E9D5B">
                <a:alpha val="0"/>
              </a:srgbClr>
            </a:solidFill>
            <a:prstDash val="solid"/>
          </a:ln>
        </p:spPr>
      </p:sp>
      <p:sp>
        <p:nvSpPr>
          <p:cNvPr id="32" name="Shape 30"/>
          <p:cNvSpPr/>
          <p:nvPr/>
        </p:nvSpPr>
        <p:spPr>
          <a:xfrm>
            <a:off x="7754112" y="3721608"/>
            <a:ext cx="0" cy="402336"/>
          </a:xfrm>
          <a:prstGeom prst="line">
            <a:avLst/>
          </a:prstGeom>
          <a:noFill/>
          <a:ln w="13970">
            <a:solidFill>
              <a:srgbClr val="2E9D5B"/>
            </a:solidFill>
            <a:prstDash val="solid"/>
          </a:ln>
        </p:spPr>
      </p:sp>
      <p:sp>
        <p:nvSpPr>
          <p:cNvPr id="33" name="Shape 31"/>
          <p:cNvSpPr/>
          <p:nvPr/>
        </p:nvSpPr>
        <p:spPr>
          <a:xfrm>
            <a:off x="7690104" y="3648456"/>
            <a:ext cx="128016" cy="128016"/>
          </a:xfrm>
          <a:prstGeom prst="ellipse">
            <a:avLst/>
          </a:prstGeom>
          <a:solidFill>
            <a:srgbClr val="2E9D5B"/>
          </a:solidFill>
          <a:ln w="12700">
            <a:solidFill>
              <a:srgbClr val="2E9D5B"/>
            </a:solidFill>
            <a:prstDash val="solid"/>
          </a:ln>
        </p:spPr>
      </p:sp>
      <p:sp>
        <p:nvSpPr>
          <p:cNvPr id="34" name="Text 32"/>
          <p:cNvSpPr/>
          <p:nvPr/>
        </p:nvSpPr>
        <p:spPr>
          <a:xfrm>
            <a:off x="7443216" y="3831336"/>
            <a:ext cx="621792" cy="164592"/>
          </a:xfrm>
          <a:prstGeom prst="rect">
            <a:avLst/>
          </a:prstGeom>
          <a:noFill/>
          <a:ln/>
        </p:spPr>
        <p:txBody>
          <a:bodyPr wrap="square" lIns="0" tIns="0" rIns="0" bIns="0" rtlCol="0" anchor="ctr">
            <a:normAutofit/>
          </a:bodyPr>
          <a:lstStyle/>
          <a:p>
            <a:pPr algn="ctr" indent="0" marL="0">
              <a:buNone/>
            </a:pPr>
            <a:r>
              <a:rPr lang="en-US" sz="950" b="1" dirty="0">
                <a:solidFill>
                  <a:srgbClr val="2E9D5B"/>
                </a:solidFill>
                <a:latin typeface="PingFang SC" pitchFamily="34" charset="0"/>
                <a:ea typeface="PingFang SC" pitchFamily="34" charset="-122"/>
                <a:cs typeface="PingFang SC" pitchFamily="34" charset="-120"/>
              </a:rPr>
              <a:t>2025</a:t>
            </a:r>
            <a:endParaRPr lang="en-US" sz="950" dirty="0"/>
          </a:p>
        </p:txBody>
      </p:sp>
      <p:sp>
        <p:nvSpPr>
          <p:cNvPr id="35" name="Text 33"/>
          <p:cNvSpPr/>
          <p:nvPr/>
        </p:nvSpPr>
        <p:spPr>
          <a:xfrm>
            <a:off x="6976872" y="4005072"/>
            <a:ext cx="1554480" cy="237744"/>
          </a:xfrm>
          <a:prstGeom prst="rect">
            <a:avLst/>
          </a:prstGeom>
          <a:noFill/>
          <a:ln/>
        </p:spPr>
        <p:txBody>
          <a:bodyPr wrap="square" lIns="0" tIns="0" rIns="0" bIns="0" rtlCol="0" anchor="ctr">
            <a:normAutofit/>
          </a:bodyPr>
          <a:lstStyle/>
          <a:p>
            <a:pPr algn="ctr" indent="0" marL="0">
              <a:buNone/>
            </a:pPr>
            <a:r>
              <a:rPr lang="en-US" sz="1030" b="1" dirty="0">
                <a:solidFill>
                  <a:srgbClr val="111827"/>
                </a:solidFill>
                <a:latin typeface="PingFang SC" pitchFamily="34" charset="0"/>
                <a:ea typeface="PingFang SC" pitchFamily="34" charset="-122"/>
                <a:cs typeface="PingFang SC" pitchFamily="34" charset="-120"/>
              </a:rPr>
              <a:t>大面积 MAPI</a:t>
            </a:r>
            <a:endParaRPr lang="en-US" sz="1030" dirty="0"/>
          </a:p>
        </p:txBody>
      </p:sp>
      <p:sp>
        <p:nvSpPr>
          <p:cNvPr id="36" name="Text 34"/>
          <p:cNvSpPr/>
          <p:nvPr/>
        </p:nvSpPr>
        <p:spPr>
          <a:xfrm>
            <a:off x="6986016" y="4297680"/>
            <a:ext cx="1536192" cy="566928"/>
          </a:xfrm>
          <a:prstGeom prst="rect">
            <a:avLst/>
          </a:prstGeom>
          <a:noFill/>
          <a:ln/>
        </p:spPr>
        <p:txBody>
          <a:bodyPr wrap="square" lIns="0" tIns="0" rIns="0" bIns="0" rtlCol="0" anchor="ctr">
            <a:normAutofit/>
          </a:bodyPr>
          <a:lstStyle/>
          <a:p>
            <a:pPr algn="ctr" indent="0" marL="0">
              <a:buNone/>
            </a:pPr>
            <a:r>
              <a:rPr lang="en-US" sz="940" dirty="0">
                <a:solidFill>
                  <a:srgbClr val="667085"/>
                </a:solidFill>
                <a:latin typeface="PingFang SC" pitchFamily="34" charset="0"/>
                <a:ea typeface="PingFang SC" pitchFamily="34" charset="-122"/>
                <a:cs typeface="PingFang SC" pitchFamily="34" charset="-120"/>
              </a:rPr>
              <a:t>1 mbar；18.8%；</a:t>
            </a:r>
            <a:endParaRPr lang="en-US" sz="940" dirty="0"/>
          </a:p>
          <a:p>
            <a:pPr algn="ctr" indent="0" marL="0">
              <a:buNone/>
            </a:pPr>
            <a:r>
              <a:rPr lang="en-US" sz="940" dirty="0">
                <a:solidFill>
                  <a:srgbClr val="667085"/>
                </a:solidFill>
                <a:latin typeface="PingFang SC" pitchFamily="34" charset="0"/>
                <a:ea typeface="PingFang SC" pitchFamily="34" charset="-122"/>
                <a:cs typeface="PingFang SC" pitchFamily="34" charset="-120"/>
              </a:rPr>
              <a:t>1000 h 后保留 90%。</a:t>
            </a:r>
            <a:endParaRPr lang="en-US" sz="940" dirty="0"/>
          </a:p>
        </p:txBody>
      </p:sp>
      <p:sp>
        <p:nvSpPr>
          <p:cNvPr id="37" name="Shape 35"/>
          <p:cNvSpPr/>
          <p:nvPr/>
        </p:nvSpPr>
        <p:spPr>
          <a:xfrm>
            <a:off x="8924544" y="2295144"/>
            <a:ext cx="1792224" cy="1170432"/>
          </a:xfrm>
          <a:prstGeom prst="roundRect">
            <a:avLst>
              <a:gd name="adj" fmla="val 6250"/>
            </a:avLst>
          </a:prstGeom>
          <a:solidFill>
            <a:srgbClr val="FFFFFF"/>
          </a:solidFill>
          <a:ln w="15240">
            <a:solidFill>
              <a:srgbClr val="C86B82"/>
            </a:solidFill>
            <a:prstDash val="solid"/>
          </a:ln>
        </p:spPr>
      </p:sp>
      <p:sp>
        <p:nvSpPr>
          <p:cNvPr id="38" name="Shape 36"/>
          <p:cNvSpPr/>
          <p:nvPr/>
        </p:nvSpPr>
        <p:spPr>
          <a:xfrm>
            <a:off x="8942832" y="2313432"/>
            <a:ext cx="1755648" cy="73152"/>
          </a:xfrm>
          <a:prstGeom prst="rect">
            <a:avLst/>
          </a:prstGeom>
          <a:solidFill>
            <a:srgbClr val="C86B82"/>
          </a:solidFill>
          <a:ln w="12700">
            <a:solidFill>
              <a:srgbClr val="C86B82">
                <a:alpha val="0"/>
              </a:srgbClr>
            </a:solidFill>
            <a:prstDash val="solid"/>
          </a:ln>
        </p:spPr>
      </p:sp>
      <p:sp>
        <p:nvSpPr>
          <p:cNvPr id="39" name="Shape 37"/>
          <p:cNvSpPr/>
          <p:nvPr/>
        </p:nvSpPr>
        <p:spPr>
          <a:xfrm>
            <a:off x="9820656" y="3465576"/>
            <a:ext cx="0" cy="-402336"/>
          </a:xfrm>
          <a:prstGeom prst="line">
            <a:avLst/>
          </a:prstGeom>
          <a:noFill/>
          <a:ln w="13970">
            <a:solidFill>
              <a:srgbClr val="C86B82"/>
            </a:solidFill>
            <a:prstDash val="solid"/>
          </a:ln>
        </p:spPr>
      </p:sp>
      <p:sp>
        <p:nvSpPr>
          <p:cNvPr id="40" name="Shape 38"/>
          <p:cNvSpPr/>
          <p:nvPr/>
        </p:nvSpPr>
        <p:spPr>
          <a:xfrm>
            <a:off x="9756648" y="3648456"/>
            <a:ext cx="128016" cy="128016"/>
          </a:xfrm>
          <a:prstGeom prst="ellipse">
            <a:avLst/>
          </a:prstGeom>
          <a:solidFill>
            <a:srgbClr val="C86B82"/>
          </a:solidFill>
          <a:ln w="12700">
            <a:solidFill>
              <a:srgbClr val="C86B82"/>
            </a:solidFill>
            <a:prstDash val="solid"/>
          </a:ln>
        </p:spPr>
      </p:sp>
      <p:sp>
        <p:nvSpPr>
          <p:cNvPr id="41" name="Text 39"/>
          <p:cNvSpPr/>
          <p:nvPr/>
        </p:nvSpPr>
        <p:spPr>
          <a:xfrm>
            <a:off x="9509760" y="3666744"/>
            <a:ext cx="621792" cy="164592"/>
          </a:xfrm>
          <a:prstGeom prst="rect">
            <a:avLst/>
          </a:prstGeom>
          <a:noFill/>
          <a:ln/>
        </p:spPr>
        <p:txBody>
          <a:bodyPr wrap="square" lIns="0" tIns="0" rIns="0" bIns="0" rtlCol="0" anchor="ctr">
            <a:normAutofit/>
          </a:bodyPr>
          <a:lstStyle/>
          <a:p>
            <a:pPr algn="ctr" indent="0" marL="0">
              <a:buNone/>
            </a:pPr>
            <a:r>
              <a:rPr lang="en-US" sz="950" b="1" dirty="0">
                <a:solidFill>
                  <a:srgbClr val="C86B82"/>
                </a:solidFill>
                <a:latin typeface="PingFang SC" pitchFamily="34" charset="0"/>
                <a:ea typeface="PingFang SC" pitchFamily="34" charset="-122"/>
                <a:cs typeface="PingFang SC" pitchFamily="34" charset="-120"/>
              </a:rPr>
              <a:t>2026</a:t>
            </a:r>
            <a:endParaRPr lang="en-US" sz="950" dirty="0"/>
          </a:p>
        </p:txBody>
      </p:sp>
      <p:sp>
        <p:nvSpPr>
          <p:cNvPr id="42" name="Text 40"/>
          <p:cNvSpPr/>
          <p:nvPr/>
        </p:nvSpPr>
        <p:spPr>
          <a:xfrm>
            <a:off x="9043416" y="2423160"/>
            <a:ext cx="1554480" cy="237744"/>
          </a:xfrm>
          <a:prstGeom prst="rect">
            <a:avLst/>
          </a:prstGeom>
          <a:noFill/>
          <a:ln/>
        </p:spPr>
        <p:txBody>
          <a:bodyPr wrap="square" lIns="0" tIns="0" rIns="0" bIns="0" rtlCol="0" anchor="ctr">
            <a:normAutofit/>
          </a:bodyPr>
          <a:lstStyle/>
          <a:p>
            <a:pPr algn="ctr" indent="0" marL="0">
              <a:buNone/>
            </a:pPr>
            <a:r>
              <a:rPr lang="en-US" sz="1030" b="1" dirty="0">
                <a:solidFill>
                  <a:srgbClr val="111827"/>
                </a:solidFill>
                <a:latin typeface="PingFang SC" pitchFamily="34" charset="0"/>
                <a:ea typeface="PingFang SC" pitchFamily="34" charset="-122"/>
                <a:cs typeface="PingFang SC" pitchFamily="34" charset="-120"/>
              </a:rPr>
              <a:t>WBG / Tandem</a:t>
            </a:r>
            <a:endParaRPr lang="en-US" sz="1030" dirty="0"/>
          </a:p>
        </p:txBody>
      </p:sp>
      <p:sp>
        <p:nvSpPr>
          <p:cNvPr id="43" name="Text 41"/>
          <p:cNvSpPr/>
          <p:nvPr/>
        </p:nvSpPr>
        <p:spPr>
          <a:xfrm>
            <a:off x="9052560" y="2715768"/>
            <a:ext cx="1536192" cy="566928"/>
          </a:xfrm>
          <a:prstGeom prst="rect">
            <a:avLst/>
          </a:prstGeom>
          <a:noFill/>
          <a:ln/>
        </p:spPr>
        <p:txBody>
          <a:bodyPr wrap="square" lIns="0" tIns="0" rIns="0" bIns="0" rtlCol="0" anchor="ctr">
            <a:normAutofit/>
          </a:bodyPr>
          <a:lstStyle/>
          <a:p>
            <a:pPr algn="ctr" indent="0" marL="0">
              <a:buNone/>
            </a:pPr>
            <a:r>
              <a:rPr lang="en-US" sz="940" dirty="0">
                <a:solidFill>
                  <a:srgbClr val="667085"/>
                </a:solidFill>
                <a:latin typeface="PingFang SC" pitchFamily="34" charset="0"/>
                <a:ea typeface="PingFang SC" pitchFamily="34" charset="-122"/>
                <a:cs typeface="PingFang SC" pitchFamily="34" charset="-120"/>
              </a:rPr>
              <a:t>1.64 eV；18.5% 单结；</a:t>
            </a:r>
            <a:endParaRPr lang="en-US" sz="940" dirty="0"/>
          </a:p>
          <a:p>
            <a:pPr algn="ctr" indent="0" marL="0">
              <a:buNone/>
            </a:pPr>
            <a:r>
              <a:rPr lang="en-US" sz="940" dirty="0">
                <a:solidFill>
                  <a:srgbClr val="667085"/>
                </a:solidFill>
                <a:latin typeface="PingFang SC" pitchFamily="34" charset="0"/>
                <a:ea typeface="PingFang SC" pitchFamily="34" charset="-122"/>
                <a:cs typeface="PingFang SC" pitchFamily="34" charset="-120"/>
              </a:rPr>
              <a:t>24.3% 串联。</a:t>
            </a:r>
            <a:endParaRPr lang="en-US" sz="940" dirty="0"/>
          </a:p>
        </p:txBody>
      </p:sp>
      <p:sp>
        <p:nvSpPr>
          <p:cNvPr id="44" name="Shape 42"/>
          <p:cNvSpPr/>
          <p:nvPr/>
        </p:nvSpPr>
        <p:spPr>
          <a:xfrm>
            <a:off x="877824" y="5394960"/>
            <a:ext cx="10387584" cy="566928"/>
          </a:xfrm>
          <a:prstGeom prst="roundRect">
            <a:avLst>
              <a:gd name="adj" fmla="val 12903"/>
            </a:avLst>
          </a:prstGeom>
          <a:solidFill>
            <a:srgbClr val="162039"/>
          </a:solidFill>
          <a:ln w="12700">
            <a:solidFill>
              <a:srgbClr val="162039"/>
            </a:solidFill>
            <a:prstDash val="solid"/>
          </a:ln>
        </p:spPr>
      </p:sp>
      <p:sp>
        <p:nvSpPr>
          <p:cNvPr id="45" name="Text 43"/>
          <p:cNvSpPr/>
          <p:nvPr/>
        </p:nvSpPr>
        <p:spPr>
          <a:xfrm>
            <a:off x="1133856" y="5577840"/>
            <a:ext cx="9893808" cy="20116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PingFang SC" pitchFamily="34" charset="0"/>
                <a:ea typeface="PingFang SC" pitchFamily="34" charset="-122"/>
                <a:cs typeface="PingFang SC" pitchFamily="34" charset="-120"/>
              </a:rPr>
              <a:t>时间线给出的结论很一致：CSS 已经从“能成膜”走到“能做效率、能做稳定性、能做纹理硅串联”。</a:t>
            </a:r>
            <a:endParaRPr lang="en-US" sz="1300" dirty="0"/>
          </a:p>
        </p:txBody>
      </p:sp>
      <p:sp>
        <p:nvSpPr>
          <p:cNvPr id="46" name="Shape 44"/>
          <p:cNvSpPr/>
          <p:nvPr/>
        </p:nvSpPr>
        <p:spPr>
          <a:xfrm>
            <a:off x="566928" y="6419088"/>
            <a:ext cx="11064240" cy="0"/>
          </a:xfrm>
          <a:prstGeom prst="line">
            <a:avLst/>
          </a:prstGeom>
          <a:noFill/>
          <a:ln w="8890">
            <a:solidFill>
              <a:srgbClr val="D7DCE6"/>
            </a:solidFill>
            <a:prstDash val="solid"/>
          </a:ln>
        </p:spPr>
      </p:sp>
      <p:sp>
        <p:nvSpPr>
          <p:cNvPr id="47" name="Text 45"/>
          <p:cNvSpPr/>
          <p:nvPr/>
        </p:nvSpPr>
        <p:spPr>
          <a:xfrm>
            <a:off x="603504" y="6473952"/>
            <a:ext cx="10789920" cy="182880"/>
          </a:xfrm>
          <a:prstGeom prst="rect">
            <a:avLst/>
          </a:prstGeom>
          <a:noFill/>
          <a:ln/>
        </p:spPr>
        <p:txBody>
          <a:bodyPr wrap="square" lIns="0" tIns="0" rIns="0" bIns="0" rtlCol="0" anchor="ctr">
            <a:normAutofit/>
          </a:bodyPr>
          <a:lstStyle/>
          <a:p>
            <a:pPr indent="0" marL="0">
              <a:buNone/>
            </a:pPr>
            <a:r>
              <a:rPr lang="en-US" sz="850" dirty="0">
                <a:solidFill>
                  <a:srgbClr val="667085"/>
                </a:solidFill>
                <a:latin typeface="PingFang SC" pitchFamily="34" charset="0"/>
                <a:ea typeface="PingFang SC" pitchFamily="34" charset="-122"/>
                <a:cs typeface="PingFang SC" pitchFamily="34" charset="-120"/>
              </a:rPr>
              <a:t>文献来源依次为：[2][1][3][4][6]。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A1020"/>
          </a:solidFill>
          <a:ln w="12700">
            <a:solidFill>
              <a:srgbClr val="0A1020">
                <a:alpha val="0"/>
              </a:srgbClr>
            </a:solidFill>
            <a:prstDash val="solid"/>
          </a:ln>
        </p:spPr>
      </p:sp>
      <p:sp>
        <p:nvSpPr>
          <p:cNvPr id="3" name="Text 1"/>
          <p:cNvSpPr/>
          <p:nvPr/>
        </p:nvSpPr>
        <p:spPr>
          <a:xfrm>
            <a:off x="566928" y="292608"/>
            <a:ext cx="1645920" cy="219456"/>
          </a:xfrm>
          <a:prstGeom prst="rect">
            <a:avLst/>
          </a:prstGeom>
          <a:noFill/>
          <a:ln/>
        </p:spPr>
        <p:txBody>
          <a:bodyPr wrap="square" lIns="0" tIns="0" rIns="0" bIns="0" rtlCol="0" anchor="ctr">
            <a:normAutofit/>
          </a:bodyPr>
          <a:lstStyle/>
          <a:p>
            <a:pPr indent="0" marL="0">
              <a:buNone/>
            </a:pPr>
            <a:r>
              <a:rPr lang="en-US" sz="1000" b="1" dirty="0">
                <a:solidFill>
                  <a:srgbClr val="18B7AE"/>
                </a:solidFill>
                <a:latin typeface="PingFang SC" pitchFamily="34" charset="0"/>
                <a:ea typeface="PingFang SC" pitchFamily="34" charset="-122"/>
                <a:cs typeface="PingFang SC" pitchFamily="34" charset="-120"/>
              </a:rPr>
              <a:t>SYNTHESIS</a:t>
            </a:r>
            <a:endParaRPr lang="en-US" sz="1000" dirty="0"/>
          </a:p>
        </p:txBody>
      </p:sp>
      <p:sp>
        <p:nvSpPr>
          <p:cNvPr id="4" name="Text 2"/>
          <p:cNvSpPr/>
          <p:nvPr/>
        </p:nvSpPr>
        <p:spPr>
          <a:xfrm>
            <a:off x="11109960" y="237744"/>
            <a:ext cx="502920" cy="274320"/>
          </a:xfrm>
          <a:prstGeom prst="rect">
            <a:avLst/>
          </a:prstGeom>
          <a:noFill/>
          <a:ln/>
        </p:spPr>
        <p:txBody>
          <a:bodyPr wrap="square" lIns="0" tIns="0" rIns="0" bIns="0" rtlCol="0" anchor="ctr">
            <a:normAutofit/>
          </a:bodyPr>
          <a:lstStyle/>
          <a:p>
            <a:pPr algn="r" indent="0" marL="0">
              <a:buNone/>
            </a:pPr>
            <a:r>
              <a:rPr lang="en-US" sz="1400" b="1" dirty="0">
                <a:solidFill>
                  <a:srgbClr val="0A1020"/>
                </a:solidFill>
                <a:latin typeface="PingFang SC" pitchFamily="34" charset="0"/>
                <a:ea typeface="PingFang SC" pitchFamily="34" charset="-122"/>
                <a:cs typeface="PingFang SC" pitchFamily="34" charset="-120"/>
              </a:rPr>
              <a:t>08</a:t>
            </a:r>
            <a:endParaRPr lang="en-US" sz="1400" dirty="0"/>
          </a:p>
        </p:txBody>
      </p:sp>
      <p:sp>
        <p:nvSpPr>
          <p:cNvPr id="5" name="Text 3"/>
          <p:cNvSpPr/>
          <p:nvPr/>
        </p:nvSpPr>
        <p:spPr>
          <a:xfrm>
            <a:off x="566928" y="548640"/>
            <a:ext cx="7680960" cy="402336"/>
          </a:xfrm>
          <a:prstGeom prst="rect">
            <a:avLst/>
          </a:prstGeom>
          <a:noFill/>
          <a:ln/>
        </p:spPr>
        <p:txBody>
          <a:bodyPr wrap="square" lIns="0" tIns="0" rIns="0" bIns="0" rtlCol="0" anchor="ctr">
            <a:normAutofit/>
          </a:bodyPr>
          <a:lstStyle/>
          <a:p>
            <a:pPr indent="0" marL="0">
              <a:buNone/>
            </a:pPr>
            <a:r>
              <a:rPr lang="en-US" sz="2400" b="1" dirty="0">
                <a:solidFill>
                  <a:srgbClr val="0A1020"/>
                </a:solidFill>
                <a:latin typeface="PingFang SC" pitchFamily="34" charset="0"/>
                <a:ea typeface="PingFang SC" pitchFamily="34" charset="-122"/>
                <a:cs typeface="PingFang SC" pitchFamily="34" charset="-120"/>
              </a:rPr>
              <a:t>这些结果说明了什么</a:t>
            </a:r>
            <a:endParaRPr lang="en-US" sz="2400" dirty="0"/>
          </a:p>
        </p:txBody>
      </p:sp>
      <p:sp>
        <p:nvSpPr>
          <p:cNvPr id="6" name="Text 4"/>
          <p:cNvSpPr/>
          <p:nvPr/>
        </p:nvSpPr>
        <p:spPr>
          <a:xfrm>
            <a:off x="566928" y="960120"/>
            <a:ext cx="8778240" cy="292608"/>
          </a:xfrm>
          <a:prstGeom prst="rect">
            <a:avLst/>
          </a:prstGeom>
          <a:noFill/>
          <a:ln/>
        </p:spPr>
        <p:txBody>
          <a:bodyPr wrap="square" lIns="0" tIns="0" rIns="0" bIns="0" rtlCol="0" anchor="ctr">
            <a:normAutofit/>
          </a:bodyPr>
          <a:lstStyle/>
          <a:p>
            <a:pPr indent="0" marL="0">
              <a:buNone/>
            </a:pPr>
            <a:r>
              <a:rPr lang="en-US" sz="1150" dirty="0">
                <a:solidFill>
                  <a:srgbClr val="667085"/>
                </a:solidFill>
                <a:latin typeface="PingFang SC" pitchFamily="34" charset="0"/>
                <a:ea typeface="PingFang SC" pitchFamily="34" charset="-122"/>
                <a:cs typeface="PingFang SC" pitchFamily="34" charset="-120"/>
              </a:rPr>
              <a:t>如果只看效率，很容易误判；把膜质、器件和工艺三层放到一起看，路线判断会更稳。</a:t>
            </a:r>
            <a:endParaRPr lang="en-US" sz="1150" dirty="0"/>
          </a:p>
        </p:txBody>
      </p:sp>
      <p:sp>
        <p:nvSpPr>
          <p:cNvPr id="7" name="Shape 5"/>
          <p:cNvSpPr/>
          <p:nvPr/>
        </p:nvSpPr>
        <p:spPr>
          <a:xfrm>
            <a:off x="566928" y="1225296"/>
            <a:ext cx="11064240" cy="0"/>
          </a:xfrm>
          <a:prstGeom prst="line">
            <a:avLst/>
          </a:prstGeom>
          <a:noFill/>
          <a:ln w="12700">
            <a:solidFill>
              <a:srgbClr val="D7DCE6"/>
            </a:solidFill>
            <a:prstDash val="solid"/>
          </a:ln>
        </p:spPr>
      </p:sp>
      <p:sp>
        <p:nvSpPr>
          <p:cNvPr id="8" name="Shape 6"/>
          <p:cNvSpPr/>
          <p:nvPr/>
        </p:nvSpPr>
        <p:spPr>
          <a:xfrm>
            <a:off x="749808" y="1572768"/>
            <a:ext cx="2788920" cy="3328416"/>
          </a:xfrm>
          <a:prstGeom prst="roundRect">
            <a:avLst>
              <a:gd name="adj" fmla="val 2623"/>
            </a:avLst>
          </a:prstGeom>
          <a:solidFill>
            <a:srgbClr val="FFFFFF"/>
          </a:solidFill>
          <a:ln w="15240">
            <a:solidFill>
              <a:srgbClr val="18B7AE"/>
            </a:solidFill>
            <a:prstDash val="solid"/>
          </a:ln>
        </p:spPr>
      </p:sp>
      <p:sp>
        <p:nvSpPr>
          <p:cNvPr id="9" name="Shape 7"/>
          <p:cNvSpPr/>
          <p:nvPr/>
        </p:nvSpPr>
        <p:spPr>
          <a:xfrm>
            <a:off x="768096" y="1591056"/>
            <a:ext cx="2752344" cy="73152"/>
          </a:xfrm>
          <a:prstGeom prst="rect">
            <a:avLst/>
          </a:prstGeom>
          <a:solidFill>
            <a:srgbClr val="18B7AE"/>
          </a:solidFill>
          <a:ln w="12700">
            <a:solidFill>
              <a:srgbClr val="18B7AE">
                <a:alpha val="0"/>
              </a:srgbClr>
            </a:solidFill>
            <a:prstDash val="solid"/>
          </a:ln>
        </p:spPr>
      </p:sp>
      <p:sp>
        <p:nvSpPr>
          <p:cNvPr id="10" name="Text 8"/>
          <p:cNvSpPr/>
          <p:nvPr/>
        </p:nvSpPr>
        <p:spPr>
          <a:xfrm>
            <a:off x="914400" y="1792224"/>
            <a:ext cx="2450592" cy="201168"/>
          </a:xfrm>
          <a:prstGeom prst="rect">
            <a:avLst/>
          </a:prstGeom>
          <a:noFill/>
          <a:ln/>
        </p:spPr>
        <p:txBody>
          <a:bodyPr wrap="square" lIns="0" tIns="0" rIns="0" bIns="0" rtlCol="0" anchor="ctr">
            <a:normAutofit/>
          </a:bodyPr>
          <a:lstStyle/>
          <a:p>
            <a:pPr algn="ctr" indent="0" marL="0">
              <a:buNone/>
            </a:pPr>
            <a:r>
              <a:rPr lang="en-US" sz="1400" b="1" dirty="0">
                <a:solidFill>
                  <a:srgbClr val="111827"/>
                </a:solidFill>
                <a:latin typeface="PingFang SC" pitchFamily="34" charset="0"/>
                <a:ea typeface="PingFang SC" pitchFamily="34" charset="-122"/>
                <a:cs typeface="PingFang SC" pitchFamily="34" charset="-120"/>
              </a:rPr>
              <a:t>膜质层面</a:t>
            </a:r>
            <a:endParaRPr lang="en-US" sz="1400" dirty="0"/>
          </a:p>
        </p:txBody>
      </p:sp>
      <p:sp>
        <p:nvSpPr>
          <p:cNvPr id="11" name="Shape 9"/>
          <p:cNvSpPr/>
          <p:nvPr/>
        </p:nvSpPr>
        <p:spPr>
          <a:xfrm>
            <a:off x="914400" y="2304288"/>
            <a:ext cx="91440" cy="91440"/>
          </a:xfrm>
          <a:prstGeom prst="ellipse">
            <a:avLst/>
          </a:prstGeom>
          <a:solidFill>
            <a:srgbClr val="18B7AE"/>
          </a:solidFill>
          <a:ln w="12700">
            <a:solidFill>
              <a:srgbClr val="18B7AE">
                <a:alpha val="0"/>
              </a:srgbClr>
            </a:solidFill>
            <a:prstDash val="solid"/>
          </a:ln>
        </p:spPr>
      </p:sp>
      <p:sp>
        <p:nvSpPr>
          <p:cNvPr id="12" name="Text 10"/>
          <p:cNvSpPr/>
          <p:nvPr/>
        </p:nvSpPr>
        <p:spPr>
          <a:xfrm>
            <a:off x="1078992" y="2212848"/>
            <a:ext cx="2286000" cy="384048"/>
          </a:xfrm>
          <a:prstGeom prst="rect">
            <a:avLst/>
          </a:prstGeom>
          <a:noFill/>
          <a:ln/>
        </p:spPr>
        <p:txBody>
          <a:bodyPr wrap="square" lIns="0" tIns="0" rIns="0" bIns="0" rtlCol="0" anchor="ctr">
            <a:normAutofit/>
          </a:bodyPr>
          <a:lstStyle/>
          <a:p>
            <a:pPr indent="0" marL="0">
              <a:buNone/>
            </a:pPr>
            <a:r>
              <a:rPr lang="en-US" sz="1145" dirty="0">
                <a:solidFill>
                  <a:srgbClr val="667085"/>
                </a:solidFill>
                <a:latin typeface="PingFang SC" pitchFamily="34" charset="0"/>
                <a:ea typeface="PingFang SC" pitchFamily="34" charset="-122"/>
                <a:cs typeface="PingFang SC" pitchFamily="34" charset="-120"/>
              </a:rPr>
              <a:t>大晶粒、均匀覆盖、厚膜能力已被多篇工作验证。</a:t>
            </a:r>
            <a:endParaRPr lang="en-US" sz="1145" dirty="0"/>
          </a:p>
        </p:txBody>
      </p:sp>
      <p:sp>
        <p:nvSpPr>
          <p:cNvPr id="13" name="Shape 11"/>
          <p:cNvSpPr/>
          <p:nvPr/>
        </p:nvSpPr>
        <p:spPr>
          <a:xfrm>
            <a:off x="914400" y="3054096"/>
            <a:ext cx="91440" cy="91440"/>
          </a:xfrm>
          <a:prstGeom prst="ellipse">
            <a:avLst/>
          </a:prstGeom>
          <a:solidFill>
            <a:srgbClr val="18B7AE"/>
          </a:solidFill>
          <a:ln w="12700">
            <a:solidFill>
              <a:srgbClr val="18B7AE">
                <a:alpha val="0"/>
              </a:srgbClr>
            </a:solidFill>
            <a:prstDash val="solid"/>
          </a:ln>
        </p:spPr>
      </p:sp>
      <p:sp>
        <p:nvSpPr>
          <p:cNvPr id="14" name="Text 12"/>
          <p:cNvSpPr/>
          <p:nvPr/>
        </p:nvSpPr>
        <p:spPr>
          <a:xfrm>
            <a:off x="1078992" y="2962656"/>
            <a:ext cx="2286000" cy="384048"/>
          </a:xfrm>
          <a:prstGeom prst="rect">
            <a:avLst/>
          </a:prstGeom>
          <a:noFill/>
          <a:ln/>
        </p:spPr>
        <p:txBody>
          <a:bodyPr wrap="square" lIns="0" tIns="0" rIns="0" bIns="0" rtlCol="0" anchor="ctr">
            <a:normAutofit/>
          </a:bodyPr>
          <a:lstStyle/>
          <a:p>
            <a:pPr indent="0" marL="0">
              <a:buNone/>
            </a:pPr>
            <a:r>
              <a:rPr lang="en-US" sz="1145" dirty="0">
                <a:solidFill>
                  <a:srgbClr val="667085"/>
                </a:solidFill>
                <a:latin typeface="PingFang SC" pitchFamily="34" charset="0"/>
                <a:ea typeface="PingFang SC" pitchFamily="34" charset="-122"/>
                <a:cs typeface="PingFang SC" pitchFamily="34" charset="-120"/>
              </a:rPr>
              <a:t>MAPbBr3 粗糙度显著下降，说明后续压实/界面处理也有空间。</a:t>
            </a:r>
            <a:endParaRPr lang="en-US" sz="1145" dirty="0"/>
          </a:p>
        </p:txBody>
      </p:sp>
      <p:sp>
        <p:nvSpPr>
          <p:cNvPr id="15" name="Shape 13"/>
          <p:cNvSpPr/>
          <p:nvPr/>
        </p:nvSpPr>
        <p:spPr>
          <a:xfrm>
            <a:off x="914400" y="3803904"/>
            <a:ext cx="91440" cy="91440"/>
          </a:xfrm>
          <a:prstGeom prst="ellipse">
            <a:avLst/>
          </a:prstGeom>
          <a:solidFill>
            <a:srgbClr val="18B7AE"/>
          </a:solidFill>
          <a:ln w="12700">
            <a:solidFill>
              <a:srgbClr val="18B7AE">
                <a:alpha val="0"/>
              </a:srgbClr>
            </a:solidFill>
            <a:prstDash val="solid"/>
          </a:ln>
        </p:spPr>
      </p:sp>
      <p:sp>
        <p:nvSpPr>
          <p:cNvPr id="16" name="Text 14"/>
          <p:cNvSpPr/>
          <p:nvPr/>
        </p:nvSpPr>
        <p:spPr>
          <a:xfrm>
            <a:off x="1078992" y="3712464"/>
            <a:ext cx="2286000" cy="384048"/>
          </a:xfrm>
          <a:prstGeom prst="rect">
            <a:avLst/>
          </a:prstGeom>
          <a:noFill/>
          <a:ln/>
        </p:spPr>
        <p:txBody>
          <a:bodyPr wrap="square" lIns="0" tIns="0" rIns="0" bIns="0" rtlCol="0" anchor="ctr">
            <a:normAutofit/>
          </a:bodyPr>
          <a:lstStyle/>
          <a:p>
            <a:pPr indent="0" marL="0">
              <a:buNone/>
            </a:pPr>
            <a:r>
              <a:rPr lang="en-US" sz="1145" dirty="0">
                <a:solidFill>
                  <a:srgbClr val="667085"/>
                </a:solidFill>
                <a:latin typeface="PingFang SC" pitchFamily="34" charset="0"/>
                <a:ea typeface="PingFang SC" pitchFamily="34" charset="-122"/>
                <a:cs typeface="PingFang SC" pitchFamily="34" charset="-120"/>
              </a:rPr>
              <a:t>close-space 气氛对晶化动力学的调节作用并非个例。</a:t>
            </a:r>
            <a:endParaRPr lang="en-US" sz="1145" dirty="0"/>
          </a:p>
        </p:txBody>
      </p:sp>
      <p:sp>
        <p:nvSpPr>
          <p:cNvPr id="17" name="Shape 15"/>
          <p:cNvSpPr/>
          <p:nvPr/>
        </p:nvSpPr>
        <p:spPr>
          <a:xfrm>
            <a:off x="4078224" y="1572768"/>
            <a:ext cx="2788920" cy="3328416"/>
          </a:xfrm>
          <a:prstGeom prst="roundRect">
            <a:avLst>
              <a:gd name="adj" fmla="val 2623"/>
            </a:avLst>
          </a:prstGeom>
          <a:solidFill>
            <a:srgbClr val="FFFFFF"/>
          </a:solidFill>
          <a:ln w="15240">
            <a:solidFill>
              <a:srgbClr val="4E7BFF"/>
            </a:solidFill>
            <a:prstDash val="solid"/>
          </a:ln>
        </p:spPr>
      </p:sp>
      <p:sp>
        <p:nvSpPr>
          <p:cNvPr id="18" name="Shape 16"/>
          <p:cNvSpPr/>
          <p:nvPr/>
        </p:nvSpPr>
        <p:spPr>
          <a:xfrm>
            <a:off x="4096512" y="1591056"/>
            <a:ext cx="2752344" cy="73152"/>
          </a:xfrm>
          <a:prstGeom prst="rect">
            <a:avLst/>
          </a:prstGeom>
          <a:solidFill>
            <a:srgbClr val="4E7BFF"/>
          </a:solidFill>
          <a:ln w="12700">
            <a:solidFill>
              <a:srgbClr val="4E7BFF">
                <a:alpha val="0"/>
              </a:srgbClr>
            </a:solidFill>
            <a:prstDash val="solid"/>
          </a:ln>
        </p:spPr>
      </p:sp>
      <p:sp>
        <p:nvSpPr>
          <p:cNvPr id="19" name="Text 17"/>
          <p:cNvSpPr/>
          <p:nvPr/>
        </p:nvSpPr>
        <p:spPr>
          <a:xfrm>
            <a:off x="4242816" y="1792224"/>
            <a:ext cx="2450592" cy="201168"/>
          </a:xfrm>
          <a:prstGeom prst="rect">
            <a:avLst/>
          </a:prstGeom>
          <a:noFill/>
          <a:ln/>
        </p:spPr>
        <p:txBody>
          <a:bodyPr wrap="square" lIns="0" tIns="0" rIns="0" bIns="0" rtlCol="0" anchor="ctr">
            <a:normAutofit/>
          </a:bodyPr>
          <a:lstStyle/>
          <a:p>
            <a:pPr algn="ctr" indent="0" marL="0">
              <a:buNone/>
            </a:pPr>
            <a:r>
              <a:rPr lang="en-US" sz="1400" b="1" dirty="0">
                <a:solidFill>
                  <a:srgbClr val="111827"/>
                </a:solidFill>
                <a:latin typeface="PingFang SC" pitchFamily="34" charset="0"/>
                <a:ea typeface="PingFang SC" pitchFamily="34" charset="-122"/>
                <a:cs typeface="PingFang SC" pitchFamily="34" charset="-120"/>
              </a:rPr>
              <a:t>器件层面</a:t>
            </a:r>
            <a:endParaRPr lang="en-US" sz="1400" dirty="0"/>
          </a:p>
        </p:txBody>
      </p:sp>
      <p:sp>
        <p:nvSpPr>
          <p:cNvPr id="20" name="Shape 18"/>
          <p:cNvSpPr/>
          <p:nvPr/>
        </p:nvSpPr>
        <p:spPr>
          <a:xfrm>
            <a:off x="4242816" y="2304288"/>
            <a:ext cx="91440" cy="91440"/>
          </a:xfrm>
          <a:prstGeom prst="ellipse">
            <a:avLst/>
          </a:prstGeom>
          <a:solidFill>
            <a:srgbClr val="4E7BFF"/>
          </a:solidFill>
          <a:ln w="12700">
            <a:solidFill>
              <a:srgbClr val="4E7BFF">
                <a:alpha val="0"/>
              </a:srgbClr>
            </a:solidFill>
            <a:prstDash val="solid"/>
          </a:ln>
        </p:spPr>
      </p:sp>
      <p:sp>
        <p:nvSpPr>
          <p:cNvPr id="21" name="Text 19"/>
          <p:cNvSpPr/>
          <p:nvPr/>
        </p:nvSpPr>
        <p:spPr>
          <a:xfrm>
            <a:off x="4407408" y="2212848"/>
            <a:ext cx="2286000" cy="384048"/>
          </a:xfrm>
          <a:prstGeom prst="rect">
            <a:avLst/>
          </a:prstGeom>
          <a:noFill/>
          <a:ln/>
        </p:spPr>
        <p:txBody>
          <a:bodyPr wrap="square" lIns="0" tIns="0" rIns="0" bIns="0" rtlCol="0" anchor="ctr">
            <a:normAutofit/>
          </a:bodyPr>
          <a:lstStyle/>
          <a:p>
            <a:pPr indent="0" marL="0">
              <a:buNone/>
            </a:pPr>
            <a:r>
              <a:rPr lang="en-US" sz="1145" dirty="0">
                <a:solidFill>
                  <a:srgbClr val="667085"/>
                </a:solidFill>
                <a:latin typeface="PingFang SC" pitchFamily="34" charset="0"/>
                <a:ea typeface="PingFang SC" pitchFamily="34" charset="-122"/>
                <a:cs typeface="PingFang SC" pitchFamily="34" charset="-120"/>
              </a:rPr>
              <a:t>18.7% 和 18.8% 说明 CSS 单结已进入“高可用”区间。</a:t>
            </a:r>
            <a:endParaRPr lang="en-US" sz="1145" dirty="0"/>
          </a:p>
        </p:txBody>
      </p:sp>
      <p:sp>
        <p:nvSpPr>
          <p:cNvPr id="22" name="Shape 20"/>
          <p:cNvSpPr/>
          <p:nvPr/>
        </p:nvSpPr>
        <p:spPr>
          <a:xfrm>
            <a:off x="4242816" y="3054096"/>
            <a:ext cx="91440" cy="91440"/>
          </a:xfrm>
          <a:prstGeom prst="ellipse">
            <a:avLst/>
          </a:prstGeom>
          <a:solidFill>
            <a:srgbClr val="4E7BFF"/>
          </a:solidFill>
          <a:ln w="12700">
            <a:solidFill>
              <a:srgbClr val="4E7BFF">
                <a:alpha val="0"/>
              </a:srgbClr>
            </a:solidFill>
            <a:prstDash val="solid"/>
          </a:ln>
        </p:spPr>
      </p:sp>
      <p:sp>
        <p:nvSpPr>
          <p:cNvPr id="23" name="Text 21"/>
          <p:cNvSpPr/>
          <p:nvPr/>
        </p:nvSpPr>
        <p:spPr>
          <a:xfrm>
            <a:off x="4407408" y="2962656"/>
            <a:ext cx="2286000" cy="384048"/>
          </a:xfrm>
          <a:prstGeom prst="rect">
            <a:avLst/>
          </a:prstGeom>
          <a:noFill/>
          <a:ln/>
        </p:spPr>
        <p:txBody>
          <a:bodyPr wrap="square" lIns="0" tIns="0" rIns="0" bIns="0" rtlCol="0" anchor="ctr">
            <a:normAutofit/>
          </a:bodyPr>
          <a:lstStyle/>
          <a:p>
            <a:pPr indent="0" marL="0">
              <a:buNone/>
            </a:pPr>
            <a:r>
              <a:rPr lang="en-US" sz="1145" dirty="0">
                <a:solidFill>
                  <a:srgbClr val="667085"/>
                </a:solidFill>
                <a:latin typeface="PingFang SC" pitchFamily="34" charset="0"/>
                <a:ea typeface="PingFang SC" pitchFamily="34" charset="-122"/>
                <a:cs typeface="PingFang SC" pitchFamily="34" charset="-120"/>
              </a:rPr>
              <a:t>宽带隙 1.64 eV 与 24.3% 串联说明它不仅能做薄膜，还能接入 tandem 架构。</a:t>
            </a:r>
            <a:endParaRPr lang="en-US" sz="1145" dirty="0"/>
          </a:p>
        </p:txBody>
      </p:sp>
      <p:sp>
        <p:nvSpPr>
          <p:cNvPr id="24" name="Shape 22"/>
          <p:cNvSpPr/>
          <p:nvPr/>
        </p:nvSpPr>
        <p:spPr>
          <a:xfrm>
            <a:off x="4242816" y="3803904"/>
            <a:ext cx="91440" cy="91440"/>
          </a:xfrm>
          <a:prstGeom prst="ellipse">
            <a:avLst/>
          </a:prstGeom>
          <a:solidFill>
            <a:srgbClr val="4E7BFF"/>
          </a:solidFill>
          <a:ln w="12700">
            <a:solidFill>
              <a:srgbClr val="4E7BFF">
                <a:alpha val="0"/>
              </a:srgbClr>
            </a:solidFill>
            <a:prstDash val="solid"/>
          </a:ln>
        </p:spPr>
      </p:sp>
      <p:sp>
        <p:nvSpPr>
          <p:cNvPr id="25" name="Text 23"/>
          <p:cNvSpPr/>
          <p:nvPr/>
        </p:nvSpPr>
        <p:spPr>
          <a:xfrm>
            <a:off x="4407408" y="3712464"/>
            <a:ext cx="2286000" cy="384048"/>
          </a:xfrm>
          <a:prstGeom prst="rect">
            <a:avLst/>
          </a:prstGeom>
          <a:noFill/>
          <a:ln/>
        </p:spPr>
        <p:txBody>
          <a:bodyPr wrap="square" lIns="0" tIns="0" rIns="0" bIns="0" rtlCol="0" anchor="ctr">
            <a:normAutofit/>
          </a:bodyPr>
          <a:lstStyle/>
          <a:p>
            <a:pPr indent="0" marL="0">
              <a:buNone/>
            </a:pPr>
            <a:r>
              <a:rPr lang="en-US" sz="1145" dirty="0">
                <a:solidFill>
                  <a:srgbClr val="667085"/>
                </a:solidFill>
                <a:latin typeface="PingFang SC" pitchFamily="34" charset="0"/>
                <a:ea typeface="PingFang SC" pitchFamily="34" charset="-122"/>
                <a:cs typeface="PingFang SC" pitchFamily="34" charset="-120"/>
              </a:rPr>
              <a:t>热应力与长时照射稳定性结果已经开始具备工程意义。</a:t>
            </a:r>
            <a:endParaRPr lang="en-US" sz="1145" dirty="0"/>
          </a:p>
        </p:txBody>
      </p:sp>
      <p:sp>
        <p:nvSpPr>
          <p:cNvPr id="26" name="Shape 24"/>
          <p:cNvSpPr/>
          <p:nvPr/>
        </p:nvSpPr>
        <p:spPr>
          <a:xfrm>
            <a:off x="7406640" y="1572768"/>
            <a:ext cx="2788920" cy="3328416"/>
          </a:xfrm>
          <a:prstGeom prst="roundRect">
            <a:avLst>
              <a:gd name="adj" fmla="val 2623"/>
            </a:avLst>
          </a:prstGeom>
          <a:solidFill>
            <a:srgbClr val="FFFFFF"/>
          </a:solidFill>
          <a:ln w="15240">
            <a:solidFill>
              <a:srgbClr val="E9A45B"/>
            </a:solidFill>
            <a:prstDash val="solid"/>
          </a:ln>
        </p:spPr>
      </p:sp>
      <p:sp>
        <p:nvSpPr>
          <p:cNvPr id="27" name="Shape 25"/>
          <p:cNvSpPr/>
          <p:nvPr/>
        </p:nvSpPr>
        <p:spPr>
          <a:xfrm>
            <a:off x="7424928" y="1591056"/>
            <a:ext cx="2752344" cy="73152"/>
          </a:xfrm>
          <a:prstGeom prst="rect">
            <a:avLst/>
          </a:prstGeom>
          <a:solidFill>
            <a:srgbClr val="E9A45B"/>
          </a:solidFill>
          <a:ln w="12700">
            <a:solidFill>
              <a:srgbClr val="E9A45B">
                <a:alpha val="0"/>
              </a:srgbClr>
            </a:solidFill>
            <a:prstDash val="solid"/>
          </a:ln>
        </p:spPr>
      </p:sp>
      <p:sp>
        <p:nvSpPr>
          <p:cNvPr id="28" name="Text 26"/>
          <p:cNvSpPr/>
          <p:nvPr/>
        </p:nvSpPr>
        <p:spPr>
          <a:xfrm>
            <a:off x="7571232" y="1792224"/>
            <a:ext cx="2450592" cy="201168"/>
          </a:xfrm>
          <a:prstGeom prst="rect">
            <a:avLst/>
          </a:prstGeom>
          <a:noFill/>
          <a:ln/>
        </p:spPr>
        <p:txBody>
          <a:bodyPr wrap="square" lIns="0" tIns="0" rIns="0" bIns="0" rtlCol="0" anchor="ctr">
            <a:normAutofit/>
          </a:bodyPr>
          <a:lstStyle/>
          <a:p>
            <a:pPr algn="ctr" indent="0" marL="0">
              <a:buNone/>
            </a:pPr>
            <a:r>
              <a:rPr lang="en-US" sz="1400" b="1" dirty="0">
                <a:solidFill>
                  <a:srgbClr val="111827"/>
                </a:solidFill>
                <a:latin typeface="PingFang SC" pitchFamily="34" charset="0"/>
                <a:ea typeface="PingFang SC" pitchFamily="34" charset="-122"/>
                <a:cs typeface="PingFang SC" pitchFamily="34" charset="-120"/>
              </a:rPr>
              <a:t>制造层面</a:t>
            </a:r>
            <a:endParaRPr lang="en-US" sz="1400" dirty="0"/>
          </a:p>
        </p:txBody>
      </p:sp>
      <p:sp>
        <p:nvSpPr>
          <p:cNvPr id="29" name="Shape 27"/>
          <p:cNvSpPr/>
          <p:nvPr/>
        </p:nvSpPr>
        <p:spPr>
          <a:xfrm>
            <a:off x="7571232" y="2304288"/>
            <a:ext cx="91440" cy="91440"/>
          </a:xfrm>
          <a:prstGeom prst="ellipse">
            <a:avLst/>
          </a:prstGeom>
          <a:solidFill>
            <a:srgbClr val="E9A45B"/>
          </a:solidFill>
          <a:ln w="12700">
            <a:solidFill>
              <a:srgbClr val="E9A45B">
                <a:alpha val="0"/>
              </a:srgbClr>
            </a:solidFill>
            <a:prstDash val="solid"/>
          </a:ln>
        </p:spPr>
      </p:sp>
      <p:sp>
        <p:nvSpPr>
          <p:cNvPr id="30" name="Text 28"/>
          <p:cNvSpPr/>
          <p:nvPr/>
        </p:nvSpPr>
        <p:spPr>
          <a:xfrm>
            <a:off x="7735824" y="2212848"/>
            <a:ext cx="2286000" cy="384048"/>
          </a:xfrm>
          <a:prstGeom prst="rect">
            <a:avLst/>
          </a:prstGeom>
          <a:noFill/>
          <a:ln/>
        </p:spPr>
        <p:txBody>
          <a:bodyPr wrap="square" lIns="0" tIns="0" rIns="0" bIns="0" rtlCol="0" anchor="ctr">
            <a:normAutofit/>
          </a:bodyPr>
          <a:lstStyle/>
          <a:p>
            <a:pPr indent="0" marL="0">
              <a:buNone/>
            </a:pPr>
            <a:r>
              <a:rPr lang="en-US" sz="1145" dirty="0">
                <a:solidFill>
                  <a:srgbClr val="667085"/>
                </a:solidFill>
                <a:latin typeface="PingFang SC" pitchFamily="34" charset="0"/>
                <a:ea typeface="PingFang SC" pitchFamily="34" charset="-122"/>
                <a:cs typeface="PingFang SC" pitchFamily="34" charset="-120"/>
              </a:rPr>
              <a:t>1–10 mbar 的工作区间意味着真空门槛并不极端。</a:t>
            </a:r>
            <a:endParaRPr lang="en-US" sz="1145" dirty="0"/>
          </a:p>
        </p:txBody>
      </p:sp>
      <p:sp>
        <p:nvSpPr>
          <p:cNvPr id="31" name="Shape 29"/>
          <p:cNvSpPr/>
          <p:nvPr/>
        </p:nvSpPr>
        <p:spPr>
          <a:xfrm>
            <a:off x="7571232" y="3054096"/>
            <a:ext cx="91440" cy="91440"/>
          </a:xfrm>
          <a:prstGeom prst="ellipse">
            <a:avLst/>
          </a:prstGeom>
          <a:solidFill>
            <a:srgbClr val="E9A45B"/>
          </a:solidFill>
          <a:ln w="12700">
            <a:solidFill>
              <a:srgbClr val="E9A45B">
                <a:alpha val="0"/>
              </a:srgbClr>
            </a:solidFill>
            <a:prstDash val="solid"/>
          </a:ln>
        </p:spPr>
      </p:sp>
      <p:sp>
        <p:nvSpPr>
          <p:cNvPr id="32" name="Text 30"/>
          <p:cNvSpPr/>
          <p:nvPr/>
        </p:nvSpPr>
        <p:spPr>
          <a:xfrm>
            <a:off x="7735824" y="2962656"/>
            <a:ext cx="2286000" cy="384048"/>
          </a:xfrm>
          <a:prstGeom prst="rect">
            <a:avLst/>
          </a:prstGeom>
          <a:noFill/>
          <a:ln/>
        </p:spPr>
        <p:txBody>
          <a:bodyPr wrap="square" lIns="0" tIns="0" rIns="0" bIns="0" rtlCol="0" anchor="ctr">
            <a:normAutofit/>
          </a:bodyPr>
          <a:lstStyle/>
          <a:p>
            <a:pPr indent="0" marL="0">
              <a:buNone/>
            </a:pPr>
            <a:r>
              <a:rPr lang="en-US" sz="1145" dirty="0">
                <a:solidFill>
                  <a:srgbClr val="667085"/>
                </a:solidFill>
                <a:latin typeface="PingFang SC" pitchFamily="34" charset="0"/>
                <a:ea typeface="PingFang SC" pitchFamily="34" charset="-122"/>
                <a:cs typeface="PingFang SC" pitchFamily="34" charset="-120"/>
              </a:rPr>
              <a:t>多次复用有机源和 98% 利用率，直接指向材料成本与 throughput。</a:t>
            </a:r>
            <a:endParaRPr lang="en-US" sz="1145" dirty="0"/>
          </a:p>
        </p:txBody>
      </p:sp>
      <p:sp>
        <p:nvSpPr>
          <p:cNvPr id="33" name="Shape 31"/>
          <p:cNvSpPr/>
          <p:nvPr/>
        </p:nvSpPr>
        <p:spPr>
          <a:xfrm>
            <a:off x="7571232" y="3803904"/>
            <a:ext cx="91440" cy="91440"/>
          </a:xfrm>
          <a:prstGeom prst="ellipse">
            <a:avLst/>
          </a:prstGeom>
          <a:solidFill>
            <a:srgbClr val="E9A45B"/>
          </a:solidFill>
          <a:ln w="12700">
            <a:solidFill>
              <a:srgbClr val="E9A45B">
                <a:alpha val="0"/>
              </a:srgbClr>
            </a:solidFill>
            <a:prstDash val="solid"/>
          </a:ln>
        </p:spPr>
      </p:sp>
      <p:sp>
        <p:nvSpPr>
          <p:cNvPr id="34" name="Text 32"/>
          <p:cNvSpPr/>
          <p:nvPr/>
        </p:nvSpPr>
        <p:spPr>
          <a:xfrm>
            <a:off x="7735824" y="3712464"/>
            <a:ext cx="2286000" cy="384048"/>
          </a:xfrm>
          <a:prstGeom prst="rect">
            <a:avLst/>
          </a:prstGeom>
          <a:noFill/>
          <a:ln/>
        </p:spPr>
        <p:txBody>
          <a:bodyPr wrap="square" lIns="0" tIns="0" rIns="0" bIns="0" rtlCol="0" anchor="ctr">
            <a:normAutofit/>
          </a:bodyPr>
          <a:lstStyle/>
          <a:p>
            <a:pPr indent="0" marL="0">
              <a:buNone/>
            </a:pPr>
            <a:r>
              <a:rPr lang="en-US" sz="1145" dirty="0">
                <a:solidFill>
                  <a:srgbClr val="667085"/>
                </a:solidFill>
                <a:latin typeface="PingFang SC" pitchFamily="34" charset="0"/>
                <a:ea typeface="PingFang SC" pitchFamily="34" charset="-122"/>
                <a:cs typeface="PingFang SC" pitchFamily="34" charset="-120"/>
              </a:rPr>
              <a:t>对 planar / nano / micro-textured Si 的适配性是串联工业化信号。</a:t>
            </a:r>
            <a:endParaRPr lang="en-US" sz="1145" dirty="0"/>
          </a:p>
        </p:txBody>
      </p:sp>
      <p:sp>
        <p:nvSpPr>
          <p:cNvPr id="35" name="Shape 33"/>
          <p:cNvSpPr/>
          <p:nvPr/>
        </p:nvSpPr>
        <p:spPr>
          <a:xfrm>
            <a:off x="749808" y="5193792"/>
            <a:ext cx="5650992" cy="841248"/>
          </a:xfrm>
          <a:prstGeom prst="roundRect">
            <a:avLst>
              <a:gd name="adj" fmla="val 8696"/>
            </a:avLst>
          </a:prstGeom>
          <a:solidFill>
            <a:srgbClr val="FFFFFF"/>
          </a:solidFill>
          <a:ln w="12700">
            <a:solidFill>
              <a:srgbClr val="D7DCE6"/>
            </a:solidFill>
            <a:prstDash val="solid"/>
          </a:ln>
        </p:spPr>
      </p:sp>
      <p:sp>
        <p:nvSpPr>
          <p:cNvPr id="36" name="Shape 34"/>
          <p:cNvSpPr/>
          <p:nvPr/>
        </p:nvSpPr>
        <p:spPr>
          <a:xfrm>
            <a:off x="768096" y="5212080"/>
            <a:ext cx="5614416" cy="73152"/>
          </a:xfrm>
          <a:prstGeom prst="rect">
            <a:avLst/>
          </a:prstGeom>
          <a:solidFill>
            <a:srgbClr val="C86B82"/>
          </a:solidFill>
          <a:ln w="12700">
            <a:solidFill>
              <a:srgbClr val="C86B82">
                <a:alpha val="0"/>
              </a:srgbClr>
            </a:solidFill>
            <a:prstDash val="solid"/>
          </a:ln>
        </p:spPr>
      </p:sp>
      <p:sp>
        <p:nvSpPr>
          <p:cNvPr id="37" name="Text 35"/>
          <p:cNvSpPr/>
          <p:nvPr/>
        </p:nvSpPr>
        <p:spPr>
          <a:xfrm>
            <a:off x="987552" y="5413248"/>
            <a:ext cx="1645920" cy="201168"/>
          </a:xfrm>
          <a:prstGeom prst="rect">
            <a:avLst/>
          </a:prstGeom>
          <a:noFill/>
          <a:ln/>
        </p:spPr>
        <p:txBody>
          <a:bodyPr wrap="square" lIns="0" tIns="0" rIns="0" bIns="0" rtlCol="0" anchor="ctr">
            <a:normAutofit/>
          </a:bodyPr>
          <a:lstStyle/>
          <a:p>
            <a:pPr indent="0" marL="0">
              <a:buNone/>
            </a:pPr>
            <a:r>
              <a:rPr lang="en-US" sz="1400" b="1" dirty="0">
                <a:solidFill>
                  <a:srgbClr val="111827"/>
                </a:solidFill>
                <a:latin typeface="PingFang SC" pitchFamily="34" charset="0"/>
                <a:ea typeface="PingFang SC" pitchFamily="34" charset="-122"/>
                <a:cs typeface="PingFang SC" pitchFamily="34" charset="-120"/>
              </a:rPr>
              <a:t>综合成熟度判断</a:t>
            </a:r>
            <a:endParaRPr lang="en-US" sz="1400" dirty="0"/>
          </a:p>
        </p:txBody>
      </p:sp>
      <p:sp>
        <p:nvSpPr>
          <p:cNvPr id="38" name="Text 36"/>
          <p:cNvSpPr/>
          <p:nvPr/>
        </p:nvSpPr>
        <p:spPr>
          <a:xfrm>
            <a:off x="987552" y="5669280"/>
            <a:ext cx="1645920" cy="201168"/>
          </a:xfrm>
          <a:prstGeom prst="rect">
            <a:avLst/>
          </a:prstGeom>
          <a:noFill/>
          <a:ln/>
        </p:spPr>
        <p:txBody>
          <a:bodyPr wrap="square" lIns="0" tIns="0" rIns="0" bIns="0" rtlCol="0" anchor="ctr">
            <a:normAutofit/>
          </a:bodyPr>
          <a:lstStyle/>
          <a:p>
            <a:pPr indent="0" marL="0">
              <a:buNone/>
            </a:pPr>
            <a:r>
              <a:rPr lang="en-US" sz="1150" b="1" dirty="0">
                <a:solidFill>
                  <a:srgbClr val="111827"/>
                </a:solidFill>
                <a:latin typeface="PingFang SC" pitchFamily="34" charset="0"/>
                <a:ea typeface="PingFang SC" pitchFamily="34" charset="-122"/>
                <a:cs typeface="PingFang SC" pitchFamily="34" charset="-120"/>
              </a:rPr>
              <a:t>单结效率竞争力</a:t>
            </a:r>
            <a:endParaRPr lang="en-US" sz="1150" dirty="0"/>
          </a:p>
        </p:txBody>
      </p:sp>
      <p:sp>
        <p:nvSpPr>
          <p:cNvPr id="39" name="Shape 37"/>
          <p:cNvSpPr/>
          <p:nvPr/>
        </p:nvSpPr>
        <p:spPr>
          <a:xfrm>
            <a:off x="2724912" y="5705856"/>
            <a:ext cx="2926080" cy="109728"/>
          </a:xfrm>
          <a:prstGeom prst="roundRect">
            <a:avLst/>
          </a:prstGeom>
          <a:solidFill>
            <a:srgbClr val="E5E7EB"/>
          </a:solidFill>
          <a:ln w="12700">
            <a:solidFill>
              <a:srgbClr val="D7DCE6">
                <a:alpha val="0"/>
              </a:srgbClr>
            </a:solidFill>
            <a:prstDash val="solid"/>
          </a:ln>
        </p:spPr>
      </p:sp>
      <p:sp>
        <p:nvSpPr>
          <p:cNvPr id="40" name="Shape 38"/>
          <p:cNvSpPr/>
          <p:nvPr/>
        </p:nvSpPr>
        <p:spPr>
          <a:xfrm>
            <a:off x="2724912" y="5705856"/>
            <a:ext cx="1814170" cy="109728"/>
          </a:xfrm>
          <a:prstGeom prst="roundRect">
            <a:avLst/>
          </a:prstGeom>
          <a:solidFill>
            <a:srgbClr val="C86B82"/>
          </a:solidFill>
          <a:ln w="12700">
            <a:solidFill>
              <a:srgbClr val="C86B82">
                <a:alpha val="0"/>
              </a:srgbClr>
            </a:solidFill>
            <a:prstDash val="solid"/>
          </a:ln>
        </p:spPr>
      </p:sp>
      <p:sp>
        <p:nvSpPr>
          <p:cNvPr id="41" name="Text 39"/>
          <p:cNvSpPr/>
          <p:nvPr/>
        </p:nvSpPr>
        <p:spPr>
          <a:xfrm>
            <a:off x="5788152" y="5650992"/>
            <a:ext cx="1280160" cy="228600"/>
          </a:xfrm>
          <a:prstGeom prst="rect">
            <a:avLst/>
          </a:prstGeom>
          <a:noFill/>
          <a:ln/>
        </p:spPr>
        <p:txBody>
          <a:bodyPr wrap="square" lIns="0" tIns="0" rIns="0" bIns="0" rtlCol="0" anchor="ctr">
            <a:normAutofit/>
          </a:bodyPr>
          <a:lstStyle/>
          <a:p>
            <a:pPr algn="r" indent="0" marL="0">
              <a:buNone/>
            </a:pPr>
            <a:r>
              <a:rPr lang="en-US" sz="1100" dirty="0">
                <a:solidFill>
                  <a:srgbClr val="667085"/>
                </a:solidFill>
                <a:latin typeface="PingFang SC" pitchFamily="34" charset="0"/>
                <a:ea typeface="PingFang SC" pitchFamily="34" charset="-122"/>
                <a:cs typeface="PingFang SC" pitchFamily="34" charset="-120"/>
              </a:rPr>
              <a:t>中高</a:t>
            </a:r>
            <a:endParaRPr lang="en-US" sz="1100" dirty="0"/>
          </a:p>
        </p:txBody>
      </p:sp>
      <p:sp>
        <p:nvSpPr>
          <p:cNvPr id="42" name="Text 40"/>
          <p:cNvSpPr/>
          <p:nvPr/>
        </p:nvSpPr>
        <p:spPr>
          <a:xfrm>
            <a:off x="987552" y="5925312"/>
            <a:ext cx="1645920" cy="201168"/>
          </a:xfrm>
          <a:prstGeom prst="rect">
            <a:avLst/>
          </a:prstGeom>
          <a:noFill/>
          <a:ln/>
        </p:spPr>
        <p:txBody>
          <a:bodyPr wrap="square" lIns="0" tIns="0" rIns="0" bIns="0" rtlCol="0" anchor="ctr">
            <a:normAutofit/>
          </a:bodyPr>
          <a:lstStyle/>
          <a:p>
            <a:pPr indent="0" marL="0">
              <a:buNone/>
            </a:pPr>
            <a:r>
              <a:rPr lang="en-US" sz="1150" b="1" dirty="0">
                <a:solidFill>
                  <a:srgbClr val="111827"/>
                </a:solidFill>
                <a:latin typeface="PingFang SC" pitchFamily="34" charset="0"/>
                <a:ea typeface="PingFang SC" pitchFamily="34" charset="-122"/>
                <a:cs typeface="PingFang SC" pitchFamily="34" charset="-120"/>
              </a:rPr>
              <a:t>工艺扩展性</a:t>
            </a:r>
            <a:endParaRPr lang="en-US" sz="1150" dirty="0"/>
          </a:p>
        </p:txBody>
      </p:sp>
      <p:sp>
        <p:nvSpPr>
          <p:cNvPr id="43" name="Shape 41"/>
          <p:cNvSpPr/>
          <p:nvPr/>
        </p:nvSpPr>
        <p:spPr>
          <a:xfrm>
            <a:off x="2724912" y="5961888"/>
            <a:ext cx="2926080" cy="109728"/>
          </a:xfrm>
          <a:prstGeom prst="roundRect">
            <a:avLst/>
          </a:prstGeom>
          <a:solidFill>
            <a:srgbClr val="E5E7EB"/>
          </a:solidFill>
          <a:ln w="12700">
            <a:solidFill>
              <a:srgbClr val="D7DCE6">
                <a:alpha val="0"/>
              </a:srgbClr>
            </a:solidFill>
            <a:prstDash val="solid"/>
          </a:ln>
        </p:spPr>
      </p:sp>
      <p:sp>
        <p:nvSpPr>
          <p:cNvPr id="44" name="Shape 42"/>
          <p:cNvSpPr/>
          <p:nvPr/>
        </p:nvSpPr>
        <p:spPr>
          <a:xfrm>
            <a:off x="2724912" y="5961888"/>
            <a:ext cx="2574950" cy="109728"/>
          </a:xfrm>
          <a:prstGeom prst="roundRect">
            <a:avLst/>
          </a:prstGeom>
          <a:solidFill>
            <a:srgbClr val="18B7AE"/>
          </a:solidFill>
          <a:ln w="12700">
            <a:solidFill>
              <a:srgbClr val="18B7AE">
                <a:alpha val="0"/>
              </a:srgbClr>
            </a:solidFill>
            <a:prstDash val="solid"/>
          </a:ln>
        </p:spPr>
      </p:sp>
      <p:sp>
        <p:nvSpPr>
          <p:cNvPr id="45" name="Text 43"/>
          <p:cNvSpPr/>
          <p:nvPr/>
        </p:nvSpPr>
        <p:spPr>
          <a:xfrm>
            <a:off x="5788152" y="5907024"/>
            <a:ext cx="1280160" cy="228600"/>
          </a:xfrm>
          <a:prstGeom prst="rect">
            <a:avLst/>
          </a:prstGeom>
          <a:noFill/>
          <a:ln/>
        </p:spPr>
        <p:txBody>
          <a:bodyPr wrap="square" lIns="0" tIns="0" rIns="0" bIns="0" rtlCol="0" anchor="ctr">
            <a:normAutofit/>
          </a:bodyPr>
          <a:lstStyle/>
          <a:p>
            <a:pPr algn="r" indent="0" marL="0">
              <a:buNone/>
            </a:pPr>
            <a:r>
              <a:rPr lang="en-US" sz="1100" dirty="0">
                <a:solidFill>
                  <a:srgbClr val="667085"/>
                </a:solidFill>
                <a:latin typeface="PingFang SC" pitchFamily="34" charset="0"/>
                <a:ea typeface="PingFang SC" pitchFamily="34" charset="-122"/>
                <a:cs typeface="PingFang SC" pitchFamily="34" charset="-120"/>
              </a:rPr>
              <a:t>高</a:t>
            </a:r>
            <a:endParaRPr lang="en-US" sz="1100" dirty="0"/>
          </a:p>
        </p:txBody>
      </p:sp>
      <p:sp>
        <p:nvSpPr>
          <p:cNvPr id="46" name="Shape 44"/>
          <p:cNvSpPr/>
          <p:nvPr/>
        </p:nvSpPr>
        <p:spPr>
          <a:xfrm>
            <a:off x="6638544" y="5193792"/>
            <a:ext cx="4809744" cy="841248"/>
          </a:xfrm>
          <a:prstGeom prst="roundRect">
            <a:avLst>
              <a:gd name="adj" fmla="val 8696"/>
            </a:avLst>
          </a:prstGeom>
          <a:solidFill>
            <a:srgbClr val="162039"/>
          </a:solidFill>
          <a:ln w="12700">
            <a:solidFill>
              <a:srgbClr val="162039"/>
            </a:solidFill>
            <a:prstDash val="solid"/>
          </a:ln>
        </p:spPr>
      </p:sp>
      <p:sp>
        <p:nvSpPr>
          <p:cNvPr id="47" name="Text 45"/>
          <p:cNvSpPr/>
          <p:nvPr/>
        </p:nvSpPr>
        <p:spPr>
          <a:xfrm>
            <a:off x="6931152" y="5449824"/>
            <a:ext cx="4242816" cy="292608"/>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PingFang SC" pitchFamily="34" charset="0"/>
                <a:ea typeface="PingFang SC" pitchFamily="34" charset="-122"/>
                <a:cs typeface="PingFang SC" pitchFamily="34" charset="-120"/>
              </a:rPr>
              <a:t>一句话归纳：CSS 现在最强的不是“天花板效率”，而是“效率、稳定性、纹理兼容性与规模潜力”一起出现。</a:t>
            </a:r>
            <a:endParaRPr lang="en-US" sz="1250" dirty="0"/>
          </a:p>
        </p:txBody>
      </p:sp>
      <p:sp>
        <p:nvSpPr>
          <p:cNvPr id="48" name="Shape 46"/>
          <p:cNvSpPr/>
          <p:nvPr/>
        </p:nvSpPr>
        <p:spPr>
          <a:xfrm>
            <a:off x="566928" y="6419088"/>
            <a:ext cx="11064240" cy="0"/>
          </a:xfrm>
          <a:prstGeom prst="line">
            <a:avLst/>
          </a:prstGeom>
          <a:noFill/>
          <a:ln w="8890">
            <a:solidFill>
              <a:srgbClr val="D7DCE6"/>
            </a:solidFill>
            <a:prstDash val="solid"/>
          </a:ln>
        </p:spPr>
      </p:sp>
      <p:sp>
        <p:nvSpPr>
          <p:cNvPr id="49" name="Text 47"/>
          <p:cNvSpPr/>
          <p:nvPr/>
        </p:nvSpPr>
        <p:spPr>
          <a:xfrm>
            <a:off x="603504" y="6473952"/>
            <a:ext cx="10789920" cy="182880"/>
          </a:xfrm>
          <a:prstGeom prst="rect">
            <a:avLst/>
          </a:prstGeom>
          <a:noFill/>
          <a:ln/>
        </p:spPr>
        <p:txBody>
          <a:bodyPr wrap="square" lIns="0" tIns="0" rIns="0" bIns="0" rtlCol="0" anchor="ctr">
            <a:normAutofit/>
          </a:bodyPr>
          <a:lstStyle/>
          <a:p>
            <a:pPr indent="0" marL="0">
              <a:buNone/>
            </a:pPr>
            <a:r>
              <a:rPr lang="en-US" sz="850" dirty="0">
                <a:solidFill>
                  <a:srgbClr val="667085"/>
                </a:solidFill>
                <a:latin typeface="PingFang SC" pitchFamily="34" charset="0"/>
                <a:ea typeface="PingFang SC" pitchFamily="34" charset="-122"/>
                <a:cs typeface="PingFang SC" pitchFamily="34" charset="-120"/>
              </a:rPr>
              <a:t>综合证据：[1][3][4][5][6]。成熟度判断为作者归纳。</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A1020"/>
          </a:solidFill>
          <a:ln w="12700">
            <a:solidFill>
              <a:srgbClr val="0A1020">
                <a:alpha val="0"/>
              </a:srgbClr>
            </a:solidFill>
            <a:prstDash val="solid"/>
          </a:ln>
        </p:spPr>
      </p:sp>
      <p:sp>
        <p:nvSpPr>
          <p:cNvPr id="3" name="Text 1"/>
          <p:cNvSpPr/>
          <p:nvPr/>
        </p:nvSpPr>
        <p:spPr>
          <a:xfrm>
            <a:off x="566928" y="292608"/>
            <a:ext cx="1645920" cy="219456"/>
          </a:xfrm>
          <a:prstGeom prst="rect">
            <a:avLst/>
          </a:prstGeom>
          <a:noFill/>
          <a:ln/>
        </p:spPr>
        <p:txBody>
          <a:bodyPr wrap="square" lIns="0" tIns="0" rIns="0" bIns="0" rtlCol="0" anchor="ctr">
            <a:normAutofit/>
          </a:bodyPr>
          <a:lstStyle/>
          <a:p>
            <a:pPr indent="0" marL="0">
              <a:buNone/>
            </a:pPr>
            <a:r>
              <a:rPr lang="en-US" sz="1000" b="1" dirty="0">
                <a:solidFill>
                  <a:srgbClr val="18B7AE"/>
                </a:solidFill>
                <a:latin typeface="PingFang SC" pitchFamily="34" charset="0"/>
                <a:ea typeface="PingFang SC" pitchFamily="34" charset="-122"/>
                <a:cs typeface="PingFang SC" pitchFamily="34" charset="-120"/>
              </a:rPr>
              <a:t>PROCESS WINDOW</a:t>
            </a:r>
            <a:endParaRPr lang="en-US" sz="1000" dirty="0"/>
          </a:p>
        </p:txBody>
      </p:sp>
      <p:sp>
        <p:nvSpPr>
          <p:cNvPr id="4" name="Text 2"/>
          <p:cNvSpPr/>
          <p:nvPr/>
        </p:nvSpPr>
        <p:spPr>
          <a:xfrm>
            <a:off x="11109960" y="237744"/>
            <a:ext cx="502920" cy="274320"/>
          </a:xfrm>
          <a:prstGeom prst="rect">
            <a:avLst/>
          </a:prstGeom>
          <a:noFill/>
          <a:ln/>
        </p:spPr>
        <p:txBody>
          <a:bodyPr wrap="square" lIns="0" tIns="0" rIns="0" bIns="0" rtlCol="0" anchor="ctr">
            <a:normAutofit/>
          </a:bodyPr>
          <a:lstStyle/>
          <a:p>
            <a:pPr algn="r" indent="0" marL="0">
              <a:buNone/>
            </a:pPr>
            <a:r>
              <a:rPr lang="en-US" sz="1400" b="1" dirty="0">
                <a:solidFill>
                  <a:srgbClr val="0A1020"/>
                </a:solidFill>
                <a:latin typeface="PingFang SC" pitchFamily="34" charset="0"/>
                <a:ea typeface="PingFang SC" pitchFamily="34" charset="-122"/>
                <a:cs typeface="PingFang SC" pitchFamily="34" charset="-120"/>
              </a:rPr>
              <a:t>09</a:t>
            </a:r>
            <a:endParaRPr lang="en-US" sz="1400" dirty="0"/>
          </a:p>
        </p:txBody>
      </p:sp>
      <p:sp>
        <p:nvSpPr>
          <p:cNvPr id="5" name="Text 3"/>
          <p:cNvSpPr/>
          <p:nvPr/>
        </p:nvSpPr>
        <p:spPr>
          <a:xfrm>
            <a:off x="566928" y="548640"/>
            <a:ext cx="7680960" cy="402336"/>
          </a:xfrm>
          <a:prstGeom prst="rect">
            <a:avLst/>
          </a:prstGeom>
          <a:noFill/>
          <a:ln/>
        </p:spPr>
        <p:txBody>
          <a:bodyPr wrap="square" lIns="0" tIns="0" rIns="0" bIns="0" rtlCol="0" anchor="ctr">
            <a:normAutofit/>
          </a:bodyPr>
          <a:lstStyle/>
          <a:p>
            <a:pPr indent="0" marL="0">
              <a:buNone/>
            </a:pPr>
            <a:r>
              <a:rPr lang="en-US" sz="2400" b="1" dirty="0">
                <a:solidFill>
                  <a:srgbClr val="0A1020"/>
                </a:solidFill>
                <a:latin typeface="PingFang SC" pitchFamily="34" charset="0"/>
                <a:ea typeface="PingFang SC" pitchFamily="34" charset="-122"/>
                <a:cs typeface="PingFang SC" pitchFamily="34" charset="-120"/>
              </a:rPr>
              <a:t>关键工艺旋钮与失效模式</a:t>
            </a:r>
            <a:endParaRPr lang="en-US" sz="2400" dirty="0"/>
          </a:p>
        </p:txBody>
      </p:sp>
      <p:sp>
        <p:nvSpPr>
          <p:cNvPr id="6" name="Text 4"/>
          <p:cNvSpPr/>
          <p:nvPr/>
        </p:nvSpPr>
        <p:spPr>
          <a:xfrm>
            <a:off x="566928" y="960120"/>
            <a:ext cx="8778240" cy="292608"/>
          </a:xfrm>
          <a:prstGeom prst="rect">
            <a:avLst/>
          </a:prstGeom>
          <a:noFill/>
          <a:ln/>
        </p:spPr>
        <p:txBody>
          <a:bodyPr wrap="square" lIns="0" tIns="0" rIns="0" bIns="0" rtlCol="0" anchor="ctr">
            <a:normAutofit/>
          </a:bodyPr>
          <a:lstStyle/>
          <a:p>
            <a:pPr indent="0" marL="0">
              <a:buNone/>
            </a:pPr>
            <a:r>
              <a:rPr lang="en-US" sz="1150" dirty="0">
                <a:solidFill>
                  <a:srgbClr val="667085"/>
                </a:solidFill>
                <a:latin typeface="PingFang SC" pitchFamily="34" charset="0"/>
                <a:ea typeface="PingFang SC" pitchFamily="34" charset="-122"/>
                <a:cs typeface="PingFang SC" pitchFamily="34" charset="-120"/>
              </a:rPr>
              <a:t>做 CSS 的重点不是把设备搭起来，而是把窗口守住。</a:t>
            </a:r>
            <a:endParaRPr lang="en-US" sz="1150" dirty="0"/>
          </a:p>
        </p:txBody>
      </p:sp>
      <p:sp>
        <p:nvSpPr>
          <p:cNvPr id="7" name="Shape 5"/>
          <p:cNvSpPr/>
          <p:nvPr/>
        </p:nvSpPr>
        <p:spPr>
          <a:xfrm>
            <a:off x="566928" y="1225296"/>
            <a:ext cx="11064240" cy="0"/>
          </a:xfrm>
          <a:prstGeom prst="line">
            <a:avLst/>
          </a:prstGeom>
          <a:noFill/>
          <a:ln w="12700">
            <a:solidFill>
              <a:srgbClr val="D7DCE6"/>
            </a:solidFill>
            <a:prstDash val="solid"/>
          </a:ln>
        </p:spPr>
      </p:sp>
      <p:sp>
        <p:nvSpPr>
          <p:cNvPr id="8" name="Shape 6"/>
          <p:cNvSpPr/>
          <p:nvPr/>
        </p:nvSpPr>
        <p:spPr>
          <a:xfrm>
            <a:off x="749808" y="1645920"/>
            <a:ext cx="2578608" cy="1664208"/>
          </a:xfrm>
          <a:prstGeom prst="roundRect">
            <a:avLst>
              <a:gd name="adj" fmla="val 4396"/>
            </a:avLst>
          </a:prstGeom>
          <a:solidFill>
            <a:srgbClr val="FFFFFF"/>
          </a:solidFill>
          <a:ln w="15240">
            <a:solidFill>
              <a:srgbClr val="18B7AE"/>
            </a:solidFill>
            <a:prstDash val="solid"/>
          </a:ln>
        </p:spPr>
      </p:sp>
      <p:sp>
        <p:nvSpPr>
          <p:cNvPr id="9" name="Shape 7"/>
          <p:cNvSpPr/>
          <p:nvPr/>
        </p:nvSpPr>
        <p:spPr>
          <a:xfrm>
            <a:off x="768096" y="1664208"/>
            <a:ext cx="2542032" cy="73152"/>
          </a:xfrm>
          <a:prstGeom prst="rect">
            <a:avLst/>
          </a:prstGeom>
          <a:solidFill>
            <a:srgbClr val="18B7AE"/>
          </a:solidFill>
          <a:ln w="12700">
            <a:solidFill>
              <a:srgbClr val="18B7AE">
                <a:alpha val="0"/>
              </a:srgbClr>
            </a:solidFill>
            <a:prstDash val="solid"/>
          </a:ln>
        </p:spPr>
      </p:sp>
      <p:sp>
        <p:nvSpPr>
          <p:cNvPr id="10" name="Text 8"/>
          <p:cNvSpPr/>
          <p:nvPr/>
        </p:nvSpPr>
        <p:spPr>
          <a:xfrm>
            <a:off x="896112" y="1810512"/>
            <a:ext cx="2286000" cy="201168"/>
          </a:xfrm>
          <a:prstGeom prst="rect">
            <a:avLst/>
          </a:prstGeom>
          <a:noFill/>
          <a:ln/>
        </p:spPr>
        <p:txBody>
          <a:bodyPr wrap="square" lIns="0" tIns="0" rIns="0" bIns="0" rtlCol="0" anchor="ctr">
            <a:normAutofit/>
          </a:bodyPr>
          <a:lstStyle/>
          <a:p>
            <a:pPr algn="ctr" indent="0" marL="0">
              <a:buNone/>
            </a:pPr>
            <a:r>
              <a:rPr lang="en-US" sz="1280" b="1" dirty="0">
                <a:solidFill>
                  <a:srgbClr val="111827"/>
                </a:solidFill>
                <a:latin typeface="PingFang SC" pitchFamily="34" charset="0"/>
                <a:ea typeface="PingFang SC" pitchFamily="34" charset="-122"/>
                <a:cs typeface="PingFang SC" pitchFamily="34" charset="-120"/>
              </a:rPr>
              <a:t>有机源组成</a:t>
            </a:r>
            <a:endParaRPr lang="en-US" sz="1280" dirty="0"/>
          </a:p>
        </p:txBody>
      </p:sp>
      <p:sp>
        <p:nvSpPr>
          <p:cNvPr id="11" name="Text 9"/>
          <p:cNvSpPr/>
          <p:nvPr/>
        </p:nvSpPr>
        <p:spPr>
          <a:xfrm>
            <a:off x="932688" y="2157984"/>
            <a:ext cx="2176272" cy="182880"/>
          </a:xfrm>
          <a:prstGeom prst="rect">
            <a:avLst/>
          </a:prstGeom>
          <a:noFill/>
          <a:ln/>
        </p:spPr>
        <p:txBody>
          <a:bodyPr wrap="square" lIns="0" tIns="0" rIns="0" bIns="0" rtlCol="0" anchor="ctr">
            <a:normAutofit/>
          </a:bodyPr>
          <a:lstStyle/>
          <a:p>
            <a:pPr indent="0" marL="0">
              <a:buNone/>
            </a:pPr>
            <a:r>
              <a:rPr lang="en-US" sz="1080" dirty="0">
                <a:solidFill>
                  <a:srgbClr val="667085"/>
                </a:solidFill>
                <a:latin typeface="PingFang SC" pitchFamily="34" charset="0"/>
                <a:ea typeface="PingFang SC" pitchFamily="34" charset="-122"/>
                <a:cs typeface="PingFang SC" pitchFamily="34" charset="-120"/>
              </a:rPr>
              <a:t>偏低：转化不完全</a:t>
            </a:r>
            <a:endParaRPr lang="en-US" sz="1080" dirty="0"/>
          </a:p>
        </p:txBody>
      </p:sp>
      <p:sp>
        <p:nvSpPr>
          <p:cNvPr id="12" name="Text 10"/>
          <p:cNvSpPr/>
          <p:nvPr/>
        </p:nvSpPr>
        <p:spPr>
          <a:xfrm>
            <a:off x="932688" y="2487168"/>
            <a:ext cx="2176272" cy="182880"/>
          </a:xfrm>
          <a:prstGeom prst="rect">
            <a:avLst/>
          </a:prstGeom>
          <a:noFill/>
          <a:ln/>
        </p:spPr>
        <p:txBody>
          <a:bodyPr wrap="square" lIns="0" tIns="0" rIns="0" bIns="0" rtlCol="0" anchor="ctr">
            <a:normAutofit/>
          </a:bodyPr>
          <a:lstStyle/>
          <a:p>
            <a:pPr indent="0" marL="0">
              <a:buNone/>
            </a:pPr>
            <a:r>
              <a:rPr lang="en-US" sz="1080" b="1" dirty="0">
                <a:solidFill>
                  <a:srgbClr val="0A1020"/>
                </a:solidFill>
                <a:latin typeface="PingFang SC" pitchFamily="34" charset="0"/>
                <a:ea typeface="PingFang SC" pitchFamily="34" charset="-122"/>
                <a:cs typeface="PingFang SC" pitchFamily="34" charset="-120"/>
              </a:rPr>
              <a:t>合适：带隙稳定</a:t>
            </a:r>
            <a:endParaRPr lang="en-US" sz="1080" dirty="0"/>
          </a:p>
        </p:txBody>
      </p:sp>
      <p:sp>
        <p:nvSpPr>
          <p:cNvPr id="13" name="Text 11"/>
          <p:cNvSpPr/>
          <p:nvPr/>
        </p:nvSpPr>
        <p:spPr>
          <a:xfrm>
            <a:off x="932688" y="2816352"/>
            <a:ext cx="2176272" cy="182880"/>
          </a:xfrm>
          <a:prstGeom prst="rect">
            <a:avLst/>
          </a:prstGeom>
          <a:noFill/>
          <a:ln/>
        </p:spPr>
        <p:txBody>
          <a:bodyPr wrap="square" lIns="0" tIns="0" rIns="0" bIns="0" rtlCol="0" anchor="ctr">
            <a:normAutofit/>
          </a:bodyPr>
          <a:lstStyle/>
          <a:p>
            <a:pPr indent="0" marL="0">
              <a:buNone/>
            </a:pPr>
            <a:r>
              <a:rPr lang="en-US" sz="1080" dirty="0">
                <a:solidFill>
                  <a:srgbClr val="667085"/>
                </a:solidFill>
                <a:latin typeface="PingFang SC" pitchFamily="34" charset="0"/>
                <a:ea typeface="PingFang SC" pitchFamily="34" charset="-122"/>
                <a:cs typeface="PingFang SC" pitchFamily="34" charset="-120"/>
              </a:rPr>
              <a:t>偏高：相分离/漂移</a:t>
            </a:r>
            <a:endParaRPr lang="en-US" sz="1080" dirty="0"/>
          </a:p>
        </p:txBody>
      </p:sp>
      <p:sp>
        <p:nvSpPr>
          <p:cNvPr id="14" name="Shape 12"/>
          <p:cNvSpPr/>
          <p:nvPr/>
        </p:nvSpPr>
        <p:spPr>
          <a:xfrm>
            <a:off x="3895344" y="1645920"/>
            <a:ext cx="2578608" cy="1664208"/>
          </a:xfrm>
          <a:prstGeom prst="roundRect">
            <a:avLst>
              <a:gd name="adj" fmla="val 4396"/>
            </a:avLst>
          </a:prstGeom>
          <a:solidFill>
            <a:srgbClr val="FFFFFF"/>
          </a:solidFill>
          <a:ln w="15240">
            <a:solidFill>
              <a:srgbClr val="4E7BFF"/>
            </a:solidFill>
            <a:prstDash val="solid"/>
          </a:ln>
        </p:spPr>
      </p:sp>
      <p:sp>
        <p:nvSpPr>
          <p:cNvPr id="15" name="Shape 13"/>
          <p:cNvSpPr/>
          <p:nvPr/>
        </p:nvSpPr>
        <p:spPr>
          <a:xfrm>
            <a:off x="3913632" y="1664208"/>
            <a:ext cx="2542032" cy="73152"/>
          </a:xfrm>
          <a:prstGeom prst="rect">
            <a:avLst/>
          </a:prstGeom>
          <a:solidFill>
            <a:srgbClr val="4E7BFF"/>
          </a:solidFill>
          <a:ln w="12700">
            <a:solidFill>
              <a:srgbClr val="4E7BFF">
                <a:alpha val="0"/>
              </a:srgbClr>
            </a:solidFill>
            <a:prstDash val="solid"/>
          </a:ln>
        </p:spPr>
      </p:sp>
      <p:sp>
        <p:nvSpPr>
          <p:cNvPr id="16" name="Text 14"/>
          <p:cNvSpPr/>
          <p:nvPr/>
        </p:nvSpPr>
        <p:spPr>
          <a:xfrm>
            <a:off x="4041648" y="1810512"/>
            <a:ext cx="2286000" cy="201168"/>
          </a:xfrm>
          <a:prstGeom prst="rect">
            <a:avLst/>
          </a:prstGeom>
          <a:noFill/>
          <a:ln/>
        </p:spPr>
        <p:txBody>
          <a:bodyPr wrap="square" lIns="0" tIns="0" rIns="0" bIns="0" rtlCol="0" anchor="ctr">
            <a:normAutofit/>
          </a:bodyPr>
          <a:lstStyle/>
          <a:p>
            <a:pPr algn="ctr" indent="0" marL="0">
              <a:buNone/>
            </a:pPr>
            <a:r>
              <a:rPr lang="en-US" sz="1280" b="1" dirty="0">
                <a:solidFill>
                  <a:srgbClr val="111827"/>
                </a:solidFill>
                <a:latin typeface="PingFang SC" pitchFamily="34" charset="0"/>
                <a:ea typeface="PingFang SC" pitchFamily="34" charset="-122"/>
                <a:cs typeface="PingFang SC" pitchFamily="34" charset="-120"/>
              </a:rPr>
              <a:t>源温与供料强度</a:t>
            </a:r>
            <a:endParaRPr lang="en-US" sz="1280" dirty="0"/>
          </a:p>
        </p:txBody>
      </p:sp>
      <p:sp>
        <p:nvSpPr>
          <p:cNvPr id="17" name="Text 15"/>
          <p:cNvSpPr/>
          <p:nvPr/>
        </p:nvSpPr>
        <p:spPr>
          <a:xfrm>
            <a:off x="4078224" y="2157984"/>
            <a:ext cx="2176272" cy="182880"/>
          </a:xfrm>
          <a:prstGeom prst="rect">
            <a:avLst/>
          </a:prstGeom>
          <a:noFill/>
          <a:ln/>
        </p:spPr>
        <p:txBody>
          <a:bodyPr wrap="square" lIns="0" tIns="0" rIns="0" bIns="0" rtlCol="0" anchor="ctr">
            <a:normAutofit/>
          </a:bodyPr>
          <a:lstStyle/>
          <a:p>
            <a:pPr indent="0" marL="0">
              <a:buNone/>
            </a:pPr>
            <a:r>
              <a:rPr lang="en-US" sz="1080" dirty="0">
                <a:solidFill>
                  <a:srgbClr val="667085"/>
                </a:solidFill>
                <a:latin typeface="PingFang SC" pitchFamily="34" charset="0"/>
                <a:ea typeface="PingFang SC" pitchFamily="34" charset="-122"/>
                <a:cs typeface="PingFang SC" pitchFamily="34" charset="-120"/>
              </a:rPr>
              <a:t>偏低：到达量不足</a:t>
            </a:r>
            <a:endParaRPr lang="en-US" sz="1080" dirty="0"/>
          </a:p>
        </p:txBody>
      </p:sp>
      <p:sp>
        <p:nvSpPr>
          <p:cNvPr id="18" name="Text 16"/>
          <p:cNvSpPr/>
          <p:nvPr/>
        </p:nvSpPr>
        <p:spPr>
          <a:xfrm>
            <a:off x="4078224" y="2487168"/>
            <a:ext cx="2176272" cy="182880"/>
          </a:xfrm>
          <a:prstGeom prst="rect">
            <a:avLst/>
          </a:prstGeom>
          <a:noFill/>
          <a:ln/>
        </p:spPr>
        <p:txBody>
          <a:bodyPr wrap="square" lIns="0" tIns="0" rIns="0" bIns="0" rtlCol="0" anchor="ctr">
            <a:normAutofit/>
          </a:bodyPr>
          <a:lstStyle/>
          <a:p>
            <a:pPr indent="0" marL="0">
              <a:buNone/>
            </a:pPr>
            <a:r>
              <a:rPr lang="en-US" sz="1080" b="1" dirty="0">
                <a:solidFill>
                  <a:srgbClr val="0A1020"/>
                </a:solidFill>
                <a:latin typeface="PingFang SC" pitchFamily="34" charset="0"/>
                <a:ea typeface="PingFang SC" pitchFamily="34" charset="-122"/>
                <a:cs typeface="PingFang SC" pitchFamily="34" charset="-120"/>
              </a:rPr>
              <a:t>合适：供料平稳</a:t>
            </a:r>
            <a:endParaRPr lang="en-US" sz="1080" dirty="0"/>
          </a:p>
        </p:txBody>
      </p:sp>
      <p:sp>
        <p:nvSpPr>
          <p:cNvPr id="19" name="Text 17"/>
          <p:cNvSpPr/>
          <p:nvPr/>
        </p:nvSpPr>
        <p:spPr>
          <a:xfrm>
            <a:off x="4078224" y="2816352"/>
            <a:ext cx="2176272" cy="182880"/>
          </a:xfrm>
          <a:prstGeom prst="rect">
            <a:avLst/>
          </a:prstGeom>
          <a:noFill/>
          <a:ln/>
        </p:spPr>
        <p:txBody>
          <a:bodyPr wrap="square" lIns="0" tIns="0" rIns="0" bIns="0" rtlCol="0" anchor="ctr">
            <a:normAutofit/>
          </a:bodyPr>
          <a:lstStyle/>
          <a:p>
            <a:pPr indent="0" marL="0">
              <a:buNone/>
            </a:pPr>
            <a:r>
              <a:rPr lang="en-US" sz="1080" dirty="0">
                <a:solidFill>
                  <a:srgbClr val="667085"/>
                </a:solidFill>
                <a:latin typeface="PingFang SC" pitchFamily="34" charset="0"/>
                <a:ea typeface="PingFang SC" pitchFamily="34" charset="-122"/>
                <a:cs typeface="PingFang SC" pitchFamily="34" charset="-120"/>
              </a:rPr>
              <a:t>偏高：副反应/分解</a:t>
            </a:r>
            <a:endParaRPr lang="en-US" sz="1080" dirty="0"/>
          </a:p>
        </p:txBody>
      </p:sp>
      <p:sp>
        <p:nvSpPr>
          <p:cNvPr id="20" name="Shape 18"/>
          <p:cNvSpPr/>
          <p:nvPr/>
        </p:nvSpPr>
        <p:spPr>
          <a:xfrm>
            <a:off x="7040880" y="1645920"/>
            <a:ext cx="2578608" cy="1664208"/>
          </a:xfrm>
          <a:prstGeom prst="roundRect">
            <a:avLst>
              <a:gd name="adj" fmla="val 4396"/>
            </a:avLst>
          </a:prstGeom>
          <a:solidFill>
            <a:srgbClr val="FFFFFF"/>
          </a:solidFill>
          <a:ln w="15240">
            <a:solidFill>
              <a:srgbClr val="E9A45B"/>
            </a:solidFill>
            <a:prstDash val="solid"/>
          </a:ln>
        </p:spPr>
      </p:sp>
      <p:sp>
        <p:nvSpPr>
          <p:cNvPr id="21" name="Shape 19"/>
          <p:cNvSpPr/>
          <p:nvPr/>
        </p:nvSpPr>
        <p:spPr>
          <a:xfrm>
            <a:off x="7059168" y="1664208"/>
            <a:ext cx="2542032" cy="73152"/>
          </a:xfrm>
          <a:prstGeom prst="rect">
            <a:avLst/>
          </a:prstGeom>
          <a:solidFill>
            <a:srgbClr val="E9A45B"/>
          </a:solidFill>
          <a:ln w="12700">
            <a:solidFill>
              <a:srgbClr val="E9A45B">
                <a:alpha val="0"/>
              </a:srgbClr>
            </a:solidFill>
            <a:prstDash val="solid"/>
          </a:ln>
        </p:spPr>
      </p:sp>
      <p:sp>
        <p:nvSpPr>
          <p:cNvPr id="22" name="Text 20"/>
          <p:cNvSpPr/>
          <p:nvPr/>
        </p:nvSpPr>
        <p:spPr>
          <a:xfrm>
            <a:off x="7187184" y="1810512"/>
            <a:ext cx="2286000" cy="201168"/>
          </a:xfrm>
          <a:prstGeom prst="rect">
            <a:avLst/>
          </a:prstGeom>
          <a:noFill/>
          <a:ln/>
        </p:spPr>
        <p:txBody>
          <a:bodyPr wrap="square" lIns="0" tIns="0" rIns="0" bIns="0" rtlCol="0" anchor="ctr">
            <a:normAutofit/>
          </a:bodyPr>
          <a:lstStyle/>
          <a:p>
            <a:pPr algn="ctr" indent="0" marL="0">
              <a:buNone/>
            </a:pPr>
            <a:r>
              <a:rPr lang="en-US" sz="1280" b="1" dirty="0">
                <a:solidFill>
                  <a:srgbClr val="111827"/>
                </a:solidFill>
                <a:latin typeface="PingFang SC" pitchFamily="34" charset="0"/>
                <a:ea typeface="PingFang SC" pitchFamily="34" charset="-122"/>
                <a:cs typeface="PingFang SC" pitchFamily="34" charset="-120"/>
              </a:rPr>
              <a:t>基底温度</a:t>
            </a:r>
            <a:endParaRPr lang="en-US" sz="1280" dirty="0"/>
          </a:p>
        </p:txBody>
      </p:sp>
      <p:sp>
        <p:nvSpPr>
          <p:cNvPr id="23" name="Text 21"/>
          <p:cNvSpPr/>
          <p:nvPr/>
        </p:nvSpPr>
        <p:spPr>
          <a:xfrm>
            <a:off x="7223760" y="2157984"/>
            <a:ext cx="2176272" cy="182880"/>
          </a:xfrm>
          <a:prstGeom prst="rect">
            <a:avLst/>
          </a:prstGeom>
          <a:noFill/>
          <a:ln/>
        </p:spPr>
        <p:txBody>
          <a:bodyPr wrap="square" lIns="0" tIns="0" rIns="0" bIns="0" rtlCol="0" anchor="ctr">
            <a:normAutofit/>
          </a:bodyPr>
          <a:lstStyle/>
          <a:p>
            <a:pPr indent="0" marL="0">
              <a:buNone/>
            </a:pPr>
            <a:r>
              <a:rPr lang="en-US" sz="1080" dirty="0">
                <a:solidFill>
                  <a:srgbClr val="667085"/>
                </a:solidFill>
                <a:latin typeface="PingFang SC" pitchFamily="34" charset="0"/>
                <a:ea typeface="PingFang SC" pitchFamily="34" charset="-122"/>
                <a:cs typeface="PingFang SC" pitchFamily="34" charset="-120"/>
              </a:rPr>
              <a:t>偏低：晶化不足</a:t>
            </a:r>
            <a:endParaRPr lang="en-US" sz="1080" dirty="0"/>
          </a:p>
        </p:txBody>
      </p:sp>
      <p:sp>
        <p:nvSpPr>
          <p:cNvPr id="24" name="Text 22"/>
          <p:cNvSpPr/>
          <p:nvPr/>
        </p:nvSpPr>
        <p:spPr>
          <a:xfrm>
            <a:off x="7223760" y="2487168"/>
            <a:ext cx="2176272" cy="182880"/>
          </a:xfrm>
          <a:prstGeom prst="rect">
            <a:avLst/>
          </a:prstGeom>
          <a:noFill/>
          <a:ln/>
        </p:spPr>
        <p:txBody>
          <a:bodyPr wrap="square" lIns="0" tIns="0" rIns="0" bIns="0" rtlCol="0" anchor="ctr">
            <a:normAutofit/>
          </a:bodyPr>
          <a:lstStyle/>
          <a:p>
            <a:pPr indent="0" marL="0">
              <a:buNone/>
            </a:pPr>
            <a:r>
              <a:rPr lang="en-US" sz="1080" b="1" dirty="0">
                <a:solidFill>
                  <a:srgbClr val="0A1020"/>
                </a:solidFill>
                <a:latin typeface="PingFang SC" pitchFamily="34" charset="0"/>
                <a:ea typeface="PingFang SC" pitchFamily="34" charset="-122"/>
                <a:cs typeface="PingFang SC" pitchFamily="34" charset="-120"/>
              </a:rPr>
              <a:t>合适：反应前沿推进</a:t>
            </a:r>
            <a:endParaRPr lang="en-US" sz="1080" dirty="0"/>
          </a:p>
        </p:txBody>
      </p:sp>
      <p:sp>
        <p:nvSpPr>
          <p:cNvPr id="25" name="Text 23"/>
          <p:cNvSpPr/>
          <p:nvPr/>
        </p:nvSpPr>
        <p:spPr>
          <a:xfrm>
            <a:off x="7223760" y="2816352"/>
            <a:ext cx="2176272" cy="182880"/>
          </a:xfrm>
          <a:prstGeom prst="rect">
            <a:avLst/>
          </a:prstGeom>
          <a:noFill/>
          <a:ln/>
        </p:spPr>
        <p:txBody>
          <a:bodyPr wrap="square" lIns="0" tIns="0" rIns="0" bIns="0" rtlCol="0" anchor="ctr">
            <a:normAutofit/>
          </a:bodyPr>
          <a:lstStyle/>
          <a:p>
            <a:pPr indent="0" marL="0">
              <a:buNone/>
            </a:pPr>
            <a:r>
              <a:rPr lang="en-US" sz="1080" dirty="0">
                <a:solidFill>
                  <a:srgbClr val="667085"/>
                </a:solidFill>
                <a:latin typeface="PingFang SC" pitchFamily="34" charset="0"/>
                <a:ea typeface="PingFang SC" pitchFamily="34" charset="-122"/>
                <a:cs typeface="PingFang SC" pitchFamily="34" charset="-120"/>
              </a:rPr>
              <a:t>偏高：重蒸发/损伤</a:t>
            </a:r>
            <a:endParaRPr lang="en-US" sz="1080" dirty="0"/>
          </a:p>
        </p:txBody>
      </p:sp>
      <p:sp>
        <p:nvSpPr>
          <p:cNvPr id="26" name="Shape 24"/>
          <p:cNvSpPr/>
          <p:nvPr/>
        </p:nvSpPr>
        <p:spPr>
          <a:xfrm>
            <a:off x="2322576" y="3895344"/>
            <a:ext cx="2578608" cy="1664208"/>
          </a:xfrm>
          <a:prstGeom prst="roundRect">
            <a:avLst>
              <a:gd name="adj" fmla="val 4396"/>
            </a:avLst>
          </a:prstGeom>
          <a:solidFill>
            <a:srgbClr val="FFFFFF"/>
          </a:solidFill>
          <a:ln w="15240">
            <a:solidFill>
              <a:srgbClr val="C86B82"/>
            </a:solidFill>
            <a:prstDash val="solid"/>
          </a:ln>
        </p:spPr>
      </p:sp>
      <p:sp>
        <p:nvSpPr>
          <p:cNvPr id="27" name="Shape 25"/>
          <p:cNvSpPr/>
          <p:nvPr/>
        </p:nvSpPr>
        <p:spPr>
          <a:xfrm>
            <a:off x="2340864" y="3913632"/>
            <a:ext cx="2542032" cy="73152"/>
          </a:xfrm>
          <a:prstGeom prst="rect">
            <a:avLst/>
          </a:prstGeom>
          <a:solidFill>
            <a:srgbClr val="C86B82"/>
          </a:solidFill>
          <a:ln w="12700">
            <a:solidFill>
              <a:srgbClr val="C86B82">
                <a:alpha val="0"/>
              </a:srgbClr>
            </a:solidFill>
            <a:prstDash val="solid"/>
          </a:ln>
        </p:spPr>
      </p:sp>
      <p:sp>
        <p:nvSpPr>
          <p:cNvPr id="28" name="Text 26"/>
          <p:cNvSpPr/>
          <p:nvPr/>
        </p:nvSpPr>
        <p:spPr>
          <a:xfrm>
            <a:off x="2468880" y="4059936"/>
            <a:ext cx="2286000" cy="201168"/>
          </a:xfrm>
          <a:prstGeom prst="rect">
            <a:avLst/>
          </a:prstGeom>
          <a:noFill/>
          <a:ln/>
        </p:spPr>
        <p:txBody>
          <a:bodyPr wrap="square" lIns="0" tIns="0" rIns="0" bIns="0" rtlCol="0" anchor="ctr">
            <a:normAutofit/>
          </a:bodyPr>
          <a:lstStyle/>
          <a:p>
            <a:pPr algn="ctr" indent="0" marL="0">
              <a:buNone/>
            </a:pPr>
            <a:r>
              <a:rPr lang="en-US" sz="1280" b="1" dirty="0">
                <a:solidFill>
                  <a:srgbClr val="111827"/>
                </a:solidFill>
                <a:latin typeface="PingFang SC" pitchFamily="34" charset="0"/>
                <a:ea typeface="PingFang SC" pitchFamily="34" charset="-122"/>
                <a:cs typeface="PingFang SC" pitchFamily="34" charset="-120"/>
              </a:rPr>
              <a:t>压强与 gap</a:t>
            </a:r>
            <a:endParaRPr lang="en-US" sz="1280" dirty="0"/>
          </a:p>
        </p:txBody>
      </p:sp>
      <p:sp>
        <p:nvSpPr>
          <p:cNvPr id="29" name="Text 27"/>
          <p:cNvSpPr/>
          <p:nvPr/>
        </p:nvSpPr>
        <p:spPr>
          <a:xfrm>
            <a:off x="2505456" y="4407408"/>
            <a:ext cx="2176272" cy="182880"/>
          </a:xfrm>
          <a:prstGeom prst="rect">
            <a:avLst/>
          </a:prstGeom>
          <a:noFill/>
          <a:ln/>
        </p:spPr>
        <p:txBody>
          <a:bodyPr wrap="square" lIns="0" tIns="0" rIns="0" bIns="0" rtlCol="0" anchor="ctr">
            <a:normAutofit/>
          </a:bodyPr>
          <a:lstStyle/>
          <a:p>
            <a:pPr indent="0" marL="0">
              <a:buNone/>
            </a:pPr>
            <a:r>
              <a:rPr lang="en-US" sz="1080" dirty="0">
                <a:solidFill>
                  <a:srgbClr val="667085"/>
                </a:solidFill>
                <a:latin typeface="PingFang SC" pitchFamily="34" charset="0"/>
                <a:ea typeface="PingFang SC" pitchFamily="34" charset="-122"/>
                <a:cs typeface="PingFang SC" pitchFamily="34" charset="-120"/>
              </a:rPr>
              <a:t>偏低：设备负担增大</a:t>
            </a:r>
            <a:endParaRPr lang="en-US" sz="1080" dirty="0"/>
          </a:p>
        </p:txBody>
      </p:sp>
      <p:sp>
        <p:nvSpPr>
          <p:cNvPr id="30" name="Text 28"/>
          <p:cNvSpPr/>
          <p:nvPr/>
        </p:nvSpPr>
        <p:spPr>
          <a:xfrm>
            <a:off x="2505456" y="4736592"/>
            <a:ext cx="2176272" cy="182880"/>
          </a:xfrm>
          <a:prstGeom prst="rect">
            <a:avLst/>
          </a:prstGeom>
          <a:noFill/>
          <a:ln/>
        </p:spPr>
        <p:txBody>
          <a:bodyPr wrap="square" lIns="0" tIns="0" rIns="0" bIns="0" rtlCol="0" anchor="ctr">
            <a:normAutofit/>
          </a:bodyPr>
          <a:lstStyle/>
          <a:p>
            <a:pPr indent="0" marL="0">
              <a:buNone/>
            </a:pPr>
            <a:r>
              <a:rPr lang="en-US" sz="1080" b="1" dirty="0">
                <a:solidFill>
                  <a:srgbClr val="0A1020"/>
                </a:solidFill>
                <a:latin typeface="PingFang SC" pitchFamily="34" charset="0"/>
                <a:ea typeface="PingFang SC" pitchFamily="34" charset="-122"/>
                <a:cs typeface="PingFang SC" pitchFamily="34" charset="-120"/>
              </a:rPr>
              <a:t>合适：近场传质有效</a:t>
            </a:r>
            <a:endParaRPr lang="en-US" sz="1080" dirty="0"/>
          </a:p>
        </p:txBody>
      </p:sp>
      <p:sp>
        <p:nvSpPr>
          <p:cNvPr id="31" name="Text 29"/>
          <p:cNvSpPr/>
          <p:nvPr/>
        </p:nvSpPr>
        <p:spPr>
          <a:xfrm>
            <a:off x="2505456" y="5065776"/>
            <a:ext cx="2176272" cy="182880"/>
          </a:xfrm>
          <a:prstGeom prst="rect">
            <a:avLst/>
          </a:prstGeom>
          <a:noFill/>
          <a:ln/>
        </p:spPr>
        <p:txBody>
          <a:bodyPr wrap="square" lIns="0" tIns="0" rIns="0" bIns="0" rtlCol="0" anchor="ctr">
            <a:normAutofit/>
          </a:bodyPr>
          <a:lstStyle/>
          <a:p>
            <a:pPr indent="0" marL="0">
              <a:buNone/>
            </a:pPr>
            <a:r>
              <a:rPr lang="en-US" sz="1080" dirty="0">
                <a:solidFill>
                  <a:srgbClr val="667085"/>
                </a:solidFill>
                <a:latin typeface="PingFang SC" pitchFamily="34" charset="0"/>
                <a:ea typeface="PingFang SC" pitchFamily="34" charset="-122"/>
                <a:cs typeface="PingFang SC" pitchFamily="34" charset="-120"/>
              </a:rPr>
              <a:t>偏高：输运变钝化</a:t>
            </a:r>
            <a:endParaRPr lang="en-US" sz="1080" dirty="0"/>
          </a:p>
        </p:txBody>
      </p:sp>
      <p:sp>
        <p:nvSpPr>
          <p:cNvPr id="32" name="Shape 30"/>
          <p:cNvSpPr/>
          <p:nvPr/>
        </p:nvSpPr>
        <p:spPr>
          <a:xfrm>
            <a:off x="5468112" y="3895344"/>
            <a:ext cx="2578608" cy="1664208"/>
          </a:xfrm>
          <a:prstGeom prst="roundRect">
            <a:avLst>
              <a:gd name="adj" fmla="val 4396"/>
            </a:avLst>
          </a:prstGeom>
          <a:solidFill>
            <a:srgbClr val="FFFFFF"/>
          </a:solidFill>
          <a:ln w="15240">
            <a:solidFill>
              <a:srgbClr val="2E9D5B"/>
            </a:solidFill>
            <a:prstDash val="solid"/>
          </a:ln>
        </p:spPr>
      </p:sp>
      <p:sp>
        <p:nvSpPr>
          <p:cNvPr id="33" name="Shape 31"/>
          <p:cNvSpPr/>
          <p:nvPr/>
        </p:nvSpPr>
        <p:spPr>
          <a:xfrm>
            <a:off x="5486400" y="3913632"/>
            <a:ext cx="2542032" cy="73152"/>
          </a:xfrm>
          <a:prstGeom prst="rect">
            <a:avLst/>
          </a:prstGeom>
          <a:solidFill>
            <a:srgbClr val="2E9D5B"/>
          </a:solidFill>
          <a:ln w="12700">
            <a:solidFill>
              <a:srgbClr val="2E9D5B">
                <a:alpha val="0"/>
              </a:srgbClr>
            </a:solidFill>
            <a:prstDash val="solid"/>
          </a:ln>
        </p:spPr>
      </p:sp>
      <p:sp>
        <p:nvSpPr>
          <p:cNvPr id="34" name="Text 32"/>
          <p:cNvSpPr/>
          <p:nvPr/>
        </p:nvSpPr>
        <p:spPr>
          <a:xfrm>
            <a:off x="5614416" y="4059936"/>
            <a:ext cx="2286000" cy="201168"/>
          </a:xfrm>
          <a:prstGeom prst="rect">
            <a:avLst/>
          </a:prstGeom>
          <a:noFill/>
          <a:ln/>
        </p:spPr>
        <p:txBody>
          <a:bodyPr wrap="square" lIns="0" tIns="0" rIns="0" bIns="0" rtlCol="0" anchor="ctr">
            <a:normAutofit/>
          </a:bodyPr>
          <a:lstStyle/>
          <a:p>
            <a:pPr algn="ctr" indent="0" marL="0">
              <a:buNone/>
            </a:pPr>
            <a:r>
              <a:rPr lang="en-US" sz="1280" b="1" dirty="0">
                <a:solidFill>
                  <a:srgbClr val="111827"/>
                </a:solidFill>
                <a:latin typeface="PingFang SC" pitchFamily="34" charset="0"/>
                <a:ea typeface="PingFang SC" pitchFamily="34" charset="-122"/>
                <a:cs typeface="PingFang SC" pitchFamily="34" charset="-120"/>
              </a:rPr>
              <a:t>表面/骨架状态</a:t>
            </a:r>
            <a:endParaRPr lang="en-US" sz="1280" dirty="0"/>
          </a:p>
        </p:txBody>
      </p:sp>
      <p:sp>
        <p:nvSpPr>
          <p:cNvPr id="35" name="Text 33"/>
          <p:cNvSpPr/>
          <p:nvPr/>
        </p:nvSpPr>
        <p:spPr>
          <a:xfrm>
            <a:off x="5650992" y="4407408"/>
            <a:ext cx="2176272" cy="182880"/>
          </a:xfrm>
          <a:prstGeom prst="rect">
            <a:avLst/>
          </a:prstGeom>
          <a:noFill/>
          <a:ln/>
        </p:spPr>
        <p:txBody>
          <a:bodyPr wrap="square" lIns="0" tIns="0" rIns="0" bIns="0" rtlCol="0" anchor="ctr">
            <a:normAutofit/>
          </a:bodyPr>
          <a:lstStyle/>
          <a:p>
            <a:pPr indent="0" marL="0">
              <a:buNone/>
            </a:pPr>
            <a:r>
              <a:rPr lang="en-US" sz="1080" dirty="0">
                <a:solidFill>
                  <a:srgbClr val="667085"/>
                </a:solidFill>
                <a:latin typeface="PingFang SC" pitchFamily="34" charset="0"/>
                <a:ea typeface="PingFang SC" pitchFamily="34" charset="-122"/>
                <a:cs typeface="PingFang SC" pitchFamily="34" charset="-120"/>
              </a:rPr>
              <a:t>偏差：核化与反应不均</a:t>
            </a:r>
            <a:endParaRPr lang="en-US" sz="1080" dirty="0"/>
          </a:p>
        </p:txBody>
      </p:sp>
      <p:sp>
        <p:nvSpPr>
          <p:cNvPr id="36" name="Text 34"/>
          <p:cNvSpPr/>
          <p:nvPr/>
        </p:nvSpPr>
        <p:spPr>
          <a:xfrm>
            <a:off x="5650992" y="4736592"/>
            <a:ext cx="2176272" cy="182880"/>
          </a:xfrm>
          <a:prstGeom prst="rect">
            <a:avLst/>
          </a:prstGeom>
          <a:noFill/>
          <a:ln/>
        </p:spPr>
        <p:txBody>
          <a:bodyPr wrap="square" lIns="0" tIns="0" rIns="0" bIns="0" rtlCol="0" anchor="ctr">
            <a:normAutofit/>
          </a:bodyPr>
          <a:lstStyle/>
          <a:p>
            <a:pPr indent="0" marL="0">
              <a:buNone/>
            </a:pPr>
            <a:r>
              <a:rPr lang="en-US" sz="1080" b="1" dirty="0">
                <a:solidFill>
                  <a:srgbClr val="0A1020"/>
                </a:solidFill>
                <a:latin typeface="PingFang SC" pitchFamily="34" charset="0"/>
                <a:ea typeface="PingFang SC" pitchFamily="34" charset="-122"/>
                <a:cs typeface="PingFang SC" pitchFamily="34" charset="-120"/>
              </a:rPr>
              <a:t>合适：均匀转化</a:t>
            </a:r>
            <a:endParaRPr lang="en-US" sz="1080" dirty="0"/>
          </a:p>
        </p:txBody>
      </p:sp>
      <p:sp>
        <p:nvSpPr>
          <p:cNvPr id="37" name="Text 35"/>
          <p:cNvSpPr/>
          <p:nvPr/>
        </p:nvSpPr>
        <p:spPr>
          <a:xfrm>
            <a:off x="5650992" y="5065776"/>
            <a:ext cx="2176272" cy="182880"/>
          </a:xfrm>
          <a:prstGeom prst="rect">
            <a:avLst/>
          </a:prstGeom>
          <a:noFill/>
          <a:ln/>
        </p:spPr>
        <p:txBody>
          <a:bodyPr wrap="square" lIns="0" tIns="0" rIns="0" bIns="0" rtlCol="0" anchor="ctr">
            <a:normAutofit/>
          </a:bodyPr>
          <a:lstStyle/>
          <a:p>
            <a:pPr indent="0" marL="0">
              <a:buNone/>
            </a:pPr>
            <a:r>
              <a:rPr lang="en-US" sz="1080" dirty="0">
                <a:solidFill>
                  <a:srgbClr val="667085"/>
                </a:solidFill>
                <a:latin typeface="PingFang SC" pitchFamily="34" charset="0"/>
                <a:ea typeface="PingFang SC" pitchFamily="34" charset="-122"/>
                <a:cs typeface="PingFang SC" pitchFamily="34" charset="-120"/>
              </a:rPr>
              <a:t>失控：二次相与 pinhole</a:t>
            </a:r>
            <a:endParaRPr lang="en-US" sz="1080" dirty="0"/>
          </a:p>
        </p:txBody>
      </p:sp>
      <p:sp>
        <p:nvSpPr>
          <p:cNvPr id="38" name="Shape 36"/>
          <p:cNvSpPr/>
          <p:nvPr/>
        </p:nvSpPr>
        <p:spPr>
          <a:xfrm>
            <a:off x="8394192" y="3895344"/>
            <a:ext cx="3054096" cy="1664208"/>
          </a:xfrm>
          <a:prstGeom prst="roundRect">
            <a:avLst>
              <a:gd name="adj" fmla="val 4396"/>
            </a:avLst>
          </a:prstGeom>
          <a:solidFill>
            <a:srgbClr val="162039"/>
          </a:solidFill>
          <a:ln w="12700">
            <a:solidFill>
              <a:srgbClr val="162039"/>
            </a:solidFill>
            <a:prstDash val="solid"/>
          </a:ln>
        </p:spPr>
      </p:sp>
      <p:sp>
        <p:nvSpPr>
          <p:cNvPr id="39" name="Text 37"/>
          <p:cNvSpPr/>
          <p:nvPr/>
        </p:nvSpPr>
        <p:spPr>
          <a:xfrm>
            <a:off x="8650224" y="4114800"/>
            <a:ext cx="1645920" cy="201168"/>
          </a:xfrm>
          <a:prstGeom prst="rect">
            <a:avLst/>
          </a:prstGeom>
          <a:noFill/>
          <a:ln/>
        </p:spPr>
        <p:txBody>
          <a:bodyPr wrap="square" lIns="0" tIns="0" rIns="0" bIns="0" rtlCol="0" anchor="ctr">
            <a:normAutofit/>
          </a:bodyPr>
          <a:lstStyle/>
          <a:p>
            <a:pPr indent="0" marL="0">
              <a:buNone/>
            </a:pPr>
            <a:r>
              <a:rPr lang="en-US" sz="1300" b="1" dirty="0">
                <a:solidFill>
                  <a:srgbClr val="18B7AE"/>
                </a:solidFill>
                <a:latin typeface="PingFang SC" pitchFamily="34" charset="0"/>
                <a:ea typeface="PingFang SC" pitchFamily="34" charset="-122"/>
                <a:cs typeface="PingFang SC" pitchFamily="34" charset="-120"/>
              </a:rPr>
              <a:t>最容易的误判</a:t>
            </a:r>
            <a:endParaRPr lang="en-US" sz="1300" dirty="0"/>
          </a:p>
        </p:txBody>
      </p:sp>
      <p:sp>
        <p:nvSpPr>
          <p:cNvPr id="40" name="Text 38"/>
          <p:cNvSpPr/>
          <p:nvPr/>
        </p:nvSpPr>
        <p:spPr>
          <a:xfrm>
            <a:off x="8631936" y="4498848"/>
            <a:ext cx="2578608" cy="603504"/>
          </a:xfrm>
          <a:prstGeom prst="rect">
            <a:avLst/>
          </a:prstGeom>
          <a:noFill/>
          <a:ln/>
        </p:spPr>
        <p:txBody>
          <a:bodyPr wrap="square" lIns="0" tIns="0" rIns="0" bIns="0" rtlCol="0" anchor="ctr">
            <a:normAutofit/>
          </a:bodyPr>
          <a:lstStyle/>
          <a:p>
            <a:pPr algn="ctr" indent="0" marL="0">
              <a:buNone/>
            </a:pPr>
            <a:r>
              <a:rPr lang="en-US" sz="1260" b="1" dirty="0">
                <a:solidFill>
                  <a:srgbClr val="FFFFFF"/>
                </a:solidFill>
                <a:latin typeface="PingFang SC" pitchFamily="34" charset="0"/>
                <a:ea typeface="PingFang SC" pitchFamily="34" charset="-122"/>
                <a:cs typeface="PingFang SC" pitchFamily="34" charset="-120"/>
              </a:rPr>
              <a:t>只盯蒸发速率，不盯反应前沿。</a:t>
            </a:r>
            <a:endParaRPr lang="en-US" sz="1260" dirty="0"/>
          </a:p>
          <a:p>
            <a:pPr algn="ctr" indent="0" marL="0">
              <a:buNone/>
            </a:pPr>
            <a:r>
              <a:rPr lang="en-US" sz="1260" b="1" dirty="0">
                <a:solidFill>
                  <a:srgbClr val="FFFFFF"/>
                </a:solidFill>
                <a:latin typeface="PingFang SC" pitchFamily="34" charset="0"/>
                <a:ea typeface="PingFang SC" pitchFamily="34" charset="-122"/>
                <a:cs typeface="PingFang SC" pitchFamily="34" charset="-120"/>
              </a:rPr>
              <a:t>对钙钛矿 CSS 来说，后者往往更决定成败。</a:t>
            </a:r>
            <a:endParaRPr lang="en-US" sz="1260" dirty="0"/>
          </a:p>
        </p:txBody>
      </p:sp>
      <p:sp>
        <p:nvSpPr>
          <p:cNvPr id="41" name="Shape 39"/>
          <p:cNvSpPr/>
          <p:nvPr/>
        </p:nvSpPr>
        <p:spPr>
          <a:xfrm>
            <a:off x="566928" y="6419088"/>
            <a:ext cx="11064240" cy="0"/>
          </a:xfrm>
          <a:prstGeom prst="line">
            <a:avLst/>
          </a:prstGeom>
          <a:noFill/>
          <a:ln w="8890">
            <a:solidFill>
              <a:srgbClr val="D7DCE6"/>
            </a:solidFill>
            <a:prstDash val="solid"/>
          </a:ln>
        </p:spPr>
      </p:sp>
      <p:sp>
        <p:nvSpPr>
          <p:cNvPr id="42" name="Text 40"/>
          <p:cNvSpPr/>
          <p:nvPr/>
        </p:nvSpPr>
        <p:spPr>
          <a:xfrm>
            <a:off x="603504" y="6473952"/>
            <a:ext cx="10789920" cy="182880"/>
          </a:xfrm>
          <a:prstGeom prst="rect">
            <a:avLst/>
          </a:prstGeom>
          <a:noFill/>
          <a:ln/>
        </p:spPr>
        <p:txBody>
          <a:bodyPr wrap="square" lIns="0" tIns="0" rIns="0" bIns="0" rtlCol="0" anchor="ctr">
            <a:normAutofit/>
          </a:bodyPr>
          <a:lstStyle/>
          <a:p>
            <a:pPr indent="0" marL="0">
              <a:buNone/>
            </a:pPr>
            <a:r>
              <a:rPr lang="en-US" sz="850" dirty="0">
                <a:solidFill>
                  <a:srgbClr val="667085"/>
                </a:solidFill>
                <a:latin typeface="PingFang SC" pitchFamily="34" charset="0"/>
                <a:ea typeface="PingFang SC" pitchFamily="34" charset="-122"/>
                <a:cs typeface="PingFang SC" pitchFamily="34" charset="-120"/>
              </a:rPr>
              <a:t>风险与窗口判断主要基于 [1][2][4][6] 的工艺描述与结果归纳。</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020"/>
        </a:solidFill>
      </p:bgPr>
    </p:bg>
    <p:spTree>
      <p:nvGrpSpPr>
        <p:cNvPr id="1" name=""/>
        <p:cNvGrpSpPr/>
        <p:nvPr/>
      </p:nvGrpSpPr>
      <p:grpSpPr>
        <a:xfrm>
          <a:off x="0" y="0"/>
          <a:ext cx="0" cy="0"/>
          <a:chOff x="0" y="0"/>
          <a:chExt cx="0" cy="0"/>
        </a:xfrm>
      </p:grpSpPr>
      <p:sp>
        <p:nvSpPr>
          <p:cNvPr id="2" name="Shape 0"/>
          <p:cNvSpPr/>
          <p:nvPr/>
        </p:nvSpPr>
        <p:spPr>
          <a:xfrm>
            <a:off x="8321040" y="182880"/>
            <a:ext cx="3291840" cy="3291840"/>
          </a:xfrm>
          <a:prstGeom prst="ellipse">
            <a:avLst/>
          </a:prstGeom>
          <a:solidFill>
            <a:srgbClr val="18B7AE">
              <a:alpha val="12000"/>
            </a:srgbClr>
          </a:solidFill>
          <a:ln w="12700">
            <a:solidFill>
              <a:srgbClr val="18B7AE">
                <a:alpha val="0"/>
              </a:srgbClr>
            </a:solidFill>
            <a:prstDash val="solid"/>
          </a:ln>
        </p:spPr>
      </p:sp>
      <p:sp>
        <p:nvSpPr>
          <p:cNvPr id="3" name="Text 1"/>
          <p:cNvSpPr/>
          <p:nvPr/>
        </p:nvSpPr>
        <p:spPr>
          <a:xfrm>
            <a:off x="713232" y="676656"/>
            <a:ext cx="1463040" cy="164592"/>
          </a:xfrm>
          <a:prstGeom prst="rect">
            <a:avLst/>
          </a:prstGeom>
          <a:noFill/>
          <a:ln/>
        </p:spPr>
        <p:txBody>
          <a:bodyPr wrap="square" lIns="0" tIns="0" rIns="0" bIns="0" rtlCol="0" anchor="ctr">
            <a:normAutofit/>
          </a:bodyPr>
          <a:lstStyle/>
          <a:p>
            <a:pPr indent="0" marL="0">
              <a:buNone/>
            </a:pPr>
            <a:r>
              <a:rPr lang="en-US" sz="1050" b="1" dirty="0">
                <a:solidFill>
                  <a:srgbClr val="18B7AE"/>
                </a:solidFill>
                <a:latin typeface="PingFang SC" pitchFamily="34" charset="0"/>
                <a:ea typeface="PingFang SC" pitchFamily="34" charset="-122"/>
                <a:cs typeface="PingFang SC" pitchFamily="34" charset="-120"/>
              </a:rPr>
              <a:t>Conclusion</a:t>
            </a:r>
            <a:endParaRPr lang="en-US" sz="1050" dirty="0"/>
          </a:p>
        </p:txBody>
      </p:sp>
      <p:sp>
        <p:nvSpPr>
          <p:cNvPr id="4" name="Text 2"/>
          <p:cNvSpPr/>
          <p:nvPr/>
        </p:nvSpPr>
        <p:spPr>
          <a:xfrm>
            <a:off x="713232" y="1042416"/>
            <a:ext cx="5852160" cy="841248"/>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PingFang SC" pitchFamily="34" charset="0"/>
                <a:ea typeface="PingFang SC" pitchFamily="34" charset="-122"/>
                <a:cs typeface="PingFang SC" pitchFamily="34" charset="-120"/>
              </a:rPr>
              <a:t>我的结论：</a:t>
            </a:r>
            <a:endParaRPr lang="en-US" sz="2600" dirty="0"/>
          </a:p>
          <a:p>
            <a:pPr indent="0" marL="0">
              <a:buNone/>
            </a:pPr>
            <a:r>
              <a:rPr lang="en-US" sz="2600" b="1" dirty="0">
                <a:solidFill>
                  <a:srgbClr val="FFFFFF"/>
                </a:solidFill>
                <a:latin typeface="PingFang SC" pitchFamily="34" charset="0"/>
                <a:ea typeface="PingFang SC" pitchFamily="34" charset="-122"/>
                <a:cs typeface="PingFang SC" pitchFamily="34" charset="-120"/>
              </a:rPr>
              <a:t>CSS 值得做，但要按“工艺平台”来做</a:t>
            </a:r>
            <a:endParaRPr lang="en-US" sz="2600" dirty="0"/>
          </a:p>
        </p:txBody>
      </p:sp>
      <p:sp>
        <p:nvSpPr>
          <p:cNvPr id="5" name="Shape 3"/>
          <p:cNvSpPr/>
          <p:nvPr/>
        </p:nvSpPr>
        <p:spPr>
          <a:xfrm>
            <a:off x="804672" y="2340864"/>
            <a:ext cx="91440" cy="91440"/>
          </a:xfrm>
          <a:prstGeom prst="ellipse">
            <a:avLst/>
          </a:prstGeom>
          <a:solidFill>
            <a:srgbClr val="18B7AE"/>
          </a:solidFill>
          <a:ln w="12700">
            <a:solidFill>
              <a:srgbClr val="18B7AE">
                <a:alpha val="0"/>
              </a:srgbClr>
            </a:solidFill>
            <a:prstDash val="solid"/>
          </a:ln>
        </p:spPr>
      </p:sp>
      <p:sp>
        <p:nvSpPr>
          <p:cNvPr id="6" name="Text 4"/>
          <p:cNvSpPr/>
          <p:nvPr/>
        </p:nvSpPr>
        <p:spPr>
          <a:xfrm>
            <a:off x="969264" y="2249424"/>
            <a:ext cx="5413248" cy="384048"/>
          </a:xfrm>
          <a:prstGeom prst="rect">
            <a:avLst/>
          </a:prstGeom>
          <a:noFill/>
          <a:ln/>
        </p:spPr>
        <p:txBody>
          <a:bodyPr wrap="square" lIns="0" tIns="0" rIns="0" bIns="0" rtlCol="0" anchor="ctr">
            <a:normAutofit/>
          </a:bodyPr>
          <a:lstStyle/>
          <a:p>
            <a:pPr indent="0" marL="0">
              <a:buNone/>
            </a:pPr>
            <a:r>
              <a:rPr lang="en-US" sz="1400" dirty="0">
                <a:solidFill>
                  <a:srgbClr val="D4D9E6"/>
                </a:solidFill>
                <a:latin typeface="PingFang SC" pitchFamily="34" charset="0"/>
                <a:ea typeface="PingFang SC" pitchFamily="34" charset="-122"/>
                <a:cs typeface="PingFang SC" pitchFamily="34" charset="-120"/>
              </a:rPr>
              <a:t>如果目标是溶剂自由、大面积、真空线兼容与纹理硅串联，CSS 很有吸引力。</a:t>
            </a:r>
            <a:endParaRPr lang="en-US" sz="1400" dirty="0"/>
          </a:p>
        </p:txBody>
      </p:sp>
      <p:sp>
        <p:nvSpPr>
          <p:cNvPr id="7" name="Shape 5"/>
          <p:cNvSpPr/>
          <p:nvPr/>
        </p:nvSpPr>
        <p:spPr>
          <a:xfrm>
            <a:off x="804672" y="3182112"/>
            <a:ext cx="91440" cy="91440"/>
          </a:xfrm>
          <a:prstGeom prst="ellipse">
            <a:avLst/>
          </a:prstGeom>
          <a:solidFill>
            <a:srgbClr val="18B7AE"/>
          </a:solidFill>
          <a:ln w="12700">
            <a:solidFill>
              <a:srgbClr val="18B7AE">
                <a:alpha val="0"/>
              </a:srgbClr>
            </a:solidFill>
            <a:prstDash val="solid"/>
          </a:ln>
        </p:spPr>
      </p:sp>
      <p:sp>
        <p:nvSpPr>
          <p:cNvPr id="8" name="Text 6"/>
          <p:cNvSpPr/>
          <p:nvPr/>
        </p:nvSpPr>
        <p:spPr>
          <a:xfrm>
            <a:off x="969264" y="3090672"/>
            <a:ext cx="5413248" cy="384048"/>
          </a:xfrm>
          <a:prstGeom prst="rect">
            <a:avLst/>
          </a:prstGeom>
          <a:noFill/>
          <a:ln/>
        </p:spPr>
        <p:txBody>
          <a:bodyPr wrap="square" lIns="0" tIns="0" rIns="0" bIns="0" rtlCol="0" anchor="ctr">
            <a:normAutofit/>
          </a:bodyPr>
          <a:lstStyle/>
          <a:p>
            <a:pPr indent="0" marL="0">
              <a:buNone/>
            </a:pPr>
            <a:r>
              <a:rPr lang="en-US" sz="1400" dirty="0">
                <a:solidFill>
                  <a:srgbClr val="D4D9E6"/>
                </a:solidFill>
                <a:latin typeface="PingFang SC" pitchFamily="34" charset="0"/>
                <a:ea typeface="PingFang SC" pitchFamily="34" charset="-122"/>
                <a:cs typeface="PingFang SC" pitchFamily="34" charset="-120"/>
              </a:rPr>
              <a:t>如果目标是最快拿到实验室单结纪录，CSS 目前还不是最直接的路径。</a:t>
            </a:r>
            <a:endParaRPr lang="en-US" sz="1400" dirty="0"/>
          </a:p>
        </p:txBody>
      </p:sp>
      <p:sp>
        <p:nvSpPr>
          <p:cNvPr id="9" name="Shape 7"/>
          <p:cNvSpPr/>
          <p:nvPr/>
        </p:nvSpPr>
        <p:spPr>
          <a:xfrm>
            <a:off x="804672" y="4023360"/>
            <a:ext cx="91440" cy="91440"/>
          </a:xfrm>
          <a:prstGeom prst="ellipse">
            <a:avLst/>
          </a:prstGeom>
          <a:solidFill>
            <a:srgbClr val="18B7AE"/>
          </a:solidFill>
          <a:ln w="12700">
            <a:solidFill>
              <a:srgbClr val="18B7AE">
                <a:alpha val="0"/>
              </a:srgbClr>
            </a:solidFill>
            <a:prstDash val="solid"/>
          </a:ln>
        </p:spPr>
      </p:sp>
      <p:sp>
        <p:nvSpPr>
          <p:cNvPr id="10" name="Text 8"/>
          <p:cNvSpPr/>
          <p:nvPr/>
        </p:nvSpPr>
        <p:spPr>
          <a:xfrm>
            <a:off x="969264" y="3931920"/>
            <a:ext cx="5413248" cy="384048"/>
          </a:xfrm>
          <a:prstGeom prst="rect">
            <a:avLst/>
          </a:prstGeom>
          <a:noFill/>
          <a:ln/>
        </p:spPr>
        <p:txBody>
          <a:bodyPr wrap="square" lIns="0" tIns="0" rIns="0" bIns="0" rtlCol="0" anchor="ctr">
            <a:normAutofit/>
          </a:bodyPr>
          <a:lstStyle/>
          <a:p>
            <a:pPr indent="0" marL="0">
              <a:buNone/>
            </a:pPr>
            <a:r>
              <a:rPr lang="en-US" sz="1400" dirty="0">
                <a:solidFill>
                  <a:srgbClr val="D4D9E6"/>
                </a:solidFill>
                <a:latin typeface="PingFang SC" pitchFamily="34" charset="0"/>
                <a:ea typeface="PingFang SC" pitchFamily="34" charset="-122"/>
                <a:cs typeface="PingFang SC" pitchFamily="34" charset="-120"/>
              </a:rPr>
              <a:t>最应该投入的不是“再多加一个热源”，而是 source chemistry、反应动力学与在线过程窗口控制。</a:t>
            </a:r>
            <a:endParaRPr lang="en-US" sz="1400" dirty="0"/>
          </a:p>
        </p:txBody>
      </p:sp>
      <p:sp>
        <p:nvSpPr>
          <p:cNvPr id="11" name="Shape 9"/>
          <p:cNvSpPr/>
          <p:nvPr/>
        </p:nvSpPr>
        <p:spPr>
          <a:xfrm>
            <a:off x="7168896" y="1371600"/>
            <a:ext cx="4059936" cy="4206240"/>
          </a:xfrm>
          <a:prstGeom prst="roundRect">
            <a:avLst>
              <a:gd name="adj" fmla="val 1802"/>
            </a:avLst>
          </a:prstGeom>
          <a:solidFill>
            <a:srgbClr val="111A2F"/>
          </a:solidFill>
          <a:ln w="15240">
            <a:solidFill>
              <a:srgbClr val="18B7AE"/>
            </a:solidFill>
            <a:prstDash val="solid"/>
          </a:ln>
        </p:spPr>
      </p:sp>
      <p:sp>
        <p:nvSpPr>
          <p:cNvPr id="12" name="Shape 10"/>
          <p:cNvSpPr/>
          <p:nvPr/>
        </p:nvSpPr>
        <p:spPr>
          <a:xfrm>
            <a:off x="7187184" y="1389888"/>
            <a:ext cx="4023360" cy="73152"/>
          </a:xfrm>
          <a:prstGeom prst="rect">
            <a:avLst/>
          </a:prstGeom>
          <a:solidFill>
            <a:srgbClr val="18B7AE"/>
          </a:solidFill>
          <a:ln w="12700">
            <a:solidFill>
              <a:srgbClr val="18B7AE">
                <a:alpha val="0"/>
              </a:srgbClr>
            </a:solidFill>
            <a:prstDash val="solid"/>
          </a:ln>
        </p:spPr>
      </p:sp>
      <p:sp>
        <p:nvSpPr>
          <p:cNvPr id="13" name="Text 11"/>
          <p:cNvSpPr/>
          <p:nvPr/>
        </p:nvSpPr>
        <p:spPr>
          <a:xfrm>
            <a:off x="7406640" y="1664208"/>
            <a:ext cx="1792224" cy="201168"/>
          </a:xfrm>
          <a:prstGeom prst="rect">
            <a:avLst/>
          </a:prstGeom>
          <a:noFill/>
          <a:ln/>
        </p:spPr>
        <p:txBody>
          <a:bodyPr wrap="square" lIns="0" tIns="0" rIns="0" bIns="0" rtlCol="0" anchor="ctr">
            <a:normAutofit/>
          </a:bodyPr>
          <a:lstStyle/>
          <a:p>
            <a:pPr indent="0" marL="0">
              <a:buNone/>
            </a:pPr>
            <a:r>
              <a:rPr lang="en-US" sz="1450" b="1" dirty="0">
                <a:solidFill>
                  <a:srgbClr val="FFFFFF"/>
                </a:solidFill>
                <a:latin typeface="PingFang SC" pitchFamily="34" charset="0"/>
                <a:ea typeface="PingFang SC" pitchFamily="34" charset="-122"/>
                <a:cs typeface="PingFang SC" pitchFamily="34" charset="-120"/>
              </a:rPr>
              <a:t>更适合 CSS 的场景</a:t>
            </a:r>
            <a:endParaRPr lang="en-US" sz="1450" dirty="0"/>
          </a:p>
        </p:txBody>
      </p:sp>
      <p:sp>
        <p:nvSpPr>
          <p:cNvPr id="14" name="Shape 12"/>
          <p:cNvSpPr/>
          <p:nvPr/>
        </p:nvSpPr>
        <p:spPr>
          <a:xfrm>
            <a:off x="7406640" y="2176272"/>
            <a:ext cx="91440" cy="91440"/>
          </a:xfrm>
          <a:prstGeom prst="ellipse">
            <a:avLst/>
          </a:prstGeom>
          <a:solidFill>
            <a:srgbClr val="E9A45B"/>
          </a:solidFill>
          <a:ln w="12700">
            <a:solidFill>
              <a:srgbClr val="E9A45B">
                <a:alpha val="0"/>
              </a:srgbClr>
            </a:solidFill>
            <a:prstDash val="solid"/>
          </a:ln>
        </p:spPr>
      </p:sp>
      <p:sp>
        <p:nvSpPr>
          <p:cNvPr id="15" name="Text 13"/>
          <p:cNvSpPr/>
          <p:nvPr/>
        </p:nvSpPr>
        <p:spPr>
          <a:xfrm>
            <a:off x="7571232" y="2084832"/>
            <a:ext cx="3236976" cy="384048"/>
          </a:xfrm>
          <a:prstGeom prst="rect">
            <a:avLst/>
          </a:prstGeom>
          <a:noFill/>
          <a:ln/>
        </p:spPr>
        <p:txBody>
          <a:bodyPr wrap="square" lIns="0" tIns="0" rIns="0" bIns="0" rtlCol="0" anchor="ctr">
            <a:normAutofit/>
          </a:bodyPr>
          <a:lstStyle/>
          <a:p>
            <a:pPr indent="0" marL="0">
              <a:buNone/>
            </a:pPr>
            <a:r>
              <a:rPr lang="en-US" sz="1250" dirty="0">
                <a:solidFill>
                  <a:srgbClr val="D4D9E6"/>
                </a:solidFill>
                <a:latin typeface="PingFang SC" pitchFamily="34" charset="0"/>
                <a:ea typeface="PingFang SC" pitchFamily="34" charset="-122"/>
                <a:cs typeface="PingFang SC" pitchFamily="34" charset="-120"/>
              </a:rPr>
              <a:t>宽带隙 / tandem 前电池</a:t>
            </a:r>
            <a:endParaRPr lang="en-US" sz="1250" dirty="0"/>
          </a:p>
        </p:txBody>
      </p:sp>
      <p:sp>
        <p:nvSpPr>
          <p:cNvPr id="16" name="Shape 14"/>
          <p:cNvSpPr/>
          <p:nvPr/>
        </p:nvSpPr>
        <p:spPr>
          <a:xfrm>
            <a:off x="7406640" y="2834640"/>
            <a:ext cx="91440" cy="91440"/>
          </a:xfrm>
          <a:prstGeom prst="ellipse">
            <a:avLst/>
          </a:prstGeom>
          <a:solidFill>
            <a:srgbClr val="E9A45B"/>
          </a:solidFill>
          <a:ln w="12700">
            <a:solidFill>
              <a:srgbClr val="E9A45B">
                <a:alpha val="0"/>
              </a:srgbClr>
            </a:solidFill>
            <a:prstDash val="solid"/>
          </a:ln>
        </p:spPr>
      </p:sp>
      <p:sp>
        <p:nvSpPr>
          <p:cNvPr id="17" name="Text 15"/>
          <p:cNvSpPr/>
          <p:nvPr/>
        </p:nvSpPr>
        <p:spPr>
          <a:xfrm>
            <a:off x="7571232" y="2743200"/>
            <a:ext cx="3236976" cy="384048"/>
          </a:xfrm>
          <a:prstGeom prst="rect">
            <a:avLst/>
          </a:prstGeom>
          <a:noFill/>
          <a:ln/>
        </p:spPr>
        <p:txBody>
          <a:bodyPr wrap="square" lIns="0" tIns="0" rIns="0" bIns="0" rtlCol="0" anchor="ctr">
            <a:normAutofit/>
          </a:bodyPr>
          <a:lstStyle/>
          <a:p>
            <a:pPr indent="0" marL="0">
              <a:buNone/>
            </a:pPr>
            <a:r>
              <a:rPr lang="en-US" sz="1250" dirty="0">
                <a:solidFill>
                  <a:srgbClr val="D4D9E6"/>
                </a:solidFill>
                <a:latin typeface="PingFang SC" pitchFamily="34" charset="0"/>
                <a:ea typeface="PingFang SC" pitchFamily="34" charset="-122"/>
                <a:cs typeface="PingFang SC" pitchFamily="34" charset="-120"/>
              </a:rPr>
              <a:t>纹理硅兼容路线</a:t>
            </a:r>
            <a:endParaRPr lang="en-US" sz="1250" dirty="0"/>
          </a:p>
        </p:txBody>
      </p:sp>
      <p:sp>
        <p:nvSpPr>
          <p:cNvPr id="18" name="Shape 16"/>
          <p:cNvSpPr/>
          <p:nvPr/>
        </p:nvSpPr>
        <p:spPr>
          <a:xfrm>
            <a:off x="7406640" y="3493008"/>
            <a:ext cx="91440" cy="91440"/>
          </a:xfrm>
          <a:prstGeom prst="ellipse">
            <a:avLst/>
          </a:prstGeom>
          <a:solidFill>
            <a:srgbClr val="E9A45B"/>
          </a:solidFill>
          <a:ln w="12700">
            <a:solidFill>
              <a:srgbClr val="E9A45B">
                <a:alpha val="0"/>
              </a:srgbClr>
            </a:solidFill>
            <a:prstDash val="solid"/>
          </a:ln>
        </p:spPr>
      </p:sp>
      <p:sp>
        <p:nvSpPr>
          <p:cNvPr id="19" name="Text 17"/>
          <p:cNvSpPr/>
          <p:nvPr/>
        </p:nvSpPr>
        <p:spPr>
          <a:xfrm>
            <a:off x="7571232" y="3401568"/>
            <a:ext cx="3236976" cy="384048"/>
          </a:xfrm>
          <a:prstGeom prst="rect">
            <a:avLst/>
          </a:prstGeom>
          <a:noFill/>
          <a:ln/>
        </p:spPr>
        <p:txBody>
          <a:bodyPr wrap="square" lIns="0" tIns="0" rIns="0" bIns="0" rtlCol="0" anchor="ctr">
            <a:normAutofit/>
          </a:bodyPr>
          <a:lstStyle/>
          <a:p>
            <a:pPr indent="0" marL="0">
              <a:buNone/>
            </a:pPr>
            <a:r>
              <a:rPr lang="en-US" sz="1250" dirty="0">
                <a:solidFill>
                  <a:srgbClr val="D4D9E6"/>
                </a:solidFill>
                <a:latin typeface="PingFang SC" pitchFamily="34" charset="0"/>
                <a:ea typeface="PingFang SC" pitchFamily="34" charset="-122"/>
                <a:cs typeface="PingFang SC" pitchFamily="34" charset="-120"/>
              </a:rPr>
              <a:t>多基底同时处理</a:t>
            </a:r>
            <a:endParaRPr lang="en-US" sz="1250" dirty="0"/>
          </a:p>
        </p:txBody>
      </p:sp>
      <p:sp>
        <p:nvSpPr>
          <p:cNvPr id="20" name="Shape 18"/>
          <p:cNvSpPr/>
          <p:nvPr/>
        </p:nvSpPr>
        <p:spPr>
          <a:xfrm>
            <a:off x="7406640" y="4151376"/>
            <a:ext cx="91440" cy="91440"/>
          </a:xfrm>
          <a:prstGeom prst="ellipse">
            <a:avLst/>
          </a:prstGeom>
          <a:solidFill>
            <a:srgbClr val="E9A45B"/>
          </a:solidFill>
          <a:ln w="12700">
            <a:solidFill>
              <a:srgbClr val="E9A45B">
                <a:alpha val="0"/>
              </a:srgbClr>
            </a:solidFill>
            <a:prstDash val="solid"/>
          </a:ln>
        </p:spPr>
      </p:sp>
      <p:sp>
        <p:nvSpPr>
          <p:cNvPr id="21" name="Text 19"/>
          <p:cNvSpPr/>
          <p:nvPr/>
        </p:nvSpPr>
        <p:spPr>
          <a:xfrm>
            <a:off x="7571232" y="4059936"/>
            <a:ext cx="3236976" cy="384048"/>
          </a:xfrm>
          <a:prstGeom prst="rect">
            <a:avLst/>
          </a:prstGeom>
          <a:noFill/>
          <a:ln/>
        </p:spPr>
        <p:txBody>
          <a:bodyPr wrap="square" lIns="0" tIns="0" rIns="0" bIns="0" rtlCol="0" anchor="ctr">
            <a:normAutofit/>
          </a:bodyPr>
          <a:lstStyle/>
          <a:p>
            <a:pPr indent="0" marL="0">
              <a:buNone/>
            </a:pPr>
            <a:r>
              <a:rPr lang="en-US" sz="1250" dirty="0">
                <a:solidFill>
                  <a:srgbClr val="D4D9E6"/>
                </a:solidFill>
                <a:latin typeface="PingFang SC" pitchFamily="34" charset="0"/>
                <a:ea typeface="PingFang SC" pitchFamily="34" charset="-122"/>
                <a:cs typeface="PingFang SC" pitchFamily="34" charset="-120"/>
              </a:rPr>
              <a:t>强调材料利用率与稳定性的 pilot line</a:t>
            </a:r>
            <a:endParaRPr lang="en-US" sz="1250" dirty="0"/>
          </a:p>
        </p:txBody>
      </p:sp>
      <p:sp>
        <p:nvSpPr>
          <p:cNvPr id="22" name="Text 20"/>
          <p:cNvSpPr/>
          <p:nvPr/>
        </p:nvSpPr>
        <p:spPr>
          <a:xfrm>
            <a:off x="7406640" y="4224528"/>
            <a:ext cx="1463040" cy="182880"/>
          </a:xfrm>
          <a:prstGeom prst="rect">
            <a:avLst/>
          </a:prstGeom>
          <a:noFill/>
          <a:ln/>
        </p:spPr>
        <p:txBody>
          <a:bodyPr wrap="square" lIns="0" tIns="0" rIns="0" bIns="0" rtlCol="0" anchor="ctr">
            <a:normAutofit/>
          </a:bodyPr>
          <a:lstStyle/>
          <a:p>
            <a:pPr indent="0" marL="0">
              <a:buNone/>
            </a:pPr>
            <a:r>
              <a:rPr lang="en-US" sz="1280" b="1" dirty="0">
                <a:solidFill>
                  <a:srgbClr val="18B7AE"/>
                </a:solidFill>
                <a:latin typeface="PingFang SC" pitchFamily="34" charset="0"/>
                <a:ea typeface="PingFang SC" pitchFamily="34" charset="-122"/>
                <a:cs typeface="PingFang SC" pitchFamily="34" charset="-120"/>
              </a:rPr>
              <a:t>不宜直接期待</a:t>
            </a:r>
            <a:endParaRPr lang="en-US" sz="1280" dirty="0"/>
          </a:p>
        </p:txBody>
      </p:sp>
      <p:sp>
        <p:nvSpPr>
          <p:cNvPr id="23" name="Text 21"/>
          <p:cNvSpPr/>
          <p:nvPr/>
        </p:nvSpPr>
        <p:spPr>
          <a:xfrm>
            <a:off x="7406640" y="4535424"/>
            <a:ext cx="3511296" cy="329184"/>
          </a:xfrm>
          <a:prstGeom prst="rect">
            <a:avLst/>
          </a:prstGeom>
          <a:noFill/>
          <a:ln/>
        </p:spPr>
        <p:txBody>
          <a:bodyPr wrap="square" lIns="0" tIns="0" rIns="0" bIns="0" rtlCol="0" anchor="ctr">
            <a:normAutofit/>
          </a:bodyPr>
          <a:lstStyle/>
          <a:p>
            <a:pPr algn="ctr" indent="0" marL="0">
              <a:buNone/>
            </a:pPr>
            <a:r>
              <a:rPr lang="en-US" sz="1340" b="1" dirty="0">
                <a:solidFill>
                  <a:srgbClr val="FFFFFF"/>
                </a:solidFill>
                <a:latin typeface="PingFang SC" pitchFamily="34" charset="0"/>
                <a:ea typeface="PingFang SC" pitchFamily="34" charset="-122"/>
                <a:cs typeface="PingFang SC" pitchFamily="34" charset="-120"/>
              </a:rPr>
              <a:t>“只靠设备升级就自然追平最优解法纪录效率”</a:t>
            </a:r>
            <a:endParaRPr lang="en-US" sz="1340" dirty="0"/>
          </a:p>
        </p:txBody>
      </p:sp>
      <p:sp>
        <p:nvSpPr>
          <p:cNvPr id="24" name="Shape 22"/>
          <p:cNvSpPr/>
          <p:nvPr/>
        </p:nvSpPr>
        <p:spPr>
          <a:xfrm>
            <a:off x="566928" y="6419088"/>
            <a:ext cx="11064240" cy="0"/>
          </a:xfrm>
          <a:prstGeom prst="line">
            <a:avLst/>
          </a:prstGeom>
          <a:noFill/>
          <a:ln w="8890">
            <a:solidFill>
              <a:srgbClr val="D7DCE6"/>
            </a:solidFill>
            <a:prstDash val="solid"/>
          </a:ln>
        </p:spPr>
      </p:sp>
      <p:sp>
        <p:nvSpPr>
          <p:cNvPr id="25" name="Text 23"/>
          <p:cNvSpPr/>
          <p:nvPr/>
        </p:nvSpPr>
        <p:spPr>
          <a:xfrm>
            <a:off x="603504" y="6473952"/>
            <a:ext cx="10789920" cy="182880"/>
          </a:xfrm>
          <a:prstGeom prst="rect">
            <a:avLst/>
          </a:prstGeom>
          <a:noFill/>
          <a:ln/>
        </p:spPr>
        <p:txBody>
          <a:bodyPr wrap="square" lIns="0" tIns="0" rIns="0" bIns="0" rtlCol="0" anchor="ctr">
            <a:normAutofit/>
          </a:bodyPr>
          <a:lstStyle/>
          <a:p>
            <a:pPr indent="0" marL="0">
              <a:buNone/>
            </a:pPr>
            <a:r>
              <a:rPr lang="en-US" sz="850" dirty="0">
                <a:solidFill>
                  <a:srgbClr val="667085"/>
                </a:solidFill>
                <a:latin typeface="PingFang SC" pitchFamily="34" charset="0"/>
                <a:ea typeface="PingFang SC" pitchFamily="34" charset="-122"/>
                <a:cs typeface="PingFang SC" pitchFamily="34" charset="-120"/>
              </a:rPr>
              <a:t>本页为作者基于 [1][4][6] 的综合判断；原始数据与文献见最后一页。</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A1020"/>
          </a:solidFill>
          <a:ln w="12700">
            <a:solidFill>
              <a:srgbClr val="0A1020">
                <a:alpha val="0"/>
              </a:srgbClr>
            </a:solidFill>
            <a:prstDash val="solid"/>
          </a:ln>
        </p:spPr>
      </p:sp>
      <p:sp>
        <p:nvSpPr>
          <p:cNvPr id="3" name="Text 1"/>
          <p:cNvSpPr/>
          <p:nvPr/>
        </p:nvSpPr>
        <p:spPr>
          <a:xfrm>
            <a:off x="566928" y="292608"/>
            <a:ext cx="1645920" cy="219456"/>
          </a:xfrm>
          <a:prstGeom prst="rect">
            <a:avLst/>
          </a:prstGeom>
          <a:noFill/>
          <a:ln/>
        </p:spPr>
        <p:txBody>
          <a:bodyPr wrap="square" lIns="0" tIns="0" rIns="0" bIns="0" rtlCol="0" anchor="ctr">
            <a:normAutofit/>
          </a:bodyPr>
          <a:lstStyle/>
          <a:p>
            <a:pPr indent="0" marL="0">
              <a:buNone/>
            </a:pPr>
            <a:r>
              <a:rPr lang="en-US" sz="1000" b="1" dirty="0">
                <a:solidFill>
                  <a:srgbClr val="18B7AE"/>
                </a:solidFill>
                <a:latin typeface="PingFang SC" pitchFamily="34" charset="0"/>
                <a:ea typeface="PingFang SC" pitchFamily="34" charset="-122"/>
                <a:cs typeface="PingFang SC" pitchFamily="34" charset="-120"/>
              </a:rPr>
              <a:t>REFERENCES</a:t>
            </a:r>
            <a:endParaRPr lang="en-US" sz="1000" dirty="0"/>
          </a:p>
        </p:txBody>
      </p:sp>
      <p:sp>
        <p:nvSpPr>
          <p:cNvPr id="4" name="Text 2"/>
          <p:cNvSpPr/>
          <p:nvPr/>
        </p:nvSpPr>
        <p:spPr>
          <a:xfrm>
            <a:off x="11109960" y="237744"/>
            <a:ext cx="502920" cy="274320"/>
          </a:xfrm>
          <a:prstGeom prst="rect">
            <a:avLst/>
          </a:prstGeom>
          <a:noFill/>
          <a:ln/>
        </p:spPr>
        <p:txBody>
          <a:bodyPr wrap="square" lIns="0" tIns="0" rIns="0" bIns="0" rtlCol="0" anchor="ctr">
            <a:normAutofit/>
          </a:bodyPr>
          <a:lstStyle/>
          <a:p>
            <a:pPr algn="r" indent="0" marL="0">
              <a:buNone/>
            </a:pPr>
            <a:r>
              <a:rPr lang="en-US" sz="1400" b="1" dirty="0">
                <a:solidFill>
                  <a:srgbClr val="0A1020"/>
                </a:solidFill>
                <a:latin typeface="PingFang SC" pitchFamily="34" charset="0"/>
                <a:ea typeface="PingFang SC" pitchFamily="34" charset="-122"/>
                <a:cs typeface="PingFang SC" pitchFamily="34" charset="-120"/>
              </a:rPr>
              <a:t>11</a:t>
            </a:r>
            <a:endParaRPr lang="en-US" sz="1400" dirty="0"/>
          </a:p>
        </p:txBody>
      </p:sp>
      <p:sp>
        <p:nvSpPr>
          <p:cNvPr id="5" name="Text 3"/>
          <p:cNvSpPr/>
          <p:nvPr/>
        </p:nvSpPr>
        <p:spPr>
          <a:xfrm>
            <a:off x="566928" y="548640"/>
            <a:ext cx="7680960" cy="402336"/>
          </a:xfrm>
          <a:prstGeom prst="rect">
            <a:avLst/>
          </a:prstGeom>
          <a:noFill/>
          <a:ln/>
        </p:spPr>
        <p:txBody>
          <a:bodyPr wrap="square" lIns="0" tIns="0" rIns="0" bIns="0" rtlCol="0" anchor="ctr">
            <a:normAutofit/>
          </a:bodyPr>
          <a:lstStyle/>
          <a:p>
            <a:pPr indent="0" marL="0">
              <a:buNone/>
            </a:pPr>
            <a:r>
              <a:rPr lang="en-US" sz="2400" b="1" dirty="0">
                <a:solidFill>
                  <a:srgbClr val="0A1020"/>
                </a:solidFill>
                <a:latin typeface="PingFang SC" pitchFamily="34" charset="0"/>
                <a:ea typeface="PingFang SC" pitchFamily="34" charset="-122"/>
                <a:cs typeface="PingFang SC" pitchFamily="34" charset="-120"/>
              </a:rPr>
              <a:t>参考文献</a:t>
            </a:r>
            <a:endParaRPr lang="en-US" sz="2400" dirty="0"/>
          </a:p>
        </p:txBody>
      </p:sp>
      <p:sp>
        <p:nvSpPr>
          <p:cNvPr id="6" name="Text 4"/>
          <p:cNvSpPr/>
          <p:nvPr/>
        </p:nvSpPr>
        <p:spPr>
          <a:xfrm>
            <a:off x="566928" y="960120"/>
            <a:ext cx="8778240" cy="292608"/>
          </a:xfrm>
          <a:prstGeom prst="rect">
            <a:avLst/>
          </a:prstGeom>
          <a:noFill/>
          <a:ln/>
        </p:spPr>
        <p:txBody>
          <a:bodyPr wrap="square" lIns="0" tIns="0" rIns="0" bIns="0" rtlCol="0" anchor="ctr">
            <a:normAutofit/>
          </a:bodyPr>
          <a:lstStyle/>
          <a:p>
            <a:pPr indent="0" marL="0">
              <a:buNone/>
            </a:pPr>
            <a:r>
              <a:rPr lang="en-US" sz="1150" dirty="0">
                <a:solidFill>
                  <a:srgbClr val="667085"/>
                </a:solidFill>
                <a:latin typeface="PingFang SC" pitchFamily="34" charset="0"/>
                <a:ea typeface="PingFang SC" pitchFamily="34" charset="-122"/>
                <a:cs typeface="PingFang SC" pitchFamily="34" charset="-120"/>
              </a:rPr>
              <a:t>正文引用编号与这里一一对应。</a:t>
            </a:r>
            <a:endParaRPr lang="en-US" sz="1150" dirty="0"/>
          </a:p>
        </p:txBody>
      </p:sp>
      <p:sp>
        <p:nvSpPr>
          <p:cNvPr id="7" name="Shape 5"/>
          <p:cNvSpPr/>
          <p:nvPr/>
        </p:nvSpPr>
        <p:spPr>
          <a:xfrm>
            <a:off x="566928" y="1225296"/>
            <a:ext cx="11064240" cy="0"/>
          </a:xfrm>
          <a:prstGeom prst="line">
            <a:avLst/>
          </a:prstGeom>
          <a:noFill/>
          <a:ln w="12700">
            <a:solidFill>
              <a:srgbClr val="D7DCE6"/>
            </a:solidFill>
            <a:prstDash val="solid"/>
          </a:ln>
        </p:spPr>
      </p:sp>
      <p:sp>
        <p:nvSpPr>
          <p:cNvPr id="8" name="Shape 6"/>
          <p:cNvSpPr/>
          <p:nvPr/>
        </p:nvSpPr>
        <p:spPr>
          <a:xfrm>
            <a:off x="786384" y="1572768"/>
            <a:ext cx="10899648" cy="603504"/>
          </a:xfrm>
          <a:prstGeom prst="roundRect">
            <a:avLst>
              <a:gd name="adj" fmla="val 12121"/>
            </a:avLst>
          </a:prstGeom>
          <a:solidFill>
            <a:srgbClr val="FFFFFF"/>
          </a:solidFill>
          <a:ln w="12700">
            <a:solidFill>
              <a:srgbClr val="D7DCE6"/>
            </a:solidFill>
            <a:prstDash val="solid"/>
          </a:ln>
        </p:spPr>
      </p:sp>
      <p:sp>
        <p:nvSpPr>
          <p:cNvPr id="9" name="Text 7"/>
          <p:cNvSpPr/>
          <p:nvPr/>
        </p:nvSpPr>
        <p:spPr>
          <a:xfrm>
            <a:off x="987552" y="1719072"/>
            <a:ext cx="10460736" cy="310896"/>
          </a:xfrm>
          <a:prstGeom prst="rect">
            <a:avLst/>
          </a:prstGeom>
          <a:noFill/>
          <a:ln/>
        </p:spPr>
        <p:txBody>
          <a:bodyPr wrap="square" lIns="0" tIns="0" rIns="0" bIns="0" rtlCol="0" anchor="ctr">
            <a:normAutofit/>
          </a:bodyPr>
          <a:lstStyle/>
          <a:p>
            <a:pPr indent="0" marL="0">
              <a:buNone/>
            </a:pPr>
            <a:r>
              <a:rPr lang="en-US" sz="1010" dirty="0">
                <a:solidFill>
                  <a:srgbClr val="111827"/>
                </a:solidFill>
                <a:latin typeface="PingFang SC" pitchFamily="34" charset="0"/>
                <a:ea typeface="PingFang SC" pitchFamily="34" charset="-122"/>
                <a:cs typeface="PingFang SC" pitchFamily="34" charset="-120"/>
              </a:rPr>
              <a:t>[1] Rodkey N., Gomar-Fernández I., Ventosinos F., Roldán-Carmona C., Koster L. J. A., Bolink H. J. Close-Space Sublimation as a Scalable Method for Perovskite Solar Cells. ACS Energy Letters, 2024. DOI: 10.1021/acsenergylett.3c02794.</a:t>
            </a:r>
            <a:endParaRPr lang="en-US" sz="1010" dirty="0"/>
          </a:p>
        </p:txBody>
      </p:sp>
      <p:sp>
        <p:nvSpPr>
          <p:cNvPr id="10" name="Shape 8"/>
          <p:cNvSpPr/>
          <p:nvPr/>
        </p:nvSpPr>
        <p:spPr>
          <a:xfrm>
            <a:off x="786384" y="2322576"/>
            <a:ext cx="10899648" cy="603504"/>
          </a:xfrm>
          <a:prstGeom prst="roundRect">
            <a:avLst>
              <a:gd name="adj" fmla="val 12121"/>
            </a:avLst>
          </a:prstGeom>
          <a:solidFill>
            <a:srgbClr val="F9FAFC"/>
          </a:solidFill>
          <a:ln w="12700">
            <a:solidFill>
              <a:srgbClr val="D7DCE6"/>
            </a:solidFill>
            <a:prstDash val="solid"/>
          </a:ln>
        </p:spPr>
      </p:sp>
      <p:sp>
        <p:nvSpPr>
          <p:cNvPr id="11" name="Text 9"/>
          <p:cNvSpPr/>
          <p:nvPr/>
        </p:nvSpPr>
        <p:spPr>
          <a:xfrm>
            <a:off x="987552" y="2468880"/>
            <a:ext cx="10460736" cy="310896"/>
          </a:xfrm>
          <a:prstGeom prst="rect">
            <a:avLst/>
          </a:prstGeom>
          <a:noFill/>
          <a:ln/>
        </p:spPr>
        <p:txBody>
          <a:bodyPr wrap="square" lIns="0" tIns="0" rIns="0" bIns="0" rtlCol="0" anchor="ctr">
            <a:normAutofit/>
          </a:bodyPr>
          <a:lstStyle/>
          <a:p>
            <a:pPr indent="0" marL="0">
              <a:buNone/>
            </a:pPr>
            <a:r>
              <a:rPr lang="en-US" sz="1010" dirty="0">
                <a:solidFill>
                  <a:srgbClr val="111827"/>
                </a:solidFill>
                <a:latin typeface="PingFang SC" pitchFamily="34" charset="0"/>
                <a:ea typeface="PingFang SC" pitchFamily="34" charset="-122"/>
                <a:cs typeface="PingFang SC" pitchFamily="34" charset="-120"/>
              </a:rPr>
              <a:t>[2] Martínez-Falomir G. G., Lopez-Lazcano C. A., Almaral-Sánchez J. L. Pressure effect on MAPbBr3 perovskite films deposited by close space sublimation for PIN diode and its possible application in radiation detector. Materials Science in Semiconductor Processing, 2020. DOI: 10.1016/j.mssp.2020.104965.</a:t>
            </a:r>
            <a:endParaRPr lang="en-US" sz="1010" dirty="0"/>
          </a:p>
        </p:txBody>
      </p:sp>
      <p:sp>
        <p:nvSpPr>
          <p:cNvPr id="12" name="Shape 10"/>
          <p:cNvSpPr/>
          <p:nvPr/>
        </p:nvSpPr>
        <p:spPr>
          <a:xfrm>
            <a:off x="786384" y="3072384"/>
            <a:ext cx="10899648" cy="603504"/>
          </a:xfrm>
          <a:prstGeom prst="roundRect">
            <a:avLst>
              <a:gd name="adj" fmla="val 12121"/>
            </a:avLst>
          </a:prstGeom>
          <a:solidFill>
            <a:srgbClr val="FFFFFF"/>
          </a:solidFill>
          <a:ln w="12700">
            <a:solidFill>
              <a:srgbClr val="D7DCE6"/>
            </a:solidFill>
            <a:prstDash val="solid"/>
          </a:ln>
        </p:spPr>
      </p:sp>
      <p:sp>
        <p:nvSpPr>
          <p:cNvPr id="13" name="Text 11"/>
          <p:cNvSpPr/>
          <p:nvPr/>
        </p:nvSpPr>
        <p:spPr>
          <a:xfrm>
            <a:off x="987552" y="3218688"/>
            <a:ext cx="10460736" cy="310896"/>
          </a:xfrm>
          <a:prstGeom prst="rect">
            <a:avLst/>
          </a:prstGeom>
          <a:noFill/>
          <a:ln/>
        </p:spPr>
        <p:txBody>
          <a:bodyPr wrap="square" lIns="0" tIns="0" rIns="0" bIns="0" rtlCol="0" anchor="ctr">
            <a:normAutofit/>
          </a:bodyPr>
          <a:lstStyle/>
          <a:p>
            <a:pPr indent="0" marL="0">
              <a:buNone/>
            </a:pPr>
            <a:r>
              <a:rPr lang="en-US" sz="1010" dirty="0">
                <a:solidFill>
                  <a:srgbClr val="111827"/>
                </a:solidFill>
                <a:latin typeface="PingFang SC" pitchFamily="34" charset="0"/>
                <a:ea typeface="PingFang SC" pitchFamily="34" charset="-122"/>
                <a:cs typeface="PingFang SC" pitchFamily="34" charset="-120"/>
              </a:rPr>
              <a:t>[3] Ihrenberger J., Roux F., Lédée F., Emieux F., Anglade C., Lemercier T., Lorin G., Verilhac J.-M., Gros-d’Aillon E., Grenet L. Solution-Free Growth of CsPbBr3 Perovskite Films Using a Fast and Scalable Close Space Sublimation Method. Crystal Growth &amp; Design, 2024. DOI: 10.1021/acs.cgd.4c00249.</a:t>
            </a:r>
            <a:endParaRPr lang="en-US" sz="1010" dirty="0"/>
          </a:p>
        </p:txBody>
      </p:sp>
      <p:sp>
        <p:nvSpPr>
          <p:cNvPr id="14" name="Shape 12"/>
          <p:cNvSpPr/>
          <p:nvPr/>
        </p:nvSpPr>
        <p:spPr>
          <a:xfrm>
            <a:off x="786384" y="3822192"/>
            <a:ext cx="10899648" cy="603504"/>
          </a:xfrm>
          <a:prstGeom prst="roundRect">
            <a:avLst>
              <a:gd name="adj" fmla="val 12121"/>
            </a:avLst>
          </a:prstGeom>
          <a:solidFill>
            <a:srgbClr val="F9FAFC"/>
          </a:solidFill>
          <a:ln w="12700">
            <a:solidFill>
              <a:srgbClr val="D7DCE6"/>
            </a:solidFill>
            <a:prstDash val="solid"/>
          </a:ln>
        </p:spPr>
      </p:sp>
      <p:sp>
        <p:nvSpPr>
          <p:cNvPr id="15" name="Text 13"/>
          <p:cNvSpPr/>
          <p:nvPr/>
        </p:nvSpPr>
        <p:spPr>
          <a:xfrm>
            <a:off x="987552" y="3968496"/>
            <a:ext cx="10460736" cy="310896"/>
          </a:xfrm>
          <a:prstGeom prst="rect">
            <a:avLst/>
          </a:prstGeom>
          <a:noFill/>
          <a:ln/>
        </p:spPr>
        <p:txBody>
          <a:bodyPr wrap="square" lIns="0" tIns="0" rIns="0" bIns="0" rtlCol="0" anchor="ctr">
            <a:normAutofit/>
          </a:bodyPr>
          <a:lstStyle/>
          <a:p>
            <a:pPr indent="0" marL="0">
              <a:buNone/>
            </a:pPr>
            <a:r>
              <a:rPr lang="en-US" sz="1010" dirty="0">
                <a:solidFill>
                  <a:srgbClr val="111827"/>
                </a:solidFill>
                <a:latin typeface="PingFang SC" pitchFamily="34" charset="0"/>
                <a:ea typeface="PingFang SC" pitchFamily="34" charset="-122"/>
                <a:cs typeface="PingFang SC" pitchFamily="34" charset="-120"/>
              </a:rPr>
              <a:t>[4] Gomar-Fernández I., Gil-Escrig L., Rodkey N., Ventosinos F., Senno M., Roldán-Carmona C., Held V., Sessolo M., Bolink H. J. Large-area close-space sublimation enables the fabrication of efficient and stable perovskite solar cells. EES Solar, 2025. DOI: 10.1039/D5EL00145E.</a:t>
            </a:r>
            <a:endParaRPr lang="en-US" sz="1010" dirty="0"/>
          </a:p>
        </p:txBody>
      </p:sp>
      <p:sp>
        <p:nvSpPr>
          <p:cNvPr id="16" name="Shape 14"/>
          <p:cNvSpPr/>
          <p:nvPr/>
        </p:nvSpPr>
        <p:spPr>
          <a:xfrm>
            <a:off x="786384" y="4572000"/>
            <a:ext cx="10899648" cy="603504"/>
          </a:xfrm>
          <a:prstGeom prst="roundRect">
            <a:avLst>
              <a:gd name="adj" fmla="val 12121"/>
            </a:avLst>
          </a:prstGeom>
          <a:solidFill>
            <a:srgbClr val="FFFFFF"/>
          </a:solidFill>
          <a:ln w="12700">
            <a:solidFill>
              <a:srgbClr val="D7DCE6"/>
            </a:solidFill>
            <a:prstDash val="solid"/>
          </a:ln>
        </p:spPr>
      </p:sp>
      <p:sp>
        <p:nvSpPr>
          <p:cNvPr id="17" name="Text 15"/>
          <p:cNvSpPr/>
          <p:nvPr/>
        </p:nvSpPr>
        <p:spPr>
          <a:xfrm>
            <a:off x="987552" y="4718304"/>
            <a:ext cx="10460736" cy="310896"/>
          </a:xfrm>
          <a:prstGeom prst="rect">
            <a:avLst/>
          </a:prstGeom>
          <a:noFill/>
          <a:ln/>
        </p:spPr>
        <p:txBody>
          <a:bodyPr wrap="square" lIns="0" tIns="0" rIns="0" bIns="0" rtlCol="0" anchor="ctr">
            <a:normAutofit/>
          </a:bodyPr>
          <a:lstStyle/>
          <a:p>
            <a:pPr indent="0" marL="0">
              <a:buNone/>
            </a:pPr>
            <a:r>
              <a:rPr lang="en-US" sz="1010" dirty="0">
                <a:solidFill>
                  <a:srgbClr val="111827"/>
                </a:solidFill>
                <a:latin typeface="PingFang SC" pitchFamily="34" charset="0"/>
                <a:ea typeface="PingFang SC" pitchFamily="34" charset="-122"/>
                <a:cs typeface="PingFang SC" pitchFamily="34" charset="-120"/>
              </a:rPr>
              <a:t>[5] Wang C., Zhao Y., Ma T., An Y., He R., Zhu J., Chen C., Ren S., Fu F., Zhao D., Li X. A universal close-space annealing strategy towards high-quality perovskite absorbers enabling efficient all-perovskite tandem solar cells. Nature Energy, 2022. DOI: 10.1038/s41560-022-01076-9.</a:t>
            </a:r>
            <a:endParaRPr lang="en-US" sz="1010" dirty="0"/>
          </a:p>
        </p:txBody>
      </p:sp>
      <p:sp>
        <p:nvSpPr>
          <p:cNvPr id="18" name="Shape 16"/>
          <p:cNvSpPr/>
          <p:nvPr/>
        </p:nvSpPr>
        <p:spPr>
          <a:xfrm>
            <a:off x="786384" y="5321808"/>
            <a:ext cx="10899648" cy="603504"/>
          </a:xfrm>
          <a:prstGeom prst="roundRect">
            <a:avLst>
              <a:gd name="adj" fmla="val 12121"/>
            </a:avLst>
          </a:prstGeom>
          <a:solidFill>
            <a:srgbClr val="F9FAFC"/>
          </a:solidFill>
          <a:ln w="12700">
            <a:solidFill>
              <a:srgbClr val="D7DCE6"/>
            </a:solidFill>
            <a:prstDash val="solid"/>
          </a:ln>
        </p:spPr>
      </p:sp>
      <p:sp>
        <p:nvSpPr>
          <p:cNvPr id="19" name="Text 17"/>
          <p:cNvSpPr/>
          <p:nvPr/>
        </p:nvSpPr>
        <p:spPr>
          <a:xfrm>
            <a:off x="987552" y="5468112"/>
            <a:ext cx="10460736" cy="310896"/>
          </a:xfrm>
          <a:prstGeom prst="rect">
            <a:avLst/>
          </a:prstGeom>
          <a:noFill/>
          <a:ln/>
        </p:spPr>
        <p:txBody>
          <a:bodyPr wrap="square" lIns="0" tIns="0" rIns="0" bIns="0" rtlCol="0" anchor="ctr">
            <a:normAutofit/>
          </a:bodyPr>
          <a:lstStyle/>
          <a:p>
            <a:pPr indent="0" marL="0">
              <a:buNone/>
            </a:pPr>
            <a:r>
              <a:rPr lang="en-US" sz="1010" dirty="0">
                <a:solidFill>
                  <a:srgbClr val="111827"/>
                </a:solidFill>
                <a:latin typeface="PingFang SC" pitchFamily="34" charset="0"/>
                <a:ea typeface="PingFang SC" pitchFamily="34" charset="-122"/>
                <a:cs typeface="PingFang SC" pitchFamily="34" charset="-120"/>
              </a:rPr>
              <a:t>[6] Diercks A., Chozas-Barrientos S., Gil-Escrig L., Gomar-Fernández I., Roldán-Carmona C., Rodkey N., Zhao T., Petermann J., Senno M., Held V., Carroy P., Muñoz D., Fassl P., Sessolo M., Paetzold U. W., Bolink H. J. Close Space Sublimation as a Versatile Deposition Process for Efficient Perovskite Silicon Tandem Solar Cells. Nature Energy, 2026（KITopen 预印本记录）. DOI: 10.5445/IR/1000192146.</a:t>
            </a:r>
            <a:endParaRPr lang="en-US" sz="101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ingFang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ingFang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xiaotao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近距离升华制备钙钛矿</dc:title>
  <dc:subject>近距离升华制备钙钛矿：方式、原理与证据链分析</dc:subject>
  <dc:creator>OpenAI Codex</dc:creator>
  <cp:lastModifiedBy>OpenAI Codex</cp:lastModifiedBy>
  <cp:revision>1</cp:revision>
  <dcterms:created xsi:type="dcterms:W3CDTF">2026-05-16T07:50:57Z</dcterms:created>
  <dcterms:modified xsi:type="dcterms:W3CDTF">2026-05-16T07:50:57Z</dcterms:modified>
</cp:coreProperties>
</file>